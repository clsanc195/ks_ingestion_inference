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848D9B"/>
                </a:solidFill>
                <a:latin typeface="Menlo"/>
              </a:rPr>
              <a:t>ENGINEERING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0B7E99"/>
                </a:solidFill>
                <a:latin typeface="Helvetica Neue"/>
              </a:rPr>
              <a:t>kgi</a:t>
            </a:r>
            <a:r>
              <a:rPr sz="4000" b="1">
                <a:solidFill>
                  <a:srgbClr val="0E1116"/>
                </a:solidFill>
                <a:latin typeface="Helvetica Neue"/>
              </a:rPr>
              <a:t> — ingestion &amp; query, database by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8505C"/>
                </a:solidFill>
                <a:latin typeface="Helvetica Neue"/>
              </a:rPr>
              <a:t>An LLM writes knowledge, a human approves it, and exactly one code path mutates the graph. This deck shows which store is read and written at every step of ingest, ask, and find.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97680"/>
            <a:ext cx="1945843" cy="310896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B7E99"/>
                </a:solidFill>
                <a:latin typeface="Menlo"/>
              </a:rPr>
              <a:t>NEO4J — system of record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9075" y="4297680"/>
            <a:ext cx="2320747" cy="310896"/>
          </a:xfrm>
          <a:prstGeom prst="roundRect">
            <a:avLst>
              <a:gd name="adj" fmla="val 5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6D4FC4"/>
                </a:solidFill>
                <a:latin typeface="Menlo"/>
              </a:rPr>
              <a:t>QDRANT — 3 vector collections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4414" y="4297680"/>
            <a:ext cx="1795881" cy="31089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848D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8505C"/>
                </a:solidFill>
                <a:latin typeface="Menlo"/>
              </a:rPr>
              <a:t>POSTGRES — parked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04887" y="4297680"/>
            <a:ext cx="1420977" cy="31089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848D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8505C"/>
                </a:solidFill>
                <a:latin typeface="Menlo"/>
              </a:rPr>
              <a:t>LANGFUSE — traces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848D9B"/>
                </a:solidFill>
                <a:latin typeface="Menlo"/>
              </a:rPr>
              <a:t>kgi · working prototype · slides generated from the live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48D9B"/>
                </a:solidFill>
                <a:latin typeface="Menlo"/>
              </a:rPr>
              <a:t>01 · The 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E1116"/>
                </a:solidFill>
                <a:latin typeface="Helvetica Neue"/>
              </a:rPr>
              <a:t>Four stores, one writer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2779776" cy="416052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7E99"/>
                </a:solidFill>
                <a:latin typeface="Menlo"/>
              </a:rPr>
              <a:t>NEO4J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48505C"/>
                </a:solidFill>
                <a:latin typeface="Helvetica Neue"/>
              </a:rPr>
              <a:t>System of record — if lost, total loss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B7E99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Entities + one-line descriptions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B7E99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Bi-temporal facts (valid_from/to) + every source's verbatim quotes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B7E99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Staged patches (JSON blob — never graph structure)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B7E99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Commit ledger · review decisions · doc hashes · SAME_AS merge links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B7E99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Lucene full-text indexes — maintained by Neo4j on every 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325880"/>
            <a:ext cx="2779776" cy="416052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D4FC4"/>
                </a:solidFill>
                <a:latin typeface="Menlo"/>
              </a:rPr>
              <a:t>QDRANT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48505C"/>
                </a:solidFill>
                <a:latin typeface="Helvetica Neue"/>
              </a:rPr>
              <a:t>Similarity index — derived, rebuildable in minutes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D4FC4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kgi-entities — name + description (384-dim, embedded locally)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D4FC4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kgi-predicates — phrase vectors for paraphrase normalization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D4FC4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kgi-facts — one point per committed fact: rendering + window + quotes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D4FC4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Written only AFTER approval; staged candidates never indexed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D4FC4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scripts/reindex_vectors.py rebuilds all three from Neo4j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325880"/>
            <a:ext cx="2779776" cy="416052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48505C"/>
                </a:solidFill>
                <a:latin typeface="Menlo"/>
              </a:rPr>
              <a:t>POSTGRES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48505C"/>
                </a:solidFill>
                <a:latin typeface="Helvetica Neue"/>
              </a:rPr>
              <a:t>Durable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LangGraph checkpoints of runs parked at the review gate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A parked run survives reboots for days; CLI and browser resume the same run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If lost: parked runs only — patches survive in Neo4j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99448" y="1325880"/>
            <a:ext cx="2779776" cy="416052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48505C"/>
                </a:solidFill>
                <a:latin typeface="Menlo"/>
              </a:rPr>
              <a:t>LANGFUSE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48505C"/>
                </a:solidFill>
                <a:latin typeface="Helvetica Neue"/>
              </a:rPr>
              <a:t>Observability — fail-open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One trace per command; every LLM generation with prompt, output, tokens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All four LLM roles (extract, dedup judge, conflict judge, composer) go through one traced entry point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</a:t>
            </a:r>
            <a:r>
              <a:rPr sz="950" b="0">
                <a:solidFill>
                  <a:srgbClr val="48505C"/>
                </a:solidFill>
                <a:latin typeface="Helvetica Neue"/>
              </a:rPr>
              <a:t>If lost: telemetry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715000"/>
            <a:ext cx="11530584" cy="658368"/>
          </a:xfrm>
          <a:prstGeom prst="roundRect">
            <a:avLst>
              <a:gd name="adj" fmla="val 1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B7E99"/>
                </a:solidFill>
                <a:latin typeface="Menlo"/>
              </a:rPr>
              <a:t>THE ONE RULE   </a:t>
            </a:r>
            <a:r>
              <a:rPr sz="1100" b="0">
                <a:solidFill>
                  <a:srgbClr val="0E1116"/>
                </a:solidFill>
                <a:latin typeface="Helvetica Neue"/>
              </a:rPr>
              <a:t>only approved commits write the main graph. Everything the LLM produces goes to staging first; a fact that never passes review never influences anything.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48D9B"/>
                </a:solidFill>
                <a:latin typeface="Menlo"/>
              </a:rPr>
              <a:t>02 · Ingestion — before the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E1116"/>
                </a:solidFill>
                <a:latin typeface="Helvetica Neue"/>
              </a:rPr>
              <a:t>s1–s7 · build the patch (reads only, one staging write)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89888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5" y="12984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1280160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sha-256 the bytes; refuse if already committed or already parked at the gate (intake lock)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10928" y="1371600"/>
            <a:ext cx="671169" cy="256032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B7E99"/>
                </a:solidFill>
                <a:latin typeface="Menlo"/>
              </a:rPr>
              <a:t>R neo4j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12264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2020824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Decompose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002536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paragraphs become extraction units; headings ride along as context — no AI, no I/O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10928" y="2093976"/>
            <a:ext cx="1345996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no store touched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34640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274320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2724912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one LLM call per unit → entities (+ one-line description) and relations (+ verbatim quote)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10928" y="2816352"/>
            <a:ext cx="371246" cy="256032"/>
          </a:xfrm>
          <a:prstGeom prst="roundRect">
            <a:avLst>
              <a:gd name="adj" fmla="val 5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6D4FC4"/>
                </a:solidFill>
                <a:latin typeface="Menlo"/>
              </a:rPr>
              <a:t>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55325" y="2816352"/>
            <a:ext cx="671169" cy="256032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B7E99"/>
                </a:solidFill>
                <a:latin typeface="Menlo"/>
              </a:rPr>
              <a:t>R 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57016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3465576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Dedup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3447288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exact name → embed name+description, ≥0.90 same / &lt;0.60 new → LLM judge for the band; new info on a known entity → update op (descriptions merge, never overwrite)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3538728"/>
            <a:ext cx="671169" cy="256032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B7E99"/>
                </a:solidFill>
                <a:latin typeface="Menlo"/>
              </a:rPr>
              <a:t>R neo4j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55249" y="3538728"/>
            <a:ext cx="746150" cy="256032"/>
          </a:xfrm>
          <a:prstGeom prst="roundRect">
            <a:avLst>
              <a:gd name="adj" fmla="val 5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6D4FC4"/>
                </a:solidFill>
                <a:latin typeface="Menlo"/>
              </a:rPr>
              <a:t>R qdrant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74550" y="3538728"/>
            <a:ext cx="371246" cy="256032"/>
          </a:xfrm>
          <a:prstGeom prst="roundRect">
            <a:avLst>
              <a:gd name="adj" fmla="val 5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6D4FC4"/>
                </a:solidFill>
                <a:latin typeface="Menlo"/>
              </a:rPr>
              <a:t>LLM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79392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4187952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Conflicts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4169664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shared endpoint + predicate, different other end → adjudicate: compatible / supersede (auto end-date) / semantic conflict (forced review); exact duplicate → reinforce + append quote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10928" y="4261104"/>
            <a:ext cx="671169" cy="256032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B7E99"/>
                </a:solidFill>
                <a:latin typeface="Menlo"/>
              </a:rPr>
              <a:t>R neo4j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55249" y="4261104"/>
            <a:ext cx="371246" cy="256032"/>
          </a:xfrm>
          <a:prstGeom prst="roundRect">
            <a:avLst>
              <a:gd name="adj" fmla="val 5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6D4FC4"/>
                </a:solidFill>
                <a:latin typeface="Menlo"/>
              </a:rPr>
              <a:t>LLM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01768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5" y="491032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Score &amp; route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4892040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weighted blend → auto-approve ≥.92 / review / auto-reject &lt;.30; conflicts and new types always review — arithmetic only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0928" y="4983480"/>
            <a:ext cx="1345996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no store touched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724144"/>
            <a:ext cx="384048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s7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5" y="5632704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E1116"/>
                </a:solidFill>
                <a:latin typeface="Helvetica Neue"/>
              </a:rPr>
              <a:t>Stage &amp; park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7168" y="5614416"/>
            <a:ext cx="70866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the whole patch persists as ONE JSON blob on a :Patch node — deliberately not graph structure, invisible to search; the run checkpoints and the process exits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10928" y="5705856"/>
            <a:ext cx="1271016" cy="256032"/>
          </a:xfrm>
          <a:prstGeom prst="roundRect">
            <a:avLst>
              <a:gd name="adj" fmla="val 5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B7E99"/>
                </a:solidFill>
                <a:latin typeface="Menlo"/>
              </a:rPr>
              <a:t>W neo4j staging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055096" y="5705856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848D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48505C"/>
                </a:solidFill>
                <a:latin typeface="Menlo"/>
              </a:rPr>
              <a:t>W postgres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848D9B"/>
                </a:solidFill>
                <a:latin typeface="Menlo"/>
              </a:rPr>
              <a:t>Canonical is byte-for-byte unchanged after s7. Qdrant idle. The patch can sit for a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48D9B"/>
                </a:solidFill>
                <a:latin typeface="Menlo"/>
              </a:rPr>
              <a:t>03 · Ingestion — the gate and the writes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E1116"/>
                </a:solidFill>
                <a:latin typeface="Helvetica Neue"/>
              </a:rPr>
              <a:t>s8–s10 · human decides, commit writes, index follows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530584" cy="1417320"/>
          </a:xfrm>
          <a:prstGeom prst="roundRect">
            <a:avLst>
              <a:gd name="adj" fmla="val 10000"/>
            </a:avLst>
          </a:prstGeom>
          <a:solidFill>
            <a:srgbClr val="F6ECDD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Menlo"/>
              </a:rPr>
              <a:t>s8 REVIEW — HUMAN</a:t>
            </a:r>
            <a:r>
              <a:rPr sz="1100" b="0">
                <a:solidFill>
                  <a:srgbClr val="0E1116"/>
                </a:solidFill>
                <a:latin typeface="Helvetica Neue"/>
              </a:rPr>
              <a:t>   accept · edit · reject-with-note · defer, per op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Board groups ops by entity with batch accepts; ⚠-flagged conflicts are excluded from batch actions. Every click becomes a :ReviewDecision. The run resumes from its Postgres checkpoint — CLI or browser, days later.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B45309"/>
                </a:solidFill>
                <a:latin typeface="Menlo"/>
              </a:rPr>
              <a:t>R/W postgres — resume checkpoint      W neo4j — review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07792"/>
            <a:ext cx="11530584" cy="1737360"/>
          </a:xfrm>
          <a:prstGeom prst="roundRect">
            <a:avLst>
              <a:gd name="adj" fmla="val 1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B7E99"/>
                </a:solidFill>
                <a:latin typeface="Menlo"/>
              </a:rPr>
              <a:t>s9 COMMIT — the ONLY writer to canonical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One transaction per op, three checks before each write: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ledger — already applied? skip (crash-and-retry converges; ids minted deterministically)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rebase — assumptions re-verified: edge still absent? node still there? no entity with this name yet (creates)? description unchanged (merges)? — stale ops requeue, never apply blind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▸ dependencies — an edge whose endpoint was rejected is blocked, not written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B7E99"/>
                </a:solidFill>
                <a:latin typeface="Menlo"/>
              </a:rPr>
              <a:t>Deferred ops loop the run back to s8; the doc is only marked done when every op settles.      W neo4j — facts + quotes + ledger + provenance, same transaction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09744"/>
            <a:ext cx="11530584" cy="1298448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4FC4"/>
                </a:solidFill>
                <a:latin typeface="Menlo"/>
              </a:rPr>
              <a:t>s10 INDEX — ledger-driven, only what survived the gate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8505C"/>
                </a:solidFill>
                <a:latin typeface="Helvetica Neue"/>
              </a:rPr>
              <a:t>Commit reads back what THIS patch wrote (via :AppliedOp) and refreshes the three Qdrant collections — an invalidated fact re-embeds with its closed window, a reinforced fact with its new quote, a merged description with its entity. Lucene full-text needs no step: Neo4j maintains it on every write.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6D4FC4"/>
                </a:solidFill>
                <a:latin typeface="Menlo"/>
              </a:rPr>
              <a:t>W qdrant — kgi-entities / kgi-predicates / kgi-facts      then: :Document hash marked done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48D9B"/>
                </a:solidFill>
                <a:latin typeface="Menlo"/>
              </a:rPr>
              <a:t>04 · Query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E1116"/>
                </a:solidFill>
                <a:latin typeface="Helvetica Neue"/>
              </a:rPr>
              <a:t>ask &amp; find · three doors, one walk, one grounded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E1116"/>
                </a:solidFill>
                <a:latin typeface="Menlo"/>
              </a:rPr>
              <a:t>question
(optional --as-of)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1116"/>
                </a:solidFill>
                <a:latin typeface="Menlo"/>
              </a:rPr>
              <a:t>door 1 · entity vectors — meaning
R qdrant kgi-entities (name+description)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1116"/>
                </a:solidFill>
                <a:latin typeface="Menlo"/>
              </a:rPr>
              <a:t>door 2 · fact vectors — what happened
R qdrant kgi-facts (rendering+window+quotes)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1116"/>
                </a:solidFill>
                <a:latin typeface="Menlo"/>
              </a:rPr>
              <a:t>door 3 · exact terms — BM25
R neo4j Lucene (names, descriptions, quotes)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91640" y="1965960"/>
            <a:ext cx="0" cy="301752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24528" y="2615184"/>
            <a:ext cx="603504" cy="777240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224528" y="3392424"/>
            <a:ext cx="603504" cy="0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224528" y="3392424"/>
            <a:ext cx="603504" cy="777240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46320" y="3063240"/>
            <a:ext cx="1783080" cy="658368"/>
          </a:xfrm>
          <a:prstGeom prst="roundRect">
            <a:avLst>
              <a:gd name="adj" fmla="val 1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B7E99"/>
                </a:solidFill>
                <a:latin typeface="Menlo"/>
              </a:rPr>
              <a:t>RRF — fuse ranks
→ top-10 seeds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47688" y="3392424"/>
            <a:ext cx="576072" cy="0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42048" y="2999232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E2EFEC"/>
          </a:solidFill>
          <a:ln w="9525">
            <a:solidFill>
              <a:srgbClr val="0B7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E1116"/>
                </a:solidFill>
                <a:latin typeface="Menlo"/>
              </a:rPr>
              <a:t>2-hop graph walk
date filter per edge
R neo4j — facts+sources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63456" y="3392424"/>
            <a:ext cx="566928" cy="0"/>
          </a:xfrm>
          <a:prstGeom prst="bentConnector3">
            <a:avLst/>
          </a:prstGeom>
          <a:ln w="15240">
            <a:solidFill>
              <a:srgbClr val="848D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48672" y="2907792"/>
            <a:ext cx="2103120" cy="969264"/>
          </a:xfrm>
          <a:prstGeom prst="roundRect">
            <a:avLst>
              <a:gd name="adj" fmla="val 10000"/>
            </a:avLst>
          </a:prstGeom>
          <a:solidFill>
            <a:srgbClr val="ECE7F9"/>
          </a:solidFill>
          <a:ln w="952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E1116"/>
                </a:solidFill>
                <a:latin typeface="Menlo"/>
              </a:rPr>
              <a:t>LLM composes from
entity summaries +
facts + quotes
→ cites ids or refuses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83480"/>
            <a:ext cx="11530584" cy="566928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B7E99"/>
                </a:solidFill>
                <a:latin typeface="Menlo"/>
              </a:rPr>
              <a:t>find</a:t>
            </a:r>
            <a:r>
              <a:rPr sz="1050" b="0">
                <a:solidFill>
                  <a:srgbClr val="48505C"/>
                </a:solidFill>
                <a:latin typeface="Helvetica Neue"/>
              </a:rPr>
              <a:t>  = the same three doors + walk, minus the LLM — raw facts with provenance, highlighted on the graph canvas. </a:t>
            </a:r>
            <a:r>
              <a:rPr sz="1050" b="1">
                <a:solidFill>
                  <a:srgbClr val="6D4FC4"/>
                </a:solidFill>
                <a:latin typeface="Menlo"/>
              </a:rPr>
              <a:t>ask</a:t>
            </a:r>
            <a:r>
              <a:rPr sz="1050" b="0">
                <a:solidFill>
                  <a:srgbClr val="48505C"/>
                </a:solidFill>
                <a:latin typeface="Helvetica Neue"/>
              </a:rPr>
              <a:t>  adds exactly one LLM call at the 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87568"/>
            <a:ext cx="11530584" cy="68580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E1116"/>
                </a:solidFill>
                <a:latin typeface="Menlo"/>
              </a:rPr>
              <a:t>--as-of 2024-06-01</a:t>
            </a:r>
            <a:r>
              <a:rPr sz="1050" b="0">
                <a:solidFill>
                  <a:srgbClr val="48505C"/>
                </a:solidFill>
                <a:latin typeface="Helvetica Neue"/>
              </a:rPr>
              <a:t>  swaps the date filter: instead of “no end date”, keep facts whose window covers that date — the same graph answers current and historical questions, both cited. Scores are never mixed across doors: cosine and BM25 fuse by rank (1/(60+rank)).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48D9B"/>
                </a:solidFill>
                <a:latin typeface="Menlo"/>
              </a:rPr>
              <a:t>05 · Why engineers can trust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E1116"/>
                </a:solidFill>
                <a:latin typeface="Helvetica Neue"/>
              </a:rPr>
              <a:t>The guarantees, store by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660136" cy="219456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B7E99"/>
                </a:solidFill>
                <a:latin typeface="Helvetica Neue"/>
              </a:rPr>
              <a:t>One writer, one shape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>Only the commit engine mutates canonical, and staged knowledge exists only as a JSON blob on a :Patch node — no query, no vector search, no dedup can ever see half-approved facts. Staging and canonical share a database, separated by shape.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371600"/>
            <a:ext cx="5660136" cy="219456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B45309"/>
                </a:solidFill>
                <a:latin typeface="Helvetica Neue"/>
              </a:rPr>
              <a:t>Every fact is a chain of custody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>fact → verbatim quotes → :AppliedOp (patch, run, timestamp) → :Document (file, hash) → :ReviewDecision (who approved, note) — or “auto-approved by policy”, explicitly recorded. Bad data is found via the ledger and fixed forward with new reviewed patches, never hand-edits.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660136" cy="219456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6D4FC4"/>
                </a:solidFill>
                <a:latin typeface="Helvetica Neue"/>
              </a:rPr>
              <a:t>Vectors are cattle, the graph is the pet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>All three Qdrant collections are derived copies of graph content, refreshed from the commit ledger (stale vectors can't happen silently) and rebuildable from scratch with scripts/reindex_vectors.py after a model change or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9088" y="3703320"/>
            <a:ext cx="5660136" cy="2194560"/>
          </a:xfrm>
          <a:prstGeom prst="roundRect">
            <a:avLst>
              <a:gd name="adj" fmla="val 10000"/>
            </a:avLst>
          </a:prstGeom>
          <a:solidFill>
            <a:srgbClr val="F2F4F6"/>
          </a:solidFill>
          <a:ln w="9525">
            <a:solidFill>
              <a:srgbClr val="CF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8505C"/>
                </a:solidFill>
                <a:latin typeface="Helvetica Neue"/>
              </a:rPr>
              <a:t>Time doesn't corrupt parked work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48505C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8505C"/>
                </a:solidFill>
                <a:latin typeface="Helvetica Neue"/>
              </a:rPr>
              <a:t>A patch can wait at the gate for weeks while other documents land. At commit, every op's recorded assumptions are re-checked: a name that now exists, an edge that got superseded, a description that changed — each requeues instead of applying blind. Same doc twice? Refused at intake.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848D9B"/>
                </a:solidFill>
                <a:latin typeface="Menlo"/>
              </a:rPr>
              <a:t>Deliberately deferred: eval harness (top gap), reranking, NLI claim-checking, work queue — see docs/architecture-deck.html for the full status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