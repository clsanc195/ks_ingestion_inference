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417320"/>
            <a:ext cx="7315200" cy="320040"/>
          </a:xfrm>
          <a:prstGeom prst="rect">
            <a:avLst/>
          </a:prstGeom>
          <a:noFill/>
        </p:spPr>
        <p:txBody>
          <a:bodyPr wrap="square" anchor="t">
            <a:spAutoFit/>
          </a:bodyPr>
          <a:lstStyle/>
          <a:p>
            <a:pPr algn="l">
              <a:lnSpc>
                <a:spcPct val="100000"/>
              </a:lnSpc>
              <a:spcAft>
                <a:spcPts val="400"/>
              </a:spcAft>
            </a:pPr>
            <a:r>
              <a:rPr sz="1100" b="1">
                <a:solidFill>
                  <a:srgbClr val="848D9B"/>
                </a:solidFill>
                <a:latin typeface="Menlo"/>
              </a:rPr>
              <a:t>FOR ENGINEERS · 6 SLIDES</a:t>
            </a:r>
          </a:p>
        </p:txBody>
      </p:sp>
      <p:sp>
        <p:nvSpPr>
          <p:cNvPr id="4" name="TextBox 3"/>
          <p:cNvSpPr txBox="1"/>
          <p:nvPr/>
        </p:nvSpPr>
        <p:spPr>
          <a:xfrm>
            <a:off x="548640" y="1783080"/>
            <a:ext cx="11155680" cy="1371600"/>
          </a:xfrm>
          <a:prstGeom prst="rect">
            <a:avLst/>
          </a:prstGeom>
          <a:noFill/>
        </p:spPr>
        <p:txBody>
          <a:bodyPr wrap="square" anchor="t">
            <a:spAutoFit/>
          </a:bodyPr>
          <a:lstStyle/>
          <a:p>
            <a:pPr algn="l">
              <a:lnSpc>
                <a:spcPct val="100000"/>
              </a:lnSpc>
              <a:spcAft>
                <a:spcPts val="400"/>
              </a:spcAft>
            </a:pPr>
            <a:r>
              <a:rPr sz="3600" b="1">
                <a:solidFill>
                  <a:srgbClr val="0E1116"/>
                </a:solidFill>
                <a:latin typeface="Helvetica Neue"/>
              </a:rPr>
              <a:t>Documents in, trusted knowledge graph out</a:t>
            </a:r>
          </a:p>
        </p:txBody>
      </p:sp>
      <p:sp>
        <p:nvSpPr>
          <p:cNvPr id="5" name="TextBox 4"/>
          <p:cNvSpPr txBox="1"/>
          <p:nvPr/>
        </p:nvSpPr>
        <p:spPr>
          <a:xfrm>
            <a:off x="548640" y="2880360"/>
            <a:ext cx="10789920" cy="1371600"/>
          </a:xfrm>
          <a:prstGeom prst="rect">
            <a:avLst/>
          </a:prstGeom>
          <a:noFill/>
        </p:spPr>
        <p:txBody>
          <a:bodyPr wrap="square" anchor="t">
            <a:spAutoFit/>
          </a:bodyPr>
          <a:lstStyle/>
          <a:p>
            <a:pPr algn="l">
              <a:lnSpc>
                <a:spcPct val="120000"/>
              </a:lnSpc>
              <a:spcAft>
                <a:spcPts val="400"/>
              </a:spcAft>
            </a:pPr>
            <a:r>
              <a:rPr sz="1500" b="1">
                <a:solidFill>
                  <a:srgbClr val="0E1116"/>
                </a:solidFill>
                <a:latin typeface="Helvetica Neue"/>
              </a:rPr>
              <a:t>The whole system in one sentence:</a:t>
            </a:r>
          </a:p>
          <a:p>
            <a:pPr algn="l">
              <a:lnSpc>
                <a:spcPct val="120000"/>
              </a:lnSpc>
              <a:spcAft>
                <a:spcPts val="400"/>
              </a:spcAft>
            </a:pPr>
            <a:r>
              <a:rPr sz="1500" b="0">
                <a:solidFill>
                  <a:srgbClr val="48505C"/>
                </a:solidFill>
                <a:latin typeface="Helvetica Neue"/>
              </a:rPr>
              <a:t>An AI reads documents and proposes facts. A person approves or rejects each one. Only approved facts enter the graph. Then anyone can search it or ask it questions.</a:t>
            </a:r>
          </a:p>
        </p:txBody>
      </p:sp>
      <p:sp>
        <p:nvSpPr>
          <p:cNvPr id="6" name="Rounded Rectangle 5"/>
          <p:cNvSpPr/>
          <p:nvPr/>
        </p:nvSpPr>
        <p:spPr>
          <a:xfrm>
            <a:off x="548640" y="4480560"/>
            <a:ext cx="2299716" cy="329184"/>
          </a:xfrm>
          <a:prstGeom prst="roundRect">
            <a:avLst>
              <a:gd name="adj" fmla="val 50000"/>
            </a:avLst>
          </a:prstGeom>
          <a:solidFill>
            <a:srgbClr val="E2EFEC"/>
          </a:solidFill>
          <a:ln w="9525">
            <a:solidFill>
              <a:srgbClr val="0B7E9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1000" b="1">
                <a:solidFill>
                  <a:srgbClr val="0B7E99"/>
                </a:solidFill>
                <a:latin typeface="Menlo"/>
              </a:rPr>
              <a:t>graph db (Neo4j) — the data</a:t>
            </a:r>
          </a:p>
        </p:txBody>
      </p:sp>
      <p:sp>
        <p:nvSpPr>
          <p:cNvPr id="7" name="Rounded Rectangle 6"/>
          <p:cNvSpPr/>
          <p:nvPr/>
        </p:nvSpPr>
        <p:spPr>
          <a:xfrm>
            <a:off x="3012948" y="4480560"/>
            <a:ext cx="3387852" cy="329184"/>
          </a:xfrm>
          <a:prstGeom prst="roundRect">
            <a:avLst>
              <a:gd name="adj" fmla="val 50000"/>
            </a:avLst>
          </a:prstGeom>
          <a:solidFill>
            <a:srgbClr val="ECE7F9"/>
          </a:solidFill>
          <a:ln w="9525">
            <a:solidFill>
              <a:srgbClr val="6D4FC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1000" b="1">
                <a:solidFill>
                  <a:srgbClr val="6D4FC4"/>
                </a:solidFill>
                <a:latin typeface="Menlo"/>
              </a:rPr>
              <a:t>vector db (Qdrant) — finds similar things</a:t>
            </a:r>
          </a:p>
        </p:txBody>
      </p:sp>
      <p:sp>
        <p:nvSpPr>
          <p:cNvPr id="8" name="Rounded Rectangle 7"/>
          <p:cNvSpPr/>
          <p:nvPr/>
        </p:nvSpPr>
        <p:spPr>
          <a:xfrm>
            <a:off x="6565392" y="4480560"/>
            <a:ext cx="2377440" cy="329184"/>
          </a:xfrm>
          <a:prstGeom prst="roundRect">
            <a:avLst>
              <a:gd name="adj" fmla="val 5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1000" b="1">
                <a:solidFill>
                  <a:srgbClr val="848D9B"/>
                </a:solidFill>
                <a:latin typeface="Menlo"/>
              </a:rPr>
              <a:t>Postgres — saves paused runs</a:t>
            </a:r>
          </a:p>
        </p:txBody>
      </p:sp>
      <p:sp>
        <p:nvSpPr>
          <p:cNvPr id="9" name="Rounded Rectangle 8"/>
          <p:cNvSpPr/>
          <p:nvPr/>
        </p:nvSpPr>
        <p:spPr>
          <a:xfrm>
            <a:off x="9107424" y="4480560"/>
            <a:ext cx="2066544" cy="329184"/>
          </a:xfrm>
          <a:prstGeom prst="roundRect">
            <a:avLst>
              <a:gd name="adj" fmla="val 5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1000" b="1">
                <a:solidFill>
                  <a:srgbClr val="848D9B"/>
                </a:solidFill>
                <a:latin typeface="Menlo"/>
              </a:rPr>
              <a:t>Langfuse — logs AI calls</a:t>
            </a:r>
          </a:p>
        </p:txBody>
      </p:sp>
      <p:sp>
        <p:nvSpPr>
          <p:cNvPr id="10" name="TextBox 9"/>
          <p:cNvSpPr txBox="1"/>
          <p:nvPr/>
        </p:nvSpPr>
        <p:spPr>
          <a:xfrm>
            <a:off x="548640" y="6126480"/>
            <a:ext cx="10972800" cy="365760"/>
          </a:xfrm>
          <a:prstGeom prst="rect">
            <a:avLst/>
          </a:prstGeom>
          <a:noFill/>
        </p:spPr>
        <p:txBody>
          <a:bodyPr wrap="square" anchor="t">
            <a:spAutoFit/>
          </a:bodyPr>
          <a:lstStyle/>
          <a:p>
            <a:pPr algn="l">
              <a:lnSpc>
                <a:spcPct val="100000"/>
              </a:lnSpc>
              <a:spcAft>
                <a:spcPts val="400"/>
              </a:spcAft>
            </a:pPr>
            <a:r>
              <a:rPr sz="950" b="0">
                <a:solidFill>
                  <a:srgbClr val="848D9B"/>
                </a:solidFill>
                <a:latin typeface="Menlo"/>
              </a:rPr>
              <a:t>every claim on these slides is how the code works today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274320"/>
          </a:xfrm>
          <a:prstGeom prst="rect">
            <a:avLst/>
          </a:prstGeom>
          <a:noFill/>
        </p:spPr>
        <p:txBody>
          <a:bodyPr wrap="square" anchor="t">
            <a:spAutoFit/>
          </a:bodyPr>
          <a:lstStyle/>
          <a:p>
            <a:pPr algn="l">
              <a:lnSpc>
                <a:spcPct val="100000"/>
              </a:lnSpc>
              <a:spcAft>
                <a:spcPts val="400"/>
              </a:spcAft>
            </a:pPr>
            <a:r>
              <a:rPr sz="1000" b="1">
                <a:solidFill>
                  <a:srgbClr val="848D9B"/>
                </a:solidFill>
                <a:latin typeface="Menlo"/>
              </a:rPr>
              <a:t>01 · The databases</a:t>
            </a:r>
          </a:p>
        </p:txBody>
      </p:sp>
      <p:sp>
        <p:nvSpPr>
          <p:cNvPr id="4" name="TextBox 3"/>
          <p:cNvSpPr txBox="1"/>
          <p:nvPr/>
        </p:nvSpPr>
        <p:spPr>
          <a:xfrm>
            <a:off x="548640" y="566928"/>
            <a:ext cx="11064240" cy="548640"/>
          </a:xfrm>
          <a:prstGeom prst="rect">
            <a:avLst/>
          </a:prstGeom>
          <a:noFill/>
        </p:spPr>
        <p:txBody>
          <a:bodyPr wrap="square" anchor="t">
            <a:spAutoFit/>
          </a:bodyPr>
          <a:lstStyle/>
          <a:p>
            <a:pPr algn="l">
              <a:lnSpc>
                <a:spcPct val="100000"/>
              </a:lnSpc>
              <a:spcAft>
                <a:spcPts val="400"/>
              </a:spcAft>
            </a:pPr>
            <a:r>
              <a:rPr sz="2400" b="1">
                <a:solidFill>
                  <a:srgbClr val="0E1116"/>
                </a:solidFill>
                <a:latin typeface="Helvetica Neue"/>
              </a:rPr>
              <a:t>Two databases that matter, two helpers</a:t>
            </a:r>
          </a:p>
        </p:txBody>
      </p:sp>
      <p:sp>
        <p:nvSpPr>
          <p:cNvPr id="5" name="Rounded Rectangle 4"/>
          <p:cNvSpPr/>
          <p:nvPr/>
        </p:nvSpPr>
        <p:spPr>
          <a:xfrm>
            <a:off x="548640" y="1325880"/>
            <a:ext cx="2779776" cy="4160520"/>
          </a:xfrm>
          <a:prstGeom prst="roundRect">
            <a:avLst>
              <a:gd name="adj" fmla="val 1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73152"/>
          <a:lstStyle/>
          <a:p>
            <a:pPr algn="l">
              <a:spcAft>
                <a:spcPts val="300"/>
              </a:spcAft>
            </a:pPr>
            <a:r>
              <a:rPr sz="1300" b="1">
                <a:solidFill>
                  <a:srgbClr val="0B7E99"/>
                </a:solidFill>
                <a:latin typeface="Menlo"/>
              </a:rPr>
              <a:t>graph db  (Neo4j)</a:t>
            </a:r>
          </a:p>
          <a:p>
            <a:pPr algn="l">
              <a:spcAft>
                <a:spcPts val="300"/>
              </a:spcAft>
            </a:pPr>
            <a:r>
              <a:rPr sz="950" b="1">
                <a:solidFill>
                  <a:srgbClr val="48505C"/>
                </a:solidFill>
                <a:latin typeface="Helvetica Neue"/>
              </a:rPr>
              <a:t>This is the actual knowledge. Lose it, lose everything.</a:t>
            </a:r>
          </a:p>
          <a:p>
            <a:pPr algn="l">
              <a:spcAft>
                <a:spcPts val="300"/>
              </a:spcAft>
            </a:pPr>
            <a:r>
              <a:rPr sz="400" b="0">
                <a:solidFill>
                  <a:srgbClr val="48505C"/>
                </a:solidFill>
                <a:latin typeface="Helvetica Neue"/>
              </a:rPr>
              <a:t/>
            </a:r>
          </a:p>
          <a:p>
            <a:pPr algn="l">
              <a:spcAft>
                <a:spcPts val="300"/>
              </a:spcAft>
            </a:pPr>
            <a:r>
              <a:rPr sz="950" b="0">
                <a:solidFill>
                  <a:srgbClr val="0B7E99"/>
                </a:solidFill>
                <a:latin typeface="Helvetica Neue"/>
              </a:rPr>
              <a:t>▸ </a:t>
            </a:r>
            <a:r>
              <a:rPr sz="950" b="0">
                <a:solidFill>
                  <a:srgbClr val="48505C"/>
                </a:solidFill>
                <a:latin typeface="Helvetica Neue"/>
              </a:rPr>
              <a:t>Things (people, companies, places…), each with a one-line description</a:t>
            </a:r>
          </a:p>
          <a:p>
            <a:pPr algn="l">
              <a:spcAft>
                <a:spcPts val="300"/>
              </a:spcAft>
            </a:pPr>
            <a:r>
              <a:rPr sz="950" b="0">
                <a:solidFill>
                  <a:srgbClr val="0B7E99"/>
                </a:solidFill>
                <a:latin typeface="Helvetica Neue"/>
              </a:rPr>
              <a:t>▸ </a:t>
            </a:r>
            <a:r>
              <a:rPr sz="950" b="0">
                <a:solidFill>
                  <a:srgbClr val="48505C"/>
                </a:solidFill>
                <a:latin typeface="Helvetica Neue"/>
              </a:rPr>
              <a:t>Facts between things — with start/end dates, so old facts close instead of being deleted</a:t>
            </a:r>
          </a:p>
          <a:p>
            <a:pPr algn="l">
              <a:spcAft>
                <a:spcPts val="300"/>
              </a:spcAft>
            </a:pPr>
            <a:r>
              <a:rPr sz="950" b="0">
                <a:solidFill>
                  <a:srgbClr val="0B7E99"/>
                </a:solidFill>
                <a:latin typeface="Helvetica Neue"/>
              </a:rPr>
              <a:t>▸ </a:t>
            </a:r>
            <a:r>
              <a:rPr sz="950" b="0">
                <a:solidFill>
                  <a:srgbClr val="48505C"/>
                </a:solidFill>
                <a:latin typeface="Helvetica Neue"/>
              </a:rPr>
              <a:t>The exact sentence(s) each fact came from, one per source document</a:t>
            </a:r>
          </a:p>
          <a:p>
            <a:pPr algn="l">
              <a:spcAft>
                <a:spcPts val="300"/>
              </a:spcAft>
            </a:pPr>
            <a:r>
              <a:rPr sz="950" b="0">
                <a:solidFill>
                  <a:srgbClr val="0B7E99"/>
                </a:solidFill>
                <a:latin typeface="Helvetica Neue"/>
              </a:rPr>
              <a:t>▸ </a:t>
            </a:r>
            <a:r>
              <a:rPr sz="950" b="0">
                <a:solidFill>
                  <a:srgbClr val="48505C"/>
                </a:solidFill>
                <a:latin typeface="Helvetica Neue"/>
              </a:rPr>
              <a:t>Who approved every fact, when, from which document</a:t>
            </a:r>
          </a:p>
          <a:p>
            <a:pPr algn="l">
              <a:spcAft>
                <a:spcPts val="300"/>
              </a:spcAft>
            </a:pPr>
            <a:r>
              <a:rPr sz="950" b="0">
                <a:solidFill>
                  <a:srgbClr val="0B7E99"/>
                </a:solidFill>
                <a:latin typeface="Helvetica Neue"/>
              </a:rPr>
              <a:t>▸ </a:t>
            </a:r>
            <a:r>
              <a:rPr sz="950" b="0">
                <a:solidFill>
                  <a:srgbClr val="48505C"/>
                </a:solidFill>
                <a:latin typeface="Helvetica Neue"/>
              </a:rPr>
              <a:t>Also holds the waiting room: proposed facts sit here as plain JSON until a person decides</a:t>
            </a:r>
          </a:p>
        </p:txBody>
      </p:sp>
      <p:sp>
        <p:nvSpPr>
          <p:cNvPr id="6" name="Rounded Rectangle 5"/>
          <p:cNvSpPr/>
          <p:nvPr/>
        </p:nvSpPr>
        <p:spPr>
          <a:xfrm>
            <a:off x="3465576" y="1325880"/>
            <a:ext cx="2779776" cy="4160520"/>
          </a:xfrm>
          <a:prstGeom prst="roundRect">
            <a:avLst>
              <a:gd name="adj" fmla="val 1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73152"/>
          <a:lstStyle/>
          <a:p>
            <a:pPr algn="l">
              <a:spcAft>
                <a:spcPts val="300"/>
              </a:spcAft>
            </a:pPr>
            <a:r>
              <a:rPr sz="1300" b="1">
                <a:solidFill>
                  <a:srgbClr val="6D4FC4"/>
                </a:solidFill>
                <a:latin typeface="Menlo"/>
              </a:rPr>
              <a:t>vector db  (Qdrant)</a:t>
            </a:r>
          </a:p>
          <a:p>
            <a:pPr algn="l">
              <a:spcAft>
                <a:spcPts val="300"/>
              </a:spcAft>
            </a:pPr>
            <a:r>
              <a:rPr sz="950" b="1">
                <a:solidFill>
                  <a:srgbClr val="48505C"/>
                </a:solidFill>
                <a:latin typeface="Helvetica Neue"/>
              </a:rPr>
              <a:t>Only for similarity search. Delete it any time — one script rebuilds it from the graph db.</a:t>
            </a:r>
          </a:p>
          <a:p>
            <a:pPr algn="l">
              <a:spcAft>
                <a:spcPts val="300"/>
              </a:spcAft>
            </a:pPr>
            <a:r>
              <a:rPr sz="400" b="0">
                <a:solidFill>
                  <a:srgbClr val="48505C"/>
                </a:solidFill>
                <a:latin typeface="Helvetica Neue"/>
              </a:rPr>
              <a:t/>
            </a:r>
          </a:p>
          <a:p>
            <a:pPr algn="l">
              <a:spcAft>
                <a:spcPts val="300"/>
              </a:spcAft>
            </a:pPr>
            <a:r>
              <a:rPr sz="950" b="0">
                <a:solidFill>
                  <a:srgbClr val="6D4FC4"/>
                </a:solidFill>
                <a:latin typeface="Helvetica Neue"/>
              </a:rPr>
              <a:t>▸ </a:t>
            </a:r>
            <a:r>
              <a:rPr sz="950" b="0">
                <a:solidFill>
                  <a:srgbClr val="48505C"/>
                </a:solidFill>
                <a:latin typeface="Helvetica Neue"/>
              </a:rPr>
              <a:t>“Is 'Acme Corp' the same as 'Acme Corporation'?” — similar names &amp; descriptions</a:t>
            </a:r>
          </a:p>
          <a:p>
            <a:pPr algn="l">
              <a:spcAft>
                <a:spcPts val="300"/>
              </a:spcAft>
            </a:pPr>
            <a:r>
              <a:rPr sz="950" b="0">
                <a:solidFill>
                  <a:srgbClr val="6D4FC4"/>
                </a:solidFill>
                <a:latin typeface="Helvetica Neue"/>
              </a:rPr>
              <a:t>▸ </a:t>
            </a:r>
            <a:r>
              <a:rPr sz="950" b="0">
                <a:solidFill>
                  <a:srgbClr val="48505C"/>
                </a:solidFill>
                <a:latin typeface="Helvetica Neue"/>
              </a:rPr>
              <a:t>“Is 'is CEO of' the same as 'chief executive of'?” — similar wordings</a:t>
            </a:r>
          </a:p>
          <a:p>
            <a:pPr algn="l">
              <a:spcAft>
                <a:spcPts val="300"/>
              </a:spcAft>
            </a:pPr>
            <a:r>
              <a:rPr sz="950" b="0">
                <a:solidFill>
                  <a:srgbClr val="6D4FC4"/>
                </a:solidFill>
                <a:latin typeface="Helvetica Neue"/>
              </a:rPr>
              <a:t>▸ </a:t>
            </a:r>
            <a:r>
              <a:rPr sz="950" b="0">
                <a:solidFill>
                  <a:srgbClr val="48505C"/>
                </a:solidFill>
                <a:latin typeface="Helvetica Neue"/>
              </a:rPr>
              <a:t>“Which stored facts sound like this question?” — similar facts</a:t>
            </a:r>
          </a:p>
          <a:p>
            <a:pPr algn="l">
              <a:spcAft>
                <a:spcPts val="300"/>
              </a:spcAft>
            </a:pPr>
            <a:r>
              <a:rPr sz="950" b="0">
                <a:solidFill>
                  <a:srgbClr val="6D4FC4"/>
                </a:solidFill>
                <a:latin typeface="Helvetica Neue"/>
              </a:rPr>
              <a:t>▸ </a:t>
            </a:r>
            <a:r>
              <a:rPr sz="950" b="0">
                <a:solidFill>
                  <a:srgbClr val="48505C"/>
                </a:solidFill>
                <a:latin typeface="Helvetica Neue"/>
              </a:rPr>
              <a:t>Updated only after a person approves — proposals are never searchable</a:t>
            </a:r>
          </a:p>
        </p:txBody>
      </p:sp>
      <p:sp>
        <p:nvSpPr>
          <p:cNvPr id="7" name="Rounded Rectangle 6"/>
          <p:cNvSpPr/>
          <p:nvPr/>
        </p:nvSpPr>
        <p:spPr>
          <a:xfrm>
            <a:off x="6382512" y="1325880"/>
            <a:ext cx="2779776" cy="4160520"/>
          </a:xfrm>
          <a:prstGeom prst="roundRect">
            <a:avLst>
              <a:gd name="adj" fmla="val 1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73152"/>
          <a:lstStyle/>
          <a:p>
            <a:pPr algn="l">
              <a:spcAft>
                <a:spcPts val="300"/>
              </a:spcAft>
            </a:pPr>
            <a:r>
              <a:rPr sz="1300" b="1">
                <a:solidFill>
                  <a:srgbClr val="48505C"/>
                </a:solidFill>
                <a:latin typeface="Menlo"/>
              </a:rPr>
              <a:t>Postgres</a:t>
            </a:r>
          </a:p>
          <a:p>
            <a:pPr algn="l">
              <a:spcAft>
                <a:spcPts val="300"/>
              </a:spcAft>
            </a:pPr>
            <a:r>
              <a:rPr sz="950" b="1">
                <a:solidFill>
                  <a:srgbClr val="48505C"/>
                </a:solidFill>
                <a:latin typeface="Helvetica Neue"/>
              </a:rPr>
              <a:t>One job.</a:t>
            </a:r>
          </a:p>
          <a:p>
            <a:pPr algn="l">
              <a:spcAft>
                <a:spcPts val="300"/>
              </a:spcAft>
            </a:pPr>
            <a:r>
              <a:rPr sz="400" b="0">
                <a:solidFill>
                  <a:srgbClr val="48505C"/>
                </a:solidFill>
                <a:latin typeface="Helvetica Neue"/>
              </a:rPr>
              <a:t/>
            </a:r>
          </a:p>
          <a:p>
            <a:pPr algn="l">
              <a:spcAft>
                <a:spcPts val="300"/>
              </a:spcAft>
            </a:pPr>
            <a:r>
              <a:rPr sz="950" b="0">
                <a:solidFill>
                  <a:srgbClr val="48505C"/>
                </a:solidFill>
                <a:latin typeface="Helvetica Neue"/>
              </a:rPr>
              <a:t>▸ </a:t>
            </a:r>
            <a:r>
              <a:rPr sz="950" b="0">
                <a:solidFill>
                  <a:srgbClr val="48505C"/>
                </a:solidFill>
                <a:latin typeface="Helvetica Neue"/>
              </a:rPr>
              <a:t>When a run stops to wait for human review, its state is saved here</a:t>
            </a:r>
          </a:p>
          <a:p>
            <a:pPr algn="l">
              <a:spcAft>
                <a:spcPts val="300"/>
              </a:spcAft>
            </a:pPr>
            <a:r>
              <a:rPr sz="950" b="0">
                <a:solidFill>
                  <a:srgbClr val="48505C"/>
                </a:solidFill>
                <a:latin typeface="Helvetica Neue"/>
              </a:rPr>
              <a:t>▸ </a:t>
            </a:r>
            <a:r>
              <a:rPr sz="950" b="0">
                <a:solidFill>
                  <a:srgbClr val="48505C"/>
                </a:solidFill>
                <a:latin typeface="Helvetica Neue"/>
              </a:rPr>
              <a:t>So the wait can last a week, laptops can reboot, and the run still resumes</a:t>
            </a:r>
          </a:p>
        </p:txBody>
      </p:sp>
      <p:sp>
        <p:nvSpPr>
          <p:cNvPr id="8" name="Rounded Rectangle 7"/>
          <p:cNvSpPr/>
          <p:nvPr/>
        </p:nvSpPr>
        <p:spPr>
          <a:xfrm>
            <a:off x="9299448" y="1325880"/>
            <a:ext cx="2779776" cy="4160520"/>
          </a:xfrm>
          <a:prstGeom prst="roundRect">
            <a:avLst>
              <a:gd name="adj" fmla="val 1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73152"/>
          <a:lstStyle/>
          <a:p>
            <a:pPr algn="l">
              <a:spcAft>
                <a:spcPts val="300"/>
              </a:spcAft>
            </a:pPr>
            <a:r>
              <a:rPr sz="1300" b="1">
                <a:solidFill>
                  <a:srgbClr val="48505C"/>
                </a:solidFill>
                <a:latin typeface="Menlo"/>
              </a:rPr>
              <a:t>Langfuse</a:t>
            </a:r>
          </a:p>
          <a:p>
            <a:pPr algn="l">
              <a:spcAft>
                <a:spcPts val="300"/>
              </a:spcAft>
            </a:pPr>
            <a:r>
              <a:rPr sz="950" b="1">
                <a:solidFill>
                  <a:srgbClr val="48505C"/>
                </a:solidFill>
                <a:latin typeface="Helvetica Neue"/>
              </a:rPr>
              <a:t>One job.</a:t>
            </a:r>
          </a:p>
          <a:p>
            <a:pPr algn="l">
              <a:spcAft>
                <a:spcPts val="300"/>
              </a:spcAft>
            </a:pPr>
            <a:r>
              <a:rPr sz="400" b="0">
                <a:solidFill>
                  <a:srgbClr val="48505C"/>
                </a:solidFill>
                <a:latin typeface="Helvetica Neue"/>
              </a:rPr>
              <a:t/>
            </a:r>
          </a:p>
          <a:p>
            <a:pPr algn="l">
              <a:spcAft>
                <a:spcPts val="300"/>
              </a:spcAft>
            </a:pPr>
            <a:r>
              <a:rPr sz="950" b="0">
                <a:solidFill>
                  <a:srgbClr val="48505C"/>
                </a:solidFill>
                <a:latin typeface="Helvetica Neue"/>
              </a:rPr>
              <a:t>▸ </a:t>
            </a:r>
            <a:r>
              <a:rPr sz="950" b="0">
                <a:solidFill>
                  <a:srgbClr val="48505C"/>
                </a:solidFill>
                <a:latin typeface="Helvetica Neue"/>
              </a:rPr>
              <a:t>Every AI call is logged: prompt, answer, cost</a:t>
            </a:r>
          </a:p>
          <a:p>
            <a:pPr algn="l">
              <a:spcAft>
                <a:spcPts val="300"/>
              </a:spcAft>
            </a:pPr>
            <a:r>
              <a:rPr sz="950" b="0">
                <a:solidFill>
                  <a:srgbClr val="48505C"/>
                </a:solidFill>
                <a:latin typeface="Helvetica Neue"/>
              </a:rPr>
              <a:t>▸ </a:t>
            </a:r>
            <a:r>
              <a:rPr sz="950" b="0">
                <a:solidFill>
                  <a:srgbClr val="48505C"/>
                </a:solidFill>
                <a:latin typeface="Helvetica Neue"/>
              </a:rPr>
              <a:t>When extraction does something weird, you look here</a:t>
            </a:r>
          </a:p>
        </p:txBody>
      </p:sp>
      <p:sp>
        <p:nvSpPr>
          <p:cNvPr id="9" name="Rounded Rectangle 8"/>
          <p:cNvSpPr/>
          <p:nvPr/>
        </p:nvSpPr>
        <p:spPr>
          <a:xfrm>
            <a:off x="548640" y="5715000"/>
            <a:ext cx="11530584" cy="658368"/>
          </a:xfrm>
          <a:prstGeom prst="roundRect">
            <a:avLst>
              <a:gd name="adj" fmla="val 10000"/>
            </a:avLst>
          </a:prstGeom>
          <a:solidFill>
            <a:srgbClr val="E2EFEC"/>
          </a:solidFill>
          <a:ln w="9525">
            <a:solidFill>
              <a:srgbClr val="0B7E9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300"/>
              </a:spcAft>
            </a:pPr>
            <a:r>
              <a:rPr sz="1100" b="1">
                <a:solidFill>
                  <a:srgbClr val="0B7E99"/>
                </a:solidFill>
                <a:latin typeface="Menlo"/>
              </a:rPr>
              <a:t>RULE #1   </a:t>
            </a:r>
            <a:r>
              <a:rPr sz="1150" b="0">
                <a:solidFill>
                  <a:srgbClr val="0E1116"/>
                </a:solidFill>
                <a:latin typeface="Helvetica Neue"/>
              </a:rPr>
              <a:t>the AI never writes to the graph db. The only thing that writes facts is the approve button.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274320"/>
          </a:xfrm>
          <a:prstGeom prst="rect">
            <a:avLst/>
          </a:prstGeom>
          <a:noFill/>
        </p:spPr>
        <p:txBody>
          <a:bodyPr wrap="square" anchor="t">
            <a:spAutoFit/>
          </a:bodyPr>
          <a:lstStyle/>
          <a:p>
            <a:pPr algn="l">
              <a:lnSpc>
                <a:spcPct val="100000"/>
              </a:lnSpc>
              <a:spcAft>
                <a:spcPts val="400"/>
              </a:spcAft>
            </a:pPr>
            <a:r>
              <a:rPr sz="1000" b="1">
                <a:solidFill>
                  <a:srgbClr val="848D9B"/>
                </a:solidFill>
                <a:latin typeface="Menlo"/>
              </a:rPr>
              <a:t>02 · Ingesting a document — part 1</a:t>
            </a:r>
          </a:p>
        </p:txBody>
      </p:sp>
      <p:sp>
        <p:nvSpPr>
          <p:cNvPr id="4" name="TextBox 3"/>
          <p:cNvSpPr txBox="1"/>
          <p:nvPr/>
        </p:nvSpPr>
        <p:spPr>
          <a:xfrm>
            <a:off x="548640" y="566928"/>
            <a:ext cx="11064240" cy="548640"/>
          </a:xfrm>
          <a:prstGeom prst="rect">
            <a:avLst/>
          </a:prstGeom>
          <a:noFill/>
        </p:spPr>
        <p:txBody>
          <a:bodyPr wrap="square" anchor="t">
            <a:spAutoFit/>
          </a:bodyPr>
          <a:lstStyle/>
          <a:p>
            <a:pPr algn="l">
              <a:lnSpc>
                <a:spcPct val="100000"/>
              </a:lnSpc>
              <a:spcAft>
                <a:spcPts val="400"/>
              </a:spcAft>
            </a:pPr>
            <a:r>
              <a:rPr sz="2400" b="1">
                <a:solidFill>
                  <a:srgbClr val="0E1116"/>
                </a:solidFill>
                <a:latin typeface="Helvetica Neue"/>
              </a:rPr>
              <a:t>The AI reads and proposes. Nothing is written yet.</a:t>
            </a:r>
          </a:p>
        </p:txBody>
      </p:sp>
      <p:sp>
        <p:nvSpPr>
          <p:cNvPr id="5" name="Rounded Rectangle 4"/>
          <p:cNvSpPr/>
          <p:nvPr/>
        </p:nvSpPr>
        <p:spPr>
          <a:xfrm>
            <a:off x="548640" y="1316736"/>
            <a:ext cx="310896" cy="310896"/>
          </a:xfrm>
          <a:prstGeom prst="roundRect">
            <a:avLst>
              <a:gd name="adj" fmla="val 5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1100" b="1">
                <a:solidFill>
                  <a:srgbClr val="0E1116"/>
                </a:solidFill>
                <a:latin typeface="Menlo"/>
              </a:rPr>
              <a:t>1</a:t>
            </a:r>
          </a:p>
        </p:txBody>
      </p:sp>
      <p:sp>
        <p:nvSpPr>
          <p:cNvPr id="6" name="TextBox 5"/>
          <p:cNvSpPr txBox="1"/>
          <p:nvPr/>
        </p:nvSpPr>
        <p:spPr>
          <a:xfrm>
            <a:off x="987552" y="1280160"/>
            <a:ext cx="2148840" cy="640080"/>
          </a:xfrm>
          <a:prstGeom prst="rect">
            <a:avLst/>
          </a:prstGeom>
          <a:noFill/>
        </p:spPr>
        <p:txBody>
          <a:bodyPr wrap="square" anchor="t">
            <a:spAutoFit/>
          </a:bodyPr>
          <a:lstStyle/>
          <a:p>
            <a:pPr algn="l">
              <a:lnSpc>
                <a:spcPct val="95000"/>
              </a:lnSpc>
              <a:spcAft>
                <a:spcPts val="0"/>
              </a:spcAft>
            </a:pPr>
            <a:r>
              <a:rPr sz="1150" b="1">
                <a:solidFill>
                  <a:srgbClr val="0E1116"/>
                </a:solidFill>
                <a:latin typeface="Helvetica Neue"/>
              </a:rPr>
              <a:t>Fingerprint the file</a:t>
            </a:r>
          </a:p>
        </p:txBody>
      </p:sp>
      <p:sp>
        <p:nvSpPr>
          <p:cNvPr id="7" name="TextBox 6"/>
          <p:cNvSpPr txBox="1"/>
          <p:nvPr/>
        </p:nvSpPr>
        <p:spPr>
          <a:xfrm>
            <a:off x="3246120" y="1261872"/>
            <a:ext cx="6400800" cy="777240"/>
          </a:xfrm>
          <a:prstGeom prst="rect">
            <a:avLst/>
          </a:prstGeom>
          <a:noFill/>
        </p:spPr>
        <p:txBody>
          <a:bodyPr wrap="square" anchor="t">
            <a:spAutoFit/>
          </a:bodyPr>
          <a:lstStyle/>
          <a:p>
            <a:pPr algn="l">
              <a:lnSpc>
                <a:spcPct val="98000"/>
              </a:lnSpc>
              <a:spcAft>
                <a:spcPts val="0"/>
              </a:spcAft>
            </a:pPr>
            <a:r>
              <a:rPr sz="900" b="0">
                <a:solidFill>
                  <a:srgbClr val="48505C"/>
                </a:solidFill>
                <a:latin typeface="Helvetica Neue"/>
              </a:rPr>
              <a:t>Hash the bytes. Already in the graph? Already waiting for review? Then stop right here.</a:t>
            </a:r>
          </a:p>
        </p:txBody>
      </p:sp>
      <p:sp>
        <p:nvSpPr>
          <p:cNvPr id="8" name="Rounded Rectangle 7"/>
          <p:cNvSpPr/>
          <p:nvPr/>
        </p:nvSpPr>
        <p:spPr>
          <a:xfrm>
            <a:off x="9601200" y="1335024"/>
            <a:ext cx="1367028" cy="274320"/>
          </a:xfrm>
          <a:prstGeom prst="roundRect">
            <a:avLst>
              <a:gd name="adj" fmla="val 50000"/>
            </a:avLst>
          </a:prstGeom>
          <a:solidFill>
            <a:srgbClr val="E2EFEC"/>
          </a:solidFill>
          <a:ln w="9525">
            <a:solidFill>
              <a:srgbClr val="0B7E9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800" b="1">
                <a:solidFill>
                  <a:srgbClr val="0B7E99"/>
                </a:solidFill>
                <a:latin typeface="Menlo"/>
              </a:rPr>
              <a:t>checks graph db</a:t>
            </a:r>
          </a:p>
        </p:txBody>
      </p:sp>
      <p:sp>
        <p:nvSpPr>
          <p:cNvPr id="9" name="Rounded Rectangle 8"/>
          <p:cNvSpPr/>
          <p:nvPr/>
        </p:nvSpPr>
        <p:spPr>
          <a:xfrm>
            <a:off x="548640" y="2066543"/>
            <a:ext cx="310896" cy="310896"/>
          </a:xfrm>
          <a:prstGeom prst="roundRect">
            <a:avLst>
              <a:gd name="adj" fmla="val 5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1100" b="1">
                <a:solidFill>
                  <a:srgbClr val="0E1116"/>
                </a:solidFill>
                <a:latin typeface="Menlo"/>
              </a:rPr>
              <a:t>2</a:t>
            </a:r>
          </a:p>
        </p:txBody>
      </p:sp>
      <p:sp>
        <p:nvSpPr>
          <p:cNvPr id="10" name="TextBox 9"/>
          <p:cNvSpPr txBox="1"/>
          <p:nvPr/>
        </p:nvSpPr>
        <p:spPr>
          <a:xfrm>
            <a:off x="987552" y="2029967"/>
            <a:ext cx="2148840" cy="640080"/>
          </a:xfrm>
          <a:prstGeom prst="rect">
            <a:avLst/>
          </a:prstGeom>
          <a:noFill/>
        </p:spPr>
        <p:txBody>
          <a:bodyPr wrap="square" anchor="t">
            <a:spAutoFit/>
          </a:bodyPr>
          <a:lstStyle/>
          <a:p>
            <a:pPr algn="l">
              <a:lnSpc>
                <a:spcPct val="95000"/>
              </a:lnSpc>
              <a:spcAft>
                <a:spcPts val="0"/>
              </a:spcAft>
            </a:pPr>
            <a:r>
              <a:rPr sz="1150" b="1">
                <a:solidFill>
                  <a:srgbClr val="0E1116"/>
                </a:solidFill>
                <a:latin typeface="Helvetica Neue"/>
              </a:rPr>
              <a:t>Split into paragraphs</a:t>
            </a:r>
          </a:p>
        </p:txBody>
      </p:sp>
      <p:sp>
        <p:nvSpPr>
          <p:cNvPr id="11" name="TextBox 10"/>
          <p:cNvSpPr txBox="1"/>
          <p:nvPr/>
        </p:nvSpPr>
        <p:spPr>
          <a:xfrm>
            <a:off x="3246120" y="2011679"/>
            <a:ext cx="6400800" cy="777240"/>
          </a:xfrm>
          <a:prstGeom prst="rect">
            <a:avLst/>
          </a:prstGeom>
          <a:noFill/>
        </p:spPr>
        <p:txBody>
          <a:bodyPr wrap="square" anchor="t">
            <a:spAutoFit/>
          </a:bodyPr>
          <a:lstStyle/>
          <a:p>
            <a:pPr algn="l">
              <a:lnSpc>
                <a:spcPct val="98000"/>
              </a:lnSpc>
              <a:spcAft>
                <a:spcPts val="0"/>
              </a:spcAft>
            </a:pPr>
            <a:r>
              <a:rPr sz="900" b="0">
                <a:solidFill>
                  <a:srgbClr val="48505C"/>
                </a:solidFill>
                <a:latin typeface="Helvetica Neue"/>
              </a:rPr>
              <a:t>Each paragraph goes to the AI separately, with its section heading for context.</a:t>
            </a:r>
          </a:p>
        </p:txBody>
      </p:sp>
      <p:sp>
        <p:nvSpPr>
          <p:cNvPr id="12" name="Rounded Rectangle 11"/>
          <p:cNvSpPr/>
          <p:nvPr/>
        </p:nvSpPr>
        <p:spPr>
          <a:xfrm>
            <a:off x="9601200" y="2084831"/>
            <a:ext cx="1056132" cy="274320"/>
          </a:xfrm>
          <a:prstGeom prst="roundRect">
            <a:avLst>
              <a:gd name="adj" fmla="val 5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800" b="1">
                <a:solidFill>
                  <a:srgbClr val="848D9B"/>
                </a:solidFill>
                <a:latin typeface="Menlo"/>
              </a:rPr>
              <a:t>no database</a:t>
            </a:r>
          </a:p>
        </p:txBody>
      </p:sp>
      <p:sp>
        <p:nvSpPr>
          <p:cNvPr id="13" name="Rounded Rectangle 12"/>
          <p:cNvSpPr/>
          <p:nvPr/>
        </p:nvSpPr>
        <p:spPr>
          <a:xfrm>
            <a:off x="548640" y="2816351"/>
            <a:ext cx="310896" cy="310896"/>
          </a:xfrm>
          <a:prstGeom prst="roundRect">
            <a:avLst>
              <a:gd name="adj" fmla="val 5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1100" b="1">
                <a:solidFill>
                  <a:srgbClr val="0E1116"/>
                </a:solidFill>
                <a:latin typeface="Menlo"/>
              </a:rPr>
              <a:t>3</a:t>
            </a:r>
          </a:p>
        </p:txBody>
      </p:sp>
      <p:sp>
        <p:nvSpPr>
          <p:cNvPr id="14" name="TextBox 13"/>
          <p:cNvSpPr txBox="1"/>
          <p:nvPr/>
        </p:nvSpPr>
        <p:spPr>
          <a:xfrm>
            <a:off x="987552" y="2779775"/>
            <a:ext cx="2148840" cy="640080"/>
          </a:xfrm>
          <a:prstGeom prst="rect">
            <a:avLst/>
          </a:prstGeom>
          <a:noFill/>
        </p:spPr>
        <p:txBody>
          <a:bodyPr wrap="square" anchor="t">
            <a:spAutoFit/>
          </a:bodyPr>
          <a:lstStyle/>
          <a:p>
            <a:pPr algn="l">
              <a:lnSpc>
                <a:spcPct val="95000"/>
              </a:lnSpc>
              <a:spcAft>
                <a:spcPts val="0"/>
              </a:spcAft>
            </a:pPr>
            <a:r>
              <a:rPr sz="1150" b="1">
                <a:solidFill>
                  <a:srgbClr val="0E1116"/>
                </a:solidFill>
                <a:latin typeface="Helvetica Neue"/>
              </a:rPr>
              <a:t>AI pulls out the facts</a:t>
            </a:r>
          </a:p>
        </p:txBody>
      </p:sp>
      <p:sp>
        <p:nvSpPr>
          <p:cNvPr id="15" name="TextBox 14"/>
          <p:cNvSpPr txBox="1"/>
          <p:nvPr/>
        </p:nvSpPr>
        <p:spPr>
          <a:xfrm>
            <a:off x="3246120" y="2761487"/>
            <a:ext cx="6400800" cy="777240"/>
          </a:xfrm>
          <a:prstGeom prst="rect">
            <a:avLst/>
          </a:prstGeom>
          <a:noFill/>
        </p:spPr>
        <p:txBody>
          <a:bodyPr wrap="square" anchor="t">
            <a:spAutoFit/>
          </a:bodyPr>
          <a:lstStyle/>
          <a:p>
            <a:pPr algn="l">
              <a:lnSpc>
                <a:spcPct val="98000"/>
              </a:lnSpc>
              <a:spcAft>
                <a:spcPts val="0"/>
              </a:spcAft>
            </a:pPr>
            <a:r>
              <a:rPr sz="900" b="0">
                <a:solidFill>
                  <a:srgbClr val="48505C"/>
                </a:solidFill>
                <a:latin typeface="Helvetica Neue"/>
              </a:rPr>
              <a:t>One AI call per paragraph. It returns things + facts, each with the exact quote from the text, and a one-line description of every thing (“Basel — city where Acme is headquartered”).</a:t>
            </a:r>
          </a:p>
        </p:txBody>
      </p:sp>
      <p:sp>
        <p:nvSpPr>
          <p:cNvPr id="16" name="Rounded Rectangle 15"/>
          <p:cNvSpPr/>
          <p:nvPr/>
        </p:nvSpPr>
        <p:spPr>
          <a:xfrm>
            <a:off x="9601200" y="2834639"/>
            <a:ext cx="356616" cy="274320"/>
          </a:xfrm>
          <a:prstGeom prst="roundRect">
            <a:avLst>
              <a:gd name="adj" fmla="val 50000"/>
            </a:avLst>
          </a:prstGeom>
          <a:solidFill>
            <a:srgbClr val="ECE7F9"/>
          </a:solidFill>
          <a:ln w="9525">
            <a:solidFill>
              <a:srgbClr val="6D4FC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800" b="1">
                <a:solidFill>
                  <a:srgbClr val="6D4FC4"/>
                </a:solidFill>
                <a:latin typeface="Menlo"/>
              </a:rPr>
              <a:t>AI</a:t>
            </a:r>
          </a:p>
        </p:txBody>
      </p:sp>
      <p:sp>
        <p:nvSpPr>
          <p:cNvPr id="17" name="Rounded Rectangle 16"/>
          <p:cNvSpPr/>
          <p:nvPr/>
        </p:nvSpPr>
        <p:spPr>
          <a:xfrm>
            <a:off x="548640" y="3566159"/>
            <a:ext cx="310896" cy="310896"/>
          </a:xfrm>
          <a:prstGeom prst="roundRect">
            <a:avLst>
              <a:gd name="adj" fmla="val 5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1100" b="1">
                <a:solidFill>
                  <a:srgbClr val="0E1116"/>
                </a:solidFill>
                <a:latin typeface="Menlo"/>
              </a:rPr>
              <a:t>4</a:t>
            </a:r>
          </a:p>
        </p:txBody>
      </p:sp>
      <p:sp>
        <p:nvSpPr>
          <p:cNvPr id="18" name="TextBox 17"/>
          <p:cNvSpPr txBox="1"/>
          <p:nvPr/>
        </p:nvSpPr>
        <p:spPr>
          <a:xfrm>
            <a:off x="987552" y="3529583"/>
            <a:ext cx="2148840" cy="640080"/>
          </a:xfrm>
          <a:prstGeom prst="rect">
            <a:avLst/>
          </a:prstGeom>
          <a:noFill/>
        </p:spPr>
        <p:txBody>
          <a:bodyPr wrap="square" anchor="t">
            <a:spAutoFit/>
          </a:bodyPr>
          <a:lstStyle/>
          <a:p>
            <a:pPr algn="l">
              <a:lnSpc>
                <a:spcPct val="95000"/>
              </a:lnSpc>
              <a:spcAft>
                <a:spcPts val="0"/>
              </a:spcAft>
            </a:pPr>
            <a:r>
              <a:rPr sz="1150" b="1">
                <a:solidFill>
                  <a:srgbClr val="0E1116"/>
                </a:solidFill>
                <a:latin typeface="Helvetica Neue"/>
              </a:rPr>
              <a:t>“Do we already know this thing?”</a:t>
            </a:r>
          </a:p>
        </p:txBody>
      </p:sp>
      <p:sp>
        <p:nvSpPr>
          <p:cNvPr id="19" name="TextBox 18"/>
          <p:cNvSpPr txBox="1"/>
          <p:nvPr/>
        </p:nvSpPr>
        <p:spPr>
          <a:xfrm>
            <a:off x="3246120" y="3511295"/>
            <a:ext cx="6400800" cy="777240"/>
          </a:xfrm>
          <a:prstGeom prst="rect">
            <a:avLst/>
          </a:prstGeom>
          <a:noFill/>
        </p:spPr>
        <p:txBody>
          <a:bodyPr wrap="square" anchor="t">
            <a:spAutoFit/>
          </a:bodyPr>
          <a:lstStyle/>
          <a:p>
            <a:pPr algn="l">
              <a:lnSpc>
                <a:spcPct val="98000"/>
              </a:lnSpc>
              <a:spcAft>
                <a:spcPts val="0"/>
              </a:spcAft>
            </a:pPr>
            <a:r>
              <a:rPr sz="900" b="0">
                <a:solidFill>
                  <a:srgbClr val="48505C"/>
                </a:solidFill>
                <a:latin typeface="Helvetica Neue"/>
              </a:rPr>
              <a:t>Three checks, cheapest first: exact same name in the graph db? Very similar name+description in the vector db (score ≥ 0.90 = same, &lt; 0.60 = new)? In between — ask the AI to judge. If it's known, anything new it says (like a better description) becomes a proposed update.</a:t>
            </a:r>
          </a:p>
        </p:txBody>
      </p:sp>
      <p:sp>
        <p:nvSpPr>
          <p:cNvPr id="20" name="Rounded Rectangle 19"/>
          <p:cNvSpPr/>
          <p:nvPr/>
        </p:nvSpPr>
        <p:spPr>
          <a:xfrm>
            <a:off x="9601200" y="3584447"/>
            <a:ext cx="822960" cy="274320"/>
          </a:xfrm>
          <a:prstGeom prst="roundRect">
            <a:avLst>
              <a:gd name="adj" fmla="val 50000"/>
            </a:avLst>
          </a:prstGeom>
          <a:solidFill>
            <a:srgbClr val="E2EFEC"/>
          </a:solidFill>
          <a:ln w="9525">
            <a:solidFill>
              <a:srgbClr val="0B7E9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800" b="1">
                <a:solidFill>
                  <a:srgbClr val="0B7E99"/>
                </a:solidFill>
                <a:latin typeface="Menlo"/>
              </a:rPr>
              <a:t>graph db</a:t>
            </a:r>
          </a:p>
        </p:txBody>
      </p:sp>
      <p:sp>
        <p:nvSpPr>
          <p:cNvPr id="21" name="Rounded Rectangle 20"/>
          <p:cNvSpPr/>
          <p:nvPr/>
        </p:nvSpPr>
        <p:spPr>
          <a:xfrm>
            <a:off x="10488168" y="3584447"/>
            <a:ext cx="900684" cy="274320"/>
          </a:xfrm>
          <a:prstGeom prst="roundRect">
            <a:avLst>
              <a:gd name="adj" fmla="val 50000"/>
            </a:avLst>
          </a:prstGeom>
          <a:solidFill>
            <a:srgbClr val="ECE7F9"/>
          </a:solidFill>
          <a:ln w="9525">
            <a:solidFill>
              <a:srgbClr val="6D4FC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800" b="1">
                <a:solidFill>
                  <a:srgbClr val="6D4FC4"/>
                </a:solidFill>
                <a:latin typeface="Menlo"/>
              </a:rPr>
              <a:t>vector db</a:t>
            </a:r>
          </a:p>
        </p:txBody>
      </p:sp>
      <p:sp>
        <p:nvSpPr>
          <p:cNvPr id="22" name="Rounded Rectangle 21"/>
          <p:cNvSpPr/>
          <p:nvPr/>
        </p:nvSpPr>
        <p:spPr>
          <a:xfrm>
            <a:off x="11452860" y="3584447"/>
            <a:ext cx="356616" cy="274320"/>
          </a:xfrm>
          <a:prstGeom prst="roundRect">
            <a:avLst>
              <a:gd name="adj" fmla="val 50000"/>
            </a:avLst>
          </a:prstGeom>
          <a:solidFill>
            <a:srgbClr val="ECE7F9"/>
          </a:solidFill>
          <a:ln w="9525">
            <a:solidFill>
              <a:srgbClr val="6D4FC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800" b="1">
                <a:solidFill>
                  <a:srgbClr val="6D4FC4"/>
                </a:solidFill>
                <a:latin typeface="Menlo"/>
              </a:rPr>
              <a:t>AI</a:t>
            </a:r>
          </a:p>
        </p:txBody>
      </p:sp>
      <p:sp>
        <p:nvSpPr>
          <p:cNvPr id="23" name="Rounded Rectangle 22"/>
          <p:cNvSpPr/>
          <p:nvPr/>
        </p:nvSpPr>
        <p:spPr>
          <a:xfrm>
            <a:off x="548640" y="4315968"/>
            <a:ext cx="310896" cy="310896"/>
          </a:xfrm>
          <a:prstGeom prst="roundRect">
            <a:avLst>
              <a:gd name="adj" fmla="val 5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1100" b="1">
                <a:solidFill>
                  <a:srgbClr val="0E1116"/>
                </a:solidFill>
                <a:latin typeface="Menlo"/>
              </a:rPr>
              <a:t>5</a:t>
            </a:r>
          </a:p>
        </p:txBody>
      </p:sp>
      <p:sp>
        <p:nvSpPr>
          <p:cNvPr id="24" name="TextBox 23"/>
          <p:cNvSpPr txBox="1"/>
          <p:nvPr/>
        </p:nvSpPr>
        <p:spPr>
          <a:xfrm>
            <a:off x="987552" y="4279392"/>
            <a:ext cx="2148840" cy="640080"/>
          </a:xfrm>
          <a:prstGeom prst="rect">
            <a:avLst/>
          </a:prstGeom>
          <a:noFill/>
        </p:spPr>
        <p:txBody>
          <a:bodyPr wrap="square" anchor="t">
            <a:spAutoFit/>
          </a:bodyPr>
          <a:lstStyle/>
          <a:p>
            <a:pPr algn="l">
              <a:lnSpc>
                <a:spcPct val="95000"/>
              </a:lnSpc>
              <a:spcAft>
                <a:spcPts val="0"/>
              </a:spcAft>
            </a:pPr>
            <a:r>
              <a:rPr sz="1150" b="1">
                <a:solidFill>
                  <a:srgbClr val="0E1116"/>
                </a:solidFill>
                <a:latin typeface="Helvetica Neue"/>
              </a:rPr>
              <a:t>“Does this fact clash with the graph?”</a:t>
            </a:r>
          </a:p>
        </p:txBody>
      </p:sp>
      <p:sp>
        <p:nvSpPr>
          <p:cNvPr id="25" name="TextBox 24"/>
          <p:cNvSpPr txBox="1"/>
          <p:nvPr/>
        </p:nvSpPr>
        <p:spPr>
          <a:xfrm>
            <a:off x="3246120" y="4261104"/>
            <a:ext cx="6400800" cy="777240"/>
          </a:xfrm>
          <a:prstGeom prst="rect">
            <a:avLst/>
          </a:prstGeom>
          <a:noFill/>
        </p:spPr>
        <p:txBody>
          <a:bodyPr wrap="square" anchor="t">
            <a:spAutoFit/>
          </a:bodyPr>
          <a:lstStyle/>
          <a:p>
            <a:pPr algn="l">
              <a:lnSpc>
                <a:spcPct val="98000"/>
              </a:lnSpc>
              <a:spcAft>
                <a:spcPts val="0"/>
              </a:spcAft>
            </a:pPr>
            <a:r>
              <a:rPr sz="900" b="0">
                <a:solidFill>
                  <a:srgbClr val="48505C"/>
                </a:solidFill>
                <a:latin typeface="Helvetica Neue"/>
              </a:rPr>
              <a:t>Same fact already stored → just count one more source and keep its quote. A value that changed (new CEO, moved HQ) → close the old fact with an end date. A flat contradiction → flag it; a person MUST look at it.</a:t>
            </a:r>
          </a:p>
        </p:txBody>
      </p:sp>
      <p:sp>
        <p:nvSpPr>
          <p:cNvPr id="26" name="Rounded Rectangle 25"/>
          <p:cNvSpPr/>
          <p:nvPr/>
        </p:nvSpPr>
        <p:spPr>
          <a:xfrm>
            <a:off x="9601200" y="4334255"/>
            <a:ext cx="822960" cy="274320"/>
          </a:xfrm>
          <a:prstGeom prst="roundRect">
            <a:avLst>
              <a:gd name="adj" fmla="val 50000"/>
            </a:avLst>
          </a:prstGeom>
          <a:solidFill>
            <a:srgbClr val="E2EFEC"/>
          </a:solidFill>
          <a:ln w="9525">
            <a:solidFill>
              <a:srgbClr val="0B7E9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800" b="1">
                <a:solidFill>
                  <a:srgbClr val="0B7E99"/>
                </a:solidFill>
                <a:latin typeface="Menlo"/>
              </a:rPr>
              <a:t>graph db</a:t>
            </a:r>
          </a:p>
        </p:txBody>
      </p:sp>
      <p:sp>
        <p:nvSpPr>
          <p:cNvPr id="27" name="Rounded Rectangle 26"/>
          <p:cNvSpPr/>
          <p:nvPr/>
        </p:nvSpPr>
        <p:spPr>
          <a:xfrm>
            <a:off x="10488168" y="4334255"/>
            <a:ext cx="356616" cy="274320"/>
          </a:xfrm>
          <a:prstGeom prst="roundRect">
            <a:avLst>
              <a:gd name="adj" fmla="val 50000"/>
            </a:avLst>
          </a:prstGeom>
          <a:solidFill>
            <a:srgbClr val="ECE7F9"/>
          </a:solidFill>
          <a:ln w="9525">
            <a:solidFill>
              <a:srgbClr val="6D4FC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800" b="1">
                <a:solidFill>
                  <a:srgbClr val="6D4FC4"/>
                </a:solidFill>
                <a:latin typeface="Menlo"/>
              </a:rPr>
              <a:t>AI</a:t>
            </a:r>
          </a:p>
        </p:txBody>
      </p:sp>
      <p:sp>
        <p:nvSpPr>
          <p:cNvPr id="28" name="Rounded Rectangle 27"/>
          <p:cNvSpPr/>
          <p:nvPr/>
        </p:nvSpPr>
        <p:spPr>
          <a:xfrm>
            <a:off x="548640" y="5065776"/>
            <a:ext cx="310896" cy="310896"/>
          </a:xfrm>
          <a:prstGeom prst="roundRect">
            <a:avLst>
              <a:gd name="adj" fmla="val 5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1100" b="1">
                <a:solidFill>
                  <a:srgbClr val="0E1116"/>
                </a:solidFill>
                <a:latin typeface="Menlo"/>
              </a:rPr>
              <a:t>6</a:t>
            </a:r>
          </a:p>
        </p:txBody>
      </p:sp>
      <p:sp>
        <p:nvSpPr>
          <p:cNvPr id="29" name="TextBox 28"/>
          <p:cNvSpPr txBox="1"/>
          <p:nvPr/>
        </p:nvSpPr>
        <p:spPr>
          <a:xfrm>
            <a:off x="987552" y="5029200"/>
            <a:ext cx="2148840" cy="640080"/>
          </a:xfrm>
          <a:prstGeom prst="rect">
            <a:avLst/>
          </a:prstGeom>
          <a:noFill/>
        </p:spPr>
        <p:txBody>
          <a:bodyPr wrap="square" anchor="t">
            <a:spAutoFit/>
          </a:bodyPr>
          <a:lstStyle/>
          <a:p>
            <a:pPr algn="l">
              <a:lnSpc>
                <a:spcPct val="95000"/>
              </a:lnSpc>
              <a:spcAft>
                <a:spcPts val="0"/>
              </a:spcAft>
            </a:pPr>
            <a:r>
              <a:rPr sz="1150" b="1">
                <a:solidFill>
                  <a:srgbClr val="0E1116"/>
                </a:solidFill>
                <a:latin typeface="Helvetica Neue"/>
              </a:rPr>
              <a:t>Score and sort</a:t>
            </a:r>
          </a:p>
        </p:txBody>
      </p:sp>
      <p:sp>
        <p:nvSpPr>
          <p:cNvPr id="30" name="TextBox 29"/>
          <p:cNvSpPr txBox="1"/>
          <p:nvPr/>
        </p:nvSpPr>
        <p:spPr>
          <a:xfrm>
            <a:off x="3246120" y="5010912"/>
            <a:ext cx="6400800" cy="777240"/>
          </a:xfrm>
          <a:prstGeom prst="rect">
            <a:avLst/>
          </a:prstGeom>
          <a:noFill/>
        </p:spPr>
        <p:txBody>
          <a:bodyPr wrap="square" anchor="t">
            <a:spAutoFit/>
          </a:bodyPr>
          <a:lstStyle/>
          <a:p>
            <a:pPr algn="l">
              <a:lnSpc>
                <a:spcPct val="98000"/>
              </a:lnSpc>
              <a:spcAft>
                <a:spcPts val="0"/>
              </a:spcAft>
            </a:pPr>
            <a:r>
              <a:rPr sz="900" b="0">
                <a:solidFill>
                  <a:srgbClr val="48505C"/>
                </a:solidFill>
                <a:latin typeface="Helvetica Neue"/>
              </a:rPr>
              <a:t>Every proposed change gets a score. Very confident → auto-approved. Garbage → auto-dropped. Everything else → the review pile. Contradictions and never-seen types always go to review.</a:t>
            </a:r>
          </a:p>
        </p:txBody>
      </p:sp>
      <p:sp>
        <p:nvSpPr>
          <p:cNvPr id="31" name="Rounded Rectangle 30"/>
          <p:cNvSpPr/>
          <p:nvPr/>
        </p:nvSpPr>
        <p:spPr>
          <a:xfrm>
            <a:off x="9601200" y="5084064"/>
            <a:ext cx="1056132" cy="274320"/>
          </a:xfrm>
          <a:prstGeom prst="roundRect">
            <a:avLst>
              <a:gd name="adj" fmla="val 5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800" b="1">
                <a:solidFill>
                  <a:srgbClr val="848D9B"/>
                </a:solidFill>
                <a:latin typeface="Menlo"/>
              </a:rPr>
              <a:t>no database</a:t>
            </a:r>
          </a:p>
        </p:txBody>
      </p:sp>
      <p:sp>
        <p:nvSpPr>
          <p:cNvPr id="32" name="Rounded Rectangle 31"/>
          <p:cNvSpPr/>
          <p:nvPr/>
        </p:nvSpPr>
        <p:spPr>
          <a:xfrm>
            <a:off x="548640" y="5815584"/>
            <a:ext cx="310896" cy="310896"/>
          </a:xfrm>
          <a:prstGeom prst="roundRect">
            <a:avLst>
              <a:gd name="adj" fmla="val 5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1100" b="1">
                <a:solidFill>
                  <a:srgbClr val="0E1116"/>
                </a:solidFill>
                <a:latin typeface="Menlo"/>
              </a:rPr>
              <a:t>7</a:t>
            </a:r>
          </a:p>
        </p:txBody>
      </p:sp>
      <p:sp>
        <p:nvSpPr>
          <p:cNvPr id="33" name="TextBox 32"/>
          <p:cNvSpPr txBox="1"/>
          <p:nvPr/>
        </p:nvSpPr>
        <p:spPr>
          <a:xfrm>
            <a:off x="987552" y="5779008"/>
            <a:ext cx="2148840" cy="640080"/>
          </a:xfrm>
          <a:prstGeom prst="rect">
            <a:avLst/>
          </a:prstGeom>
          <a:noFill/>
        </p:spPr>
        <p:txBody>
          <a:bodyPr wrap="square" anchor="t">
            <a:spAutoFit/>
          </a:bodyPr>
          <a:lstStyle/>
          <a:p>
            <a:pPr algn="l">
              <a:lnSpc>
                <a:spcPct val="95000"/>
              </a:lnSpc>
              <a:spcAft>
                <a:spcPts val="0"/>
              </a:spcAft>
            </a:pPr>
            <a:r>
              <a:rPr sz="1150" b="1">
                <a:solidFill>
                  <a:srgbClr val="0E1116"/>
                </a:solidFill>
                <a:latin typeface="Helvetica Neue"/>
              </a:rPr>
              <a:t>Save the proposal and stop</a:t>
            </a:r>
          </a:p>
        </p:txBody>
      </p:sp>
      <p:sp>
        <p:nvSpPr>
          <p:cNvPr id="34" name="TextBox 33"/>
          <p:cNvSpPr txBox="1"/>
          <p:nvPr/>
        </p:nvSpPr>
        <p:spPr>
          <a:xfrm>
            <a:off x="3246120" y="5760720"/>
            <a:ext cx="6400800" cy="777240"/>
          </a:xfrm>
          <a:prstGeom prst="rect">
            <a:avLst/>
          </a:prstGeom>
          <a:noFill/>
        </p:spPr>
        <p:txBody>
          <a:bodyPr wrap="square" anchor="t">
            <a:spAutoFit/>
          </a:bodyPr>
          <a:lstStyle/>
          <a:p>
            <a:pPr algn="l">
              <a:lnSpc>
                <a:spcPct val="98000"/>
              </a:lnSpc>
              <a:spcAft>
                <a:spcPts val="0"/>
              </a:spcAft>
            </a:pPr>
            <a:r>
              <a:rPr sz="900" b="0">
                <a:solidFill>
                  <a:srgbClr val="48505C"/>
                </a:solidFill>
                <a:latin typeface="Helvetica Neue"/>
              </a:rPr>
              <a:t>All proposed changes are saved as one JSON document in the waiting room, the run's state goes to Postgres, and the program exits. The graph is untouched. This can sit for a month.</a:t>
            </a:r>
          </a:p>
        </p:txBody>
      </p:sp>
      <p:sp>
        <p:nvSpPr>
          <p:cNvPr id="35" name="Rounded Rectangle 34"/>
          <p:cNvSpPr/>
          <p:nvPr/>
        </p:nvSpPr>
        <p:spPr>
          <a:xfrm>
            <a:off x="9601200" y="5833872"/>
            <a:ext cx="1133856" cy="274320"/>
          </a:xfrm>
          <a:prstGeom prst="roundRect">
            <a:avLst>
              <a:gd name="adj" fmla="val 50000"/>
            </a:avLst>
          </a:prstGeom>
          <a:solidFill>
            <a:srgbClr val="E2EFEC"/>
          </a:solidFill>
          <a:ln w="9525">
            <a:solidFill>
              <a:srgbClr val="0B7E9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800" b="1">
                <a:solidFill>
                  <a:srgbClr val="0B7E99"/>
                </a:solidFill>
                <a:latin typeface="Menlo"/>
              </a:rPr>
              <a:t>waiting room</a:t>
            </a:r>
          </a:p>
        </p:txBody>
      </p:sp>
      <p:sp>
        <p:nvSpPr>
          <p:cNvPr id="36" name="Rounded Rectangle 35"/>
          <p:cNvSpPr/>
          <p:nvPr/>
        </p:nvSpPr>
        <p:spPr>
          <a:xfrm>
            <a:off x="10799064" y="5833872"/>
            <a:ext cx="822960" cy="274320"/>
          </a:xfrm>
          <a:prstGeom prst="roundRect">
            <a:avLst>
              <a:gd name="adj" fmla="val 5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800" b="1">
                <a:solidFill>
                  <a:srgbClr val="848D9B"/>
                </a:solidFill>
                <a:latin typeface="Menlo"/>
              </a:rPr>
              <a:t>Postgres</a:t>
            </a:r>
          </a:p>
        </p:txBody>
      </p:sp>
      <p:sp>
        <p:nvSpPr>
          <p:cNvPr id="37" name="TextBox 36"/>
          <p:cNvSpPr txBox="1"/>
          <p:nvPr/>
        </p:nvSpPr>
        <p:spPr>
          <a:xfrm>
            <a:off x="548640" y="6547104"/>
            <a:ext cx="11064240" cy="320040"/>
          </a:xfrm>
          <a:prstGeom prst="rect">
            <a:avLst/>
          </a:prstGeom>
          <a:noFill/>
        </p:spPr>
        <p:txBody>
          <a:bodyPr wrap="square" anchor="t">
            <a:spAutoFit/>
          </a:bodyPr>
          <a:lstStyle/>
          <a:p>
            <a:pPr algn="l">
              <a:lnSpc>
                <a:spcPct val="100000"/>
              </a:lnSpc>
              <a:spcAft>
                <a:spcPts val="400"/>
              </a:spcAft>
            </a:pPr>
            <a:r>
              <a:rPr sz="1000" b="1">
                <a:solidFill>
                  <a:srgbClr val="848D9B"/>
                </a:solidFill>
                <a:latin typeface="Menlo"/>
              </a:rPr>
              <a:t>After step 7 the graph db is byte-for-byte unchanged. Proposals are invisible to every search.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274320"/>
          </a:xfrm>
          <a:prstGeom prst="rect">
            <a:avLst/>
          </a:prstGeom>
          <a:noFill/>
        </p:spPr>
        <p:txBody>
          <a:bodyPr wrap="square" anchor="t">
            <a:spAutoFit/>
          </a:bodyPr>
          <a:lstStyle/>
          <a:p>
            <a:pPr algn="l">
              <a:lnSpc>
                <a:spcPct val="100000"/>
              </a:lnSpc>
              <a:spcAft>
                <a:spcPts val="400"/>
              </a:spcAft>
            </a:pPr>
            <a:r>
              <a:rPr sz="1000" b="1">
                <a:solidFill>
                  <a:srgbClr val="848D9B"/>
                </a:solidFill>
                <a:latin typeface="Menlo"/>
              </a:rPr>
              <a:t>03 · Ingesting a document — part 2</a:t>
            </a:r>
          </a:p>
        </p:txBody>
      </p:sp>
      <p:sp>
        <p:nvSpPr>
          <p:cNvPr id="4" name="TextBox 3"/>
          <p:cNvSpPr txBox="1"/>
          <p:nvPr/>
        </p:nvSpPr>
        <p:spPr>
          <a:xfrm>
            <a:off x="548640" y="566928"/>
            <a:ext cx="11064240" cy="548640"/>
          </a:xfrm>
          <a:prstGeom prst="rect">
            <a:avLst/>
          </a:prstGeom>
          <a:noFill/>
        </p:spPr>
        <p:txBody>
          <a:bodyPr wrap="square" anchor="t">
            <a:spAutoFit/>
          </a:bodyPr>
          <a:lstStyle/>
          <a:p>
            <a:pPr algn="l">
              <a:lnSpc>
                <a:spcPct val="100000"/>
              </a:lnSpc>
              <a:spcAft>
                <a:spcPts val="400"/>
              </a:spcAft>
            </a:pPr>
            <a:r>
              <a:rPr sz="2400" b="1">
                <a:solidFill>
                  <a:srgbClr val="0E1116"/>
                </a:solidFill>
                <a:latin typeface="Helvetica Neue"/>
              </a:rPr>
              <a:t>A person decides. Then, and only then, we write.</a:t>
            </a:r>
          </a:p>
        </p:txBody>
      </p:sp>
      <p:sp>
        <p:nvSpPr>
          <p:cNvPr id="5" name="Rounded Rectangle 4"/>
          <p:cNvSpPr/>
          <p:nvPr/>
        </p:nvSpPr>
        <p:spPr>
          <a:xfrm>
            <a:off x="548640" y="1325880"/>
            <a:ext cx="11530584" cy="1463040"/>
          </a:xfrm>
          <a:prstGeom prst="roundRect">
            <a:avLst>
              <a:gd name="adj" fmla="val 10000"/>
            </a:avLst>
          </a:prstGeom>
          <a:solidFill>
            <a:srgbClr val="F6ECDD"/>
          </a:solidFill>
          <a:ln w="952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73152"/>
          <a:lstStyle/>
          <a:p>
            <a:pPr algn="l">
              <a:spcAft>
                <a:spcPts val="300"/>
              </a:spcAft>
            </a:pPr>
            <a:r>
              <a:rPr sz="1250" b="1">
                <a:solidFill>
                  <a:srgbClr val="B45309"/>
                </a:solidFill>
                <a:latin typeface="Helvetica Neue"/>
              </a:rPr>
              <a:t>8 · REVIEW — a person, in the browser or terminal</a:t>
            </a:r>
          </a:p>
          <a:p>
            <a:pPr algn="l">
              <a:spcAft>
                <a:spcPts val="300"/>
              </a:spcAft>
            </a:pPr>
            <a:r>
              <a:rPr sz="1000" b="0">
                <a:solidFill>
                  <a:srgbClr val="48505C"/>
                </a:solidFill>
                <a:latin typeface="Helvetica Neue"/>
              </a:rPr>
              <a:t>Each proposed change shows its score, its reasoning, and the quote it came from. Approve, fix-then-approve, reject with a note, or skip for later. Changes are grouped by thing (“Acme Corp — 1 new thing + 6 facts” = one click); flagged contradictions can't be bulk-approved. Days may have passed — the run wakes up from Postgres exactly where it stopped.</a:t>
            </a:r>
          </a:p>
        </p:txBody>
      </p:sp>
      <p:sp>
        <p:nvSpPr>
          <p:cNvPr id="6" name="Rounded Rectangle 5"/>
          <p:cNvSpPr/>
          <p:nvPr/>
        </p:nvSpPr>
        <p:spPr>
          <a:xfrm>
            <a:off x="548640" y="2953512"/>
            <a:ext cx="11530584" cy="1783080"/>
          </a:xfrm>
          <a:prstGeom prst="roundRect">
            <a:avLst>
              <a:gd name="adj" fmla="val 10000"/>
            </a:avLst>
          </a:prstGeom>
          <a:solidFill>
            <a:srgbClr val="E2EFEC"/>
          </a:solidFill>
          <a:ln w="9525">
            <a:solidFill>
              <a:srgbClr val="0B7E99"/>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73152"/>
          <a:lstStyle/>
          <a:p>
            <a:pPr algn="l">
              <a:spcAft>
                <a:spcPts val="300"/>
              </a:spcAft>
            </a:pPr>
            <a:r>
              <a:rPr sz="1250" b="1">
                <a:solidFill>
                  <a:srgbClr val="0B7E99"/>
                </a:solidFill>
                <a:latin typeface="Helvetica Neue"/>
              </a:rPr>
              <a:t>9 · WRITE — the only code that touches the graph db</a:t>
            </a:r>
          </a:p>
          <a:p>
            <a:pPr algn="l">
              <a:spcAft>
                <a:spcPts val="300"/>
              </a:spcAft>
            </a:pPr>
            <a:r>
              <a:rPr sz="1000" b="0">
                <a:solidFill>
                  <a:srgbClr val="48505C"/>
                </a:solidFill>
                <a:latin typeface="Helvetica Neue"/>
              </a:rPr>
              <a:t>One database transaction per approved change, and three safety checks before each write:</a:t>
            </a:r>
          </a:p>
          <a:p>
            <a:pPr algn="l">
              <a:spcAft>
                <a:spcPts val="300"/>
              </a:spcAft>
            </a:pPr>
            <a:r>
              <a:rPr sz="1000" b="0">
                <a:solidFill>
                  <a:srgbClr val="48505C"/>
                </a:solidFill>
                <a:latin typeface="Helvetica Neue"/>
              </a:rPr>
              <a:t>▸  Did we already write this? (a crash + retry can't create duplicates)</a:t>
            </a:r>
          </a:p>
          <a:p>
            <a:pPr algn="l">
              <a:spcAft>
                <a:spcPts val="300"/>
              </a:spcAft>
            </a:pPr>
            <a:r>
              <a:rPr sz="1000" b="0">
                <a:solidFill>
                  <a:srgbClr val="48505C"/>
                </a:solidFill>
                <a:latin typeface="Helvetica Neue"/>
              </a:rPr>
              <a:t>▸  Did the graph change while we waited? Each change remembers what the graph looked like when it was proposed — “no thing with this name existed”, “that fact was still open”. If reality moved, the change is sent back for a redo instead of being applied blind.</a:t>
            </a:r>
          </a:p>
          <a:p>
            <a:pPr algn="l">
              <a:spcAft>
                <a:spcPts val="300"/>
              </a:spcAft>
            </a:pPr>
            <a:r>
              <a:rPr sz="1000" b="0">
                <a:solidFill>
                  <a:srgbClr val="48505C"/>
                </a:solidFill>
                <a:latin typeface="Helvetica Neue"/>
              </a:rPr>
              <a:t>▸  Was something this depends on rejected? A fact whose endpoint was rejected is skipped.</a:t>
            </a:r>
          </a:p>
          <a:p>
            <a:pPr algn="l">
              <a:spcAft>
                <a:spcPts val="300"/>
              </a:spcAft>
            </a:pPr>
            <a:r>
              <a:rPr sz="1000" b="1">
                <a:solidFill>
                  <a:srgbClr val="0E1116"/>
                </a:solidFill>
                <a:latin typeface="Helvetica Neue"/>
              </a:rPr>
              <a:t>The fact and its paper trail (source document, quote, approver) are written together — all or nothing.</a:t>
            </a:r>
          </a:p>
        </p:txBody>
      </p:sp>
      <p:sp>
        <p:nvSpPr>
          <p:cNvPr id="7" name="Rounded Rectangle 6"/>
          <p:cNvSpPr/>
          <p:nvPr/>
        </p:nvSpPr>
        <p:spPr>
          <a:xfrm>
            <a:off x="548640" y="4901184"/>
            <a:ext cx="11530584" cy="1234440"/>
          </a:xfrm>
          <a:prstGeom prst="roundRect">
            <a:avLst>
              <a:gd name="adj" fmla="val 10000"/>
            </a:avLst>
          </a:prstGeom>
          <a:solidFill>
            <a:srgbClr val="ECE7F9"/>
          </a:solidFill>
          <a:ln w="9525">
            <a:solidFill>
              <a:srgbClr val="6D4FC4"/>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73152"/>
          <a:lstStyle/>
          <a:p>
            <a:pPr algn="l">
              <a:spcAft>
                <a:spcPts val="300"/>
              </a:spcAft>
            </a:pPr>
            <a:r>
              <a:rPr sz="1250" b="1">
                <a:solidFill>
                  <a:srgbClr val="6D4FC4"/>
                </a:solidFill>
                <a:latin typeface="Helvetica Neue"/>
              </a:rPr>
              <a:t>10 · UPDATE THE SEARCH INDEXES</a:t>
            </a:r>
          </a:p>
          <a:p>
            <a:pPr algn="l">
              <a:spcAft>
                <a:spcPts val="300"/>
              </a:spcAft>
            </a:pPr>
            <a:r>
              <a:rPr sz="1000" b="0">
                <a:solidFill>
                  <a:srgbClr val="48505C"/>
                </a:solidFill>
                <a:latin typeface="Helvetica Neue"/>
              </a:rPr>
              <a:t>The new and changed items are copied into the vector db — names+descriptions, fact sentences with their quotes — so the NEXT document's duplicate-check and everyone's searches can find them. The graph db's own text index updates itself automatically. Skipped changes? The run parks at review again until everything is decided.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274320"/>
          </a:xfrm>
          <a:prstGeom prst="rect">
            <a:avLst/>
          </a:prstGeom>
          <a:noFill/>
        </p:spPr>
        <p:txBody>
          <a:bodyPr wrap="square" anchor="t">
            <a:spAutoFit/>
          </a:bodyPr>
          <a:lstStyle/>
          <a:p>
            <a:pPr algn="l">
              <a:lnSpc>
                <a:spcPct val="100000"/>
              </a:lnSpc>
              <a:spcAft>
                <a:spcPts val="400"/>
              </a:spcAft>
            </a:pPr>
            <a:r>
              <a:rPr sz="1000" b="1">
                <a:solidFill>
                  <a:srgbClr val="848D9B"/>
                </a:solidFill>
                <a:latin typeface="Menlo"/>
              </a:rPr>
              <a:t>04 · Using it</a:t>
            </a:r>
          </a:p>
        </p:txBody>
      </p:sp>
      <p:sp>
        <p:nvSpPr>
          <p:cNvPr id="4" name="TextBox 3"/>
          <p:cNvSpPr txBox="1"/>
          <p:nvPr/>
        </p:nvSpPr>
        <p:spPr>
          <a:xfrm>
            <a:off x="548640" y="566928"/>
            <a:ext cx="11064240" cy="548640"/>
          </a:xfrm>
          <a:prstGeom prst="rect">
            <a:avLst/>
          </a:prstGeom>
          <a:noFill/>
        </p:spPr>
        <p:txBody>
          <a:bodyPr wrap="square" anchor="t">
            <a:spAutoFit/>
          </a:bodyPr>
          <a:lstStyle/>
          <a:p>
            <a:pPr algn="l">
              <a:lnSpc>
                <a:spcPct val="100000"/>
              </a:lnSpc>
              <a:spcAft>
                <a:spcPts val="400"/>
              </a:spcAft>
            </a:pPr>
            <a:r>
              <a:rPr sz="2400" b="1">
                <a:solidFill>
                  <a:srgbClr val="0E1116"/>
                </a:solidFill>
                <a:latin typeface="Helvetica Neue"/>
              </a:rPr>
              <a:t>Ask a question: search three ways, walk the graph, answer with receipts</a:t>
            </a:r>
          </a:p>
        </p:txBody>
      </p:sp>
      <p:sp>
        <p:nvSpPr>
          <p:cNvPr id="5" name="Rounded Rectangle 4"/>
          <p:cNvSpPr/>
          <p:nvPr/>
        </p:nvSpPr>
        <p:spPr>
          <a:xfrm>
            <a:off x="548640" y="1463040"/>
            <a:ext cx="2194560" cy="548640"/>
          </a:xfrm>
          <a:prstGeom prst="roundRect">
            <a:avLst>
              <a:gd name="adj" fmla="val 1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1100" b="1">
                <a:solidFill>
                  <a:srgbClr val="0E1116"/>
                </a:solidFill>
                <a:latin typeface="Helvetica Neue"/>
              </a:rPr>
              <a:t>your question</a:t>
            </a:r>
          </a:p>
        </p:txBody>
      </p:sp>
      <p:sp>
        <p:nvSpPr>
          <p:cNvPr id="6" name="Rounded Rectangle 5"/>
          <p:cNvSpPr/>
          <p:nvPr/>
        </p:nvSpPr>
        <p:spPr>
          <a:xfrm>
            <a:off x="548640" y="2240280"/>
            <a:ext cx="3977639" cy="658368"/>
          </a:xfrm>
          <a:prstGeom prst="roundRect">
            <a:avLst>
              <a:gd name="adj" fmla="val 10000"/>
            </a:avLst>
          </a:prstGeom>
          <a:solidFill>
            <a:srgbClr val="ECE7F9"/>
          </a:solidFill>
          <a:ln w="9525">
            <a:solidFill>
              <a:srgbClr val="6D4FC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300"/>
              </a:spcAft>
            </a:pPr>
            <a:r>
              <a:rPr sz="900" b="1">
                <a:solidFill>
                  <a:srgbClr val="0E1116"/>
                </a:solidFill>
                <a:latin typeface="Helvetica Neue"/>
              </a:rPr>
              <a:t>search 1 — things with a similar meaning
(“Goya Awards” ≈ “Spanish film prize”)</a:t>
            </a:r>
          </a:p>
        </p:txBody>
      </p:sp>
      <p:sp>
        <p:nvSpPr>
          <p:cNvPr id="7" name="Rounded Rectangle 6"/>
          <p:cNvSpPr/>
          <p:nvPr/>
        </p:nvSpPr>
        <p:spPr>
          <a:xfrm>
            <a:off x="548640" y="3017520"/>
            <a:ext cx="3977639" cy="658368"/>
          </a:xfrm>
          <a:prstGeom prst="roundRect">
            <a:avLst>
              <a:gd name="adj" fmla="val 10000"/>
            </a:avLst>
          </a:prstGeom>
          <a:solidFill>
            <a:srgbClr val="ECE7F9"/>
          </a:solidFill>
          <a:ln w="9525">
            <a:solidFill>
              <a:srgbClr val="6D4FC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300"/>
              </a:spcAft>
            </a:pPr>
            <a:r>
              <a:rPr sz="900" b="1">
                <a:solidFill>
                  <a:srgbClr val="0E1116"/>
                </a:solidFill>
                <a:latin typeface="Helvetica Neue"/>
              </a:rPr>
              <a:t>search 2 — stored facts that sound like the question
(“what happened on 31 Jan 1891?”)</a:t>
            </a:r>
          </a:p>
        </p:txBody>
      </p:sp>
      <p:sp>
        <p:nvSpPr>
          <p:cNvPr id="8" name="Rounded Rectangle 7"/>
          <p:cNvSpPr/>
          <p:nvPr/>
        </p:nvSpPr>
        <p:spPr>
          <a:xfrm>
            <a:off x="548640" y="3794760"/>
            <a:ext cx="3977639" cy="658368"/>
          </a:xfrm>
          <a:prstGeom prst="roundRect">
            <a:avLst>
              <a:gd name="adj" fmla="val 10000"/>
            </a:avLst>
          </a:prstGeom>
          <a:solidFill>
            <a:srgbClr val="E2EFEC"/>
          </a:solidFill>
          <a:ln w="9525">
            <a:solidFill>
              <a:srgbClr val="0B7E9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300"/>
              </a:spcAft>
            </a:pPr>
            <a:r>
              <a:rPr sz="900" b="1">
                <a:solidFill>
                  <a:srgbClr val="0E1116"/>
                </a:solidFill>
                <a:latin typeface="Helvetica Neue"/>
              </a:rPr>
              <a:t>search 3 — the exact words, old-school text search
(codes, acronyms, dates — vectors are bad at these)</a:t>
            </a:r>
          </a:p>
        </p:txBody>
      </p:sp>
      <p:cxnSp>
        <p:nvCxnSpPr>
          <p:cNvPr id="9" name="Connector 8"/>
          <p:cNvCxnSpPr/>
          <p:nvPr/>
        </p:nvCxnSpPr>
        <p:spPr>
          <a:xfrm>
            <a:off x="1645920" y="2011680"/>
            <a:ext cx="0" cy="210312"/>
          </a:xfrm>
          <a:prstGeom prst="bentConnector3">
            <a:avLst/>
          </a:prstGeom>
          <a:ln w="15240">
            <a:solidFill>
              <a:srgbClr val="848D9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44568" y="2569464"/>
            <a:ext cx="530352" cy="777240"/>
          </a:xfrm>
          <a:prstGeom prst="bentConnector3">
            <a:avLst/>
          </a:prstGeom>
          <a:ln w="15240">
            <a:solidFill>
              <a:srgbClr val="848D9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544568" y="3346703"/>
            <a:ext cx="530352" cy="1"/>
          </a:xfrm>
          <a:prstGeom prst="bentConnector3">
            <a:avLst/>
          </a:prstGeom>
          <a:ln w="15240">
            <a:solidFill>
              <a:srgbClr val="848D9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4544568" y="3346704"/>
            <a:ext cx="530352" cy="777240"/>
          </a:xfrm>
          <a:prstGeom prst="bentConnector3">
            <a:avLst/>
          </a:prstGeom>
          <a:ln w="15240">
            <a:solidFill>
              <a:srgbClr val="848D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093208" y="3017520"/>
            <a:ext cx="1828800" cy="658368"/>
          </a:xfrm>
          <a:prstGeom prst="roundRect">
            <a:avLst>
              <a:gd name="adj" fmla="val 1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900" b="1">
                <a:solidFill>
                  <a:srgbClr val="0E1116"/>
                </a:solidFill>
                <a:latin typeface="Helvetica Neue"/>
              </a:rPr>
              <a:t>merge the three
result lists, keep
the top 10 things</a:t>
            </a:r>
          </a:p>
        </p:txBody>
      </p:sp>
      <p:cxnSp>
        <p:nvCxnSpPr>
          <p:cNvPr id="14" name="Connector 13"/>
          <p:cNvCxnSpPr/>
          <p:nvPr/>
        </p:nvCxnSpPr>
        <p:spPr>
          <a:xfrm>
            <a:off x="6940296" y="3346704"/>
            <a:ext cx="512064" cy="0"/>
          </a:xfrm>
          <a:prstGeom prst="bentConnector3">
            <a:avLst/>
          </a:prstGeom>
          <a:ln w="15240">
            <a:solidFill>
              <a:srgbClr val="848D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470648" y="2953512"/>
            <a:ext cx="2103120" cy="786384"/>
          </a:xfrm>
          <a:prstGeom prst="roundRect">
            <a:avLst>
              <a:gd name="adj" fmla="val 10000"/>
            </a:avLst>
          </a:prstGeom>
          <a:solidFill>
            <a:srgbClr val="E2EFEC"/>
          </a:solidFill>
          <a:ln w="9525">
            <a:solidFill>
              <a:srgbClr val="0B7E9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900" b="1">
                <a:solidFill>
                  <a:srgbClr val="0E1116"/>
                </a:solidFill>
                <a:latin typeface="Helvetica Neue"/>
              </a:rPr>
              <a:t>collect their facts,
2 hops out, only facts
valid at the asked date</a:t>
            </a:r>
          </a:p>
        </p:txBody>
      </p:sp>
      <p:cxnSp>
        <p:nvCxnSpPr>
          <p:cNvPr id="16" name="Connector 15"/>
          <p:cNvCxnSpPr/>
          <p:nvPr/>
        </p:nvCxnSpPr>
        <p:spPr>
          <a:xfrm>
            <a:off x="9592056" y="3346704"/>
            <a:ext cx="512064" cy="0"/>
          </a:xfrm>
          <a:prstGeom prst="bentConnector3">
            <a:avLst/>
          </a:prstGeom>
          <a:ln w="15240">
            <a:solidFill>
              <a:srgbClr val="848D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122408" y="2907792"/>
            <a:ext cx="1965960" cy="914400"/>
          </a:xfrm>
          <a:prstGeom prst="roundRect">
            <a:avLst>
              <a:gd name="adj" fmla="val 10000"/>
            </a:avLst>
          </a:prstGeom>
          <a:solidFill>
            <a:srgbClr val="ECE7F9"/>
          </a:solidFill>
          <a:ln w="9525">
            <a:solidFill>
              <a:srgbClr val="6D4FC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850" b="1">
                <a:solidFill>
                  <a:srgbClr val="0E1116"/>
                </a:solidFill>
                <a:latin typeface="Helvetica Neue"/>
              </a:rPr>
              <a:t>AI writes the answer
from those facts only
— must cite them, or
say “can't answer”</a:t>
            </a:r>
          </a:p>
        </p:txBody>
      </p:sp>
      <p:sp>
        <p:nvSpPr>
          <p:cNvPr id="18" name="Rounded Rectangle 17"/>
          <p:cNvSpPr/>
          <p:nvPr/>
        </p:nvSpPr>
        <p:spPr>
          <a:xfrm>
            <a:off x="4617720" y="2240280"/>
            <a:ext cx="900684" cy="274320"/>
          </a:xfrm>
          <a:prstGeom prst="roundRect">
            <a:avLst>
              <a:gd name="adj" fmla="val 50000"/>
            </a:avLst>
          </a:prstGeom>
          <a:solidFill>
            <a:srgbClr val="ECE7F9"/>
          </a:solidFill>
          <a:ln w="9525">
            <a:solidFill>
              <a:srgbClr val="6D4FC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800" b="1">
                <a:solidFill>
                  <a:srgbClr val="6D4FC4"/>
                </a:solidFill>
                <a:latin typeface="Menlo"/>
              </a:rPr>
              <a:t>vector db</a:t>
            </a:r>
          </a:p>
        </p:txBody>
      </p:sp>
      <p:sp>
        <p:nvSpPr>
          <p:cNvPr id="19" name="Rounded Rectangle 18"/>
          <p:cNvSpPr/>
          <p:nvPr/>
        </p:nvSpPr>
        <p:spPr>
          <a:xfrm>
            <a:off x="4617720" y="4114800"/>
            <a:ext cx="822960" cy="274320"/>
          </a:xfrm>
          <a:prstGeom prst="roundRect">
            <a:avLst>
              <a:gd name="adj" fmla="val 50000"/>
            </a:avLst>
          </a:prstGeom>
          <a:solidFill>
            <a:srgbClr val="E2EFEC"/>
          </a:solidFill>
          <a:ln w="9525">
            <a:solidFill>
              <a:srgbClr val="0B7E9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Aft>
                <a:spcPts val="300"/>
              </a:spcAft>
            </a:pPr>
            <a:r>
              <a:rPr sz="800" b="1">
                <a:solidFill>
                  <a:srgbClr val="0B7E99"/>
                </a:solidFill>
                <a:latin typeface="Menlo"/>
              </a:rPr>
              <a:t>graph db</a:t>
            </a:r>
          </a:p>
        </p:txBody>
      </p:sp>
      <p:sp>
        <p:nvSpPr>
          <p:cNvPr id="20" name="Rounded Rectangle 19"/>
          <p:cNvSpPr/>
          <p:nvPr/>
        </p:nvSpPr>
        <p:spPr>
          <a:xfrm>
            <a:off x="548640" y="5029200"/>
            <a:ext cx="11530584" cy="566928"/>
          </a:xfrm>
          <a:prstGeom prst="roundRect">
            <a:avLst>
              <a:gd name="adj" fmla="val 1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300"/>
              </a:spcAft>
            </a:pPr>
            <a:r>
              <a:rPr sz="1100" b="1">
                <a:solidFill>
                  <a:srgbClr val="0B7E99"/>
                </a:solidFill>
                <a:latin typeface="Helvetica Neue"/>
              </a:rPr>
              <a:t>Find </a:t>
            </a:r>
            <a:r>
              <a:rPr sz="1050" b="0">
                <a:solidFill>
                  <a:srgbClr val="48505C"/>
                </a:solidFill>
                <a:latin typeface="Helvetica Neue"/>
              </a:rPr>
              <a:t>is the same thing without the AI at the end — you get the raw facts, highlighted on the graph, with their sources. </a:t>
            </a:r>
            <a:r>
              <a:rPr sz="1100" b="1">
                <a:solidFill>
                  <a:srgbClr val="6D4FC4"/>
                </a:solidFill>
                <a:latin typeface="Helvetica Neue"/>
              </a:rPr>
              <a:t>Ask </a:t>
            </a:r>
            <a:r>
              <a:rPr sz="1050" b="0">
                <a:solidFill>
                  <a:srgbClr val="48505C"/>
                </a:solidFill>
                <a:latin typeface="Helvetica Neue"/>
              </a:rPr>
              <a:t>adds exactly one AI call.</a:t>
            </a:r>
          </a:p>
        </p:txBody>
      </p:sp>
      <p:sp>
        <p:nvSpPr>
          <p:cNvPr id="21" name="Rounded Rectangle 20"/>
          <p:cNvSpPr/>
          <p:nvPr/>
        </p:nvSpPr>
        <p:spPr>
          <a:xfrm>
            <a:off x="548640" y="5733288"/>
            <a:ext cx="11530584" cy="658368"/>
          </a:xfrm>
          <a:prstGeom prst="roundRect">
            <a:avLst>
              <a:gd name="adj" fmla="val 1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300"/>
              </a:spcAft>
            </a:pPr>
            <a:r>
              <a:rPr sz="1100" b="1">
                <a:solidFill>
                  <a:srgbClr val="0E1116"/>
                </a:solidFill>
                <a:latin typeface="Helvetica Neue"/>
              </a:rPr>
              <a:t>Time travel: </a:t>
            </a:r>
            <a:r>
              <a:rPr sz="1050" b="0">
                <a:solidFill>
                  <a:srgbClr val="48505C"/>
                </a:solidFill>
                <a:latin typeface="Helvetica Neue"/>
              </a:rPr>
              <a:t>facts carry start/end dates and are never deleted. “Where is the HQ?” uses today's facts; add “as of June 2024” and the same graph answers with what was true then — citing the closed fact.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274320"/>
          </a:xfrm>
          <a:prstGeom prst="rect">
            <a:avLst/>
          </a:prstGeom>
          <a:noFill/>
        </p:spPr>
        <p:txBody>
          <a:bodyPr wrap="square" anchor="t">
            <a:spAutoFit/>
          </a:bodyPr>
          <a:lstStyle/>
          <a:p>
            <a:pPr algn="l">
              <a:lnSpc>
                <a:spcPct val="100000"/>
              </a:lnSpc>
              <a:spcAft>
                <a:spcPts val="400"/>
              </a:spcAft>
            </a:pPr>
            <a:r>
              <a:rPr sz="1000" b="1">
                <a:solidFill>
                  <a:srgbClr val="848D9B"/>
                </a:solidFill>
                <a:latin typeface="Menlo"/>
              </a:rPr>
              <a:t>05 · Why this can be trusted</a:t>
            </a:r>
          </a:p>
        </p:txBody>
      </p:sp>
      <p:sp>
        <p:nvSpPr>
          <p:cNvPr id="4" name="TextBox 3"/>
          <p:cNvSpPr txBox="1"/>
          <p:nvPr/>
        </p:nvSpPr>
        <p:spPr>
          <a:xfrm>
            <a:off x="548640" y="566928"/>
            <a:ext cx="11064240" cy="548640"/>
          </a:xfrm>
          <a:prstGeom prst="rect">
            <a:avLst/>
          </a:prstGeom>
          <a:noFill/>
        </p:spPr>
        <p:txBody>
          <a:bodyPr wrap="square" anchor="t">
            <a:spAutoFit/>
          </a:bodyPr>
          <a:lstStyle/>
          <a:p>
            <a:pPr algn="l">
              <a:lnSpc>
                <a:spcPct val="100000"/>
              </a:lnSpc>
              <a:spcAft>
                <a:spcPts val="400"/>
              </a:spcAft>
            </a:pPr>
            <a:r>
              <a:rPr sz="2400" b="1">
                <a:solidFill>
                  <a:srgbClr val="0E1116"/>
                </a:solidFill>
                <a:latin typeface="Helvetica Neue"/>
              </a:rPr>
              <a:t>Four properties, in plain words</a:t>
            </a:r>
          </a:p>
        </p:txBody>
      </p:sp>
      <p:sp>
        <p:nvSpPr>
          <p:cNvPr id="5" name="Rounded Rectangle 4"/>
          <p:cNvSpPr/>
          <p:nvPr/>
        </p:nvSpPr>
        <p:spPr>
          <a:xfrm>
            <a:off x="548640" y="1371600"/>
            <a:ext cx="5660136" cy="2240280"/>
          </a:xfrm>
          <a:prstGeom prst="roundRect">
            <a:avLst>
              <a:gd name="adj" fmla="val 1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73152"/>
          <a:lstStyle/>
          <a:p>
            <a:pPr algn="l">
              <a:spcAft>
                <a:spcPts val="300"/>
              </a:spcAft>
            </a:pPr>
            <a:r>
              <a:rPr sz="1300" b="1">
                <a:solidFill>
                  <a:srgbClr val="B45309"/>
                </a:solidFill>
                <a:latin typeface="Helvetica Neue"/>
              </a:rPr>
              <a:t>Every fact has receipts</a:t>
            </a:r>
          </a:p>
          <a:p>
            <a:pPr algn="l">
              <a:spcAft>
                <a:spcPts val="300"/>
              </a:spcAft>
            </a:pPr>
            <a:r>
              <a:rPr sz="500" b="0">
                <a:solidFill>
                  <a:srgbClr val="48505C"/>
                </a:solidFill>
                <a:latin typeface="Helvetica Neue"/>
              </a:rPr>
              <a:t/>
            </a:r>
          </a:p>
          <a:p>
            <a:pPr algn="l">
              <a:spcAft>
                <a:spcPts val="300"/>
              </a:spcAft>
            </a:pPr>
            <a:r>
              <a:rPr sz="1050" b="0">
                <a:solidFill>
                  <a:srgbClr val="48505C"/>
                </a:solidFill>
                <a:latin typeface="Helvetica Neue"/>
              </a:rPr>
              <a:t>Click any fact and you see: the exact sentence it came from, the source document, the date it was written, and the person who approved it (or “auto-approved by score”, spelled out). Rejected proposals are kept too, with the reviewer's note — an auditor sees what was claimed and who said no.</a:t>
            </a:r>
          </a:p>
        </p:txBody>
      </p:sp>
      <p:sp>
        <p:nvSpPr>
          <p:cNvPr id="6" name="Rounded Rectangle 5"/>
          <p:cNvSpPr/>
          <p:nvPr/>
        </p:nvSpPr>
        <p:spPr>
          <a:xfrm>
            <a:off x="6419088" y="1371600"/>
            <a:ext cx="5660136" cy="2240280"/>
          </a:xfrm>
          <a:prstGeom prst="roundRect">
            <a:avLst>
              <a:gd name="adj" fmla="val 1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73152"/>
          <a:lstStyle/>
          <a:p>
            <a:pPr algn="l">
              <a:spcAft>
                <a:spcPts val="300"/>
              </a:spcAft>
            </a:pPr>
            <a:r>
              <a:rPr sz="1300" b="1">
                <a:solidFill>
                  <a:srgbClr val="0B7E99"/>
                </a:solidFill>
                <a:latin typeface="Helvetica Neue"/>
              </a:rPr>
              <a:t>The AI is quarantined</a:t>
            </a:r>
          </a:p>
          <a:p>
            <a:pPr algn="l">
              <a:spcAft>
                <a:spcPts val="300"/>
              </a:spcAft>
            </a:pPr>
            <a:r>
              <a:rPr sz="500" b="0">
                <a:solidFill>
                  <a:srgbClr val="48505C"/>
                </a:solidFill>
                <a:latin typeface="Helvetica Neue"/>
              </a:rPr>
              <a:t/>
            </a:r>
          </a:p>
          <a:p>
            <a:pPr algn="l">
              <a:spcAft>
                <a:spcPts val="300"/>
              </a:spcAft>
            </a:pPr>
            <a:r>
              <a:rPr sz="1050" b="0">
                <a:solidFill>
                  <a:srgbClr val="48505C"/>
                </a:solidFill>
                <a:latin typeface="Helvetica Neue"/>
              </a:rPr>
              <a:t>Everything the AI produces goes to a waiting room first. Searches can't see it, the vector db doesn't index it, the next document's duplicate-check ignores it. If the AI hallucinates, the damage is one bad proposal in a review pile — not a wrong fact in the graph.</a:t>
            </a:r>
          </a:p>
        </p:txBody>
      </p:sp>
      <p:sp>
        <p:nvSpPr>
          <p:cNvPr id="7" name="Rounded Rectangle 6"/>
          <p:cNvSpPr/>
          <p:nvPr/>
        </p:nvSpPr>
        <p:spPr>
          <a:xfrm>
            <a:off x="548640" y="3749039"/>
            <a:ext cx="5660136" cy="2240280"/>
          </a:xfrm>
          <a:prstGeom prst="roundRect">
            <a:avLst>
              <a:gd name="adj" fmla="val 1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73152"/>
          <a:lstStyle/>
          <a:p>
            <a:pPr algn="l">
              <a:spcAft>
                <a:spcPts val="300"/>
              </a:spcAft>
            </a:pPr>
            <a:r>
              <a:rPr sz="1300" b="1">
                <a:solidFill>
                  <a:srgbClr val="48505C"/>
                </a:solidFill>
                <a:latin typeface="Helvetica Neue"/>
              </a:rPr>
              <a:t>Waiting is safe</a:t>
            </a:r>
          </a:p>
          <a:p>
            <a:pPr algn="l">
              <a:spcAft>
                <a:spcPts val="300"/>
              </a:spcAft>
            </a:pPr>
            <a:r>
              <a:rPr sz="500" b="0">
                <a:solidFill>
                  <a:srgbClr val="48505C"/>
                </a:solidFill>
                <a:latin typeface="Helvetica Neue"/>
              </a:rPr>
              <a:t/>
            </a:r>
          </a:p>
          <a:p>
            <a:pPr algn="l">
              <a:spcAft>
                <a:spcPts val="300"/>
              </a:spcAft>
            </a:pPr>
            <a:r>
              <a:rPr sz="1050" b="0">
                <a:solidFill>
                  <a:srgbClr val="48505C"/>
                </a:solidFill>
                <a:latin typeface="Helvetica Neue"/>
              </a:rPr>
              <a:t>Proposals can wait for weeks while other documents land. Before writing, every change is re-checked against today's graph — if someone else already created “Basel” or closed that fact, the change goes back for a redo instead of creating duplicates. The same file can't be queued twice.</a:t>
            </a:r>
          </a:p>
        </p:txBody>
      </p:sp>
      <p:sp>
        <p:nvSpPr>
          <p:cNvPr id="8" name="Rounded Rectangle 7"/>
          <p:cNvSpPr/>
          <p:nvPr/>
        </p:nvSpPr>
        <p:spPr>
          <a:xfrm>
            <a:off x="6419088" y="3749039"/>
            <a:ext cx="5660136" cy="2240280"/>
          </a:xfrm>
          <a:prstGeom prst="roundRect">
            <a:avLst>
              <a:gd name="adj" fmla="val 10000"/>
            </a:avLst>
          </a:prstGeom>
          <a:solidFill>
            <a:srgbClr val="F2F4F6"/>
          </a:solidFill>
          <a:ln w="9525">
            <a:solidFill>
              <a:srgbClr val="CFD5DB"/>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73152"/>
          <a:lstStyle/>
          <a:p>
            <a:pPr algn="l">
              <a:spcAft>
                <a:spcPts val="300"/>
              </a:spcAft>
            </a:pPr>
            <a:r>
              <a:rPr sz="1300" b="1">
                <a:solidFill>
                  <a:srgbClr val="6D4FC4"/>
                </a:solidFill>
                <a:latin typeface="Helvetica Neue"/>
              </a:rPr>
              <a:t>The vector db is disposable</a:t>
            </a:r>
          </a:p>
          <a:p>
            <a:pPr algn="l">
              <a:spcAft>
                <a:spcPts val="300"/>
              </a:spcAft>
            </a:pPr>
            <a:r>
              <a:rPr sz="500" b="0">
                <a:solidFill>
                  <a:srgbClr val="48505C"/>
                </a:solidFill>
                <a:latin typeface="Helvetica Neue"/>
              </a:rPr>
              <a:t/>
            </a:r>
          </a:p>
          <a:p>
            <a:pPr algn="l">
              <a:spcAft>
                <a:spcPts val="300"/>
              </a:spcAft>
            </a:pPr>
            <a:r>
              <a:rPr sz="1050" b="0">
                <a:solidFill>
                  <a:srgbClr val="48505C"/>
                </a:solidFill>
                <a:latin typeface="Helvetica Neue"/>
              </a:rPr>
              <a:t>It's a copy, never the source. Wrong embeddings? Suspected drift? Delete all of it and run one script — it rebuilds from the graph db in minutes. Backups only need to cover the graph db.</a:t>
            </a:r>
          </a:p>
        </p:txBody>
      </p:sp>
      <p:sp>
        <p:nvSpPr>
          <p:cNvPr id="9" name="TextBox 8"/>
          <p:cNvSpPr txBox="1"/>
          <p:nvPr/>
        </p:nvSpPr>
        <p:spPr>
          <a:xfrm>
            <a:off x="548640" y="6172200"/>
            <a:ext cx="11064240" cy="365760"/>
          </a:xfrm>
          <a:prstGeom prst="rect">
            <a:avLst/>
          </a:prstGeom>
          <a:noFill/>
        </p:spPr>
        <p:txBody>
          <a:bodyPr wrap="square" anchor="t">
            <a:spAutoFit/>
          </a:bodyPr>
          <a:lstStyle/>
          <a:p>
            <a:pPr algn="l">
              <a:lnSpc>
                <a:spcPct val="100000"/>
              </a:lnSpc>
              <a:spcAft>
                <a:spcPts val="400"/>
              </a:spcAft>
            </a:pPr>
            <a:r>
              <a:rPr sz="950" b="0">
                <a:solidFill>
                  <a:srgbClr val="848D9B"/>
                </a:solidFill>
                <a:latin typeface="Menlo"/>
              </a:rPr>
              <a:t>honest gap: no automated quality benchmark yet — measuring extraction accuracy is the next build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