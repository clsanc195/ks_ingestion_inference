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3"/>
  </p:notesMasterIdLst>
  <p:sldIdLst>
    <p:sldId id="359" r:id="rId2"/>
    <p:sldId id="362" r:id="rId3"/>
    <p:sldId id="390" r:id="rId4"/>
    <p:sldId id="389" r:id="rId5"/>
    <p:sldId id="373" r:id="rId6"/>
    <p:sldId id="378" r:id="rId7"/>
    <p:sldId id="379" r:id="rId8"/>
    <p:sldId id="391" r:id="rId9"/>
    <p:sldId id="381" r:id="rId10"/>
    <p:sldId id="357" r:id="rId11"/>
    <p:sldId id="38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D2EC"/>
    <a:srgbClr val="B3C0FE"/>
    <a:srgbClr val="A9FFA8"/>
    <a:srgbClr val="74FF7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p:restoredTop sz="94647"/>
  </p:normalViewPr>
  <p:slideViewPr>
    <p:cSldViewPr snapToGrid="0" snapToObjects="1">
      <p:cViewPr varScale="1">
        <p:scale>
          <a:sx n="111" d="100"/>
          <a:sy n="111" d="100"/>
        </p:scale>
        <p:origin x="248" y="9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260109-6047-1440-B03D-2738C1F84D87}" type="datetimeFigureOut">
              <a:rPr lang="en-US" smtClean="0"/>
              <a:t>7/13/26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23F9E6-64F1-7448-BAD5-DCBDB41EDFAE}" type="slidenum">
              <a:rPr lang="en-US" smtClean="0"/>
              <a:t>‹#›</a:t>
            </a:fld>
            <a:endParaRPr lang="en-US"/>
          </a:p>
        </p:txBody>
      </p:sp>
    </p:spTree>
    <p:extLst>
      <p:ext uri="{BB962C8B-B14F-4D97-AF65-F5344CB8AC3E}">
        <p14:creationId xmlns:p14="http://schemas.microsoft.com/office/powerpoint/2010/main" val="2349129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3F9E6-64F1-7448-BAD5-DCBDB41EDFAE}" type="slidenum">
              <a:rPr lang="en-US" smtClean="0"/>
              <a:t>1</a:t>
            </a:fld>
            <a:endParaRPr lang="en-US"/>
          </a:p>
        </p:txBody>
      </p:sp>
    </p:spTree>
    <p:extLst>
      <p:ext uri="{BB962C8B-B14F-4D97-AF65-F5344CB8AC3E}">
        <p14:creationId xmlns:p14="http://schemas.microsoft.com/office/powerpoint/2010/main" val="2367124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F8D34-553C-28B9-FFA1-55BC712BE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0D692-B8C2-0619-682C-594516B4ED5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A9577C-5454-4FE2-3484-9D04F914A8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2578F3-5423-8075-BC5B-DE578C475E61}"/>
              </a:ext>
            </a:extLst>
          </p:cNvPr>
          <p:cNvSpPr>
            <a:spLocks noGrp="1"/>
          </p:cNvSpPr>
          <p:nvPr>
            <p:ph type="sldNum" sz="quarter" idx="5"/>
          </p:nvPr>
        </p:nvSpPr>
        <p:spPr/>
        <p:txBody>
          <a:bodyPr/>
          <a:lstStyle/>
          <a:p>
            <a:fld id="{C123F9E6-64F1-7448-BAD5-DCBDB41EDFAE}" type="slidenum">
              <a:rPr lang="en-US" smtClean="0"/>
              <a:t>9</a:t>
            </a:fld>
            <a:endParaRPr lang="en-US"/>
          </a:p>
        </p:txBody>
      </p:sp>
    </p:spTree>
    <p:extLst>
      <p:ext uri="{BB962C8B-B14F-4D97-AF65-F5344CB8AC3E}">
        <p14:creationId xmlns:p14="http://schemas.microsoft.com/office/powerpoint/2010/main" val="589049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BAA0DBB-4C7D-BF40-980C-0E317A6774A2}" type="datetime1">
              <a:rPr lang="en-US" smtClean="0"/>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F3B75E-1CC7-A74D-B4AB-25A54D65E783}" type="datetime1">
              <a:rPr lang="en-US" smtClean="0"/>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404964-AD37-C84A-BD94-ABE1E0825773}" type="datetime1">
              <a:rPr lang="en-US" smtClean="0"/>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CC9AB7-A3F2-AA46-9FE1-60DA87017779}" type="datetime1">
              <a:rPr lang="en-US" smtClean="0"/>
              <a:t>7/13/26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D63C79-8145-0144-84C6-1A5B798E2EC8}" type="datetime1">
              <a:rPr lang="en-US" smtClean="0"/>
              <a:t>7/13/26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7D593E-FAE5-5549-8019-E55A97ABB11E}" type="datetime1">
              <a:rPr lang="en-US" smtClean="0"/>
              <a:t>7/13/26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6EA3BE-44F2-E343-940F-B1760B42ED12}" type="datetime1">
              <a:rPr lang="en-US" smtClean="0"/>
              <a:t>7/13/26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DFAC2B-6260-A147-9B45-16A15EC65B99}" type="datetime1">
              <a:rPr lang="en-US" smtClean="0"/>
              <a:t>7/13/26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BC9F82-AB7E-9C45-B0C5-A2D282CF6C25}" type="datetime1">
              <a:rPr lang="en-US" smtClean="0"/>
              <a:t>7/13/26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EDB93-152B-734D-9C5F-79656A09322F}" type="datetime1">
              <a:rPr lang="en-US" smtClean="0"/>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F9AAD4-B1F8-934D-9BFA-6595D6FA215C}" type="datetime1">
              <a:rPr lang="en-US" smtClean="0"/>
              <a:t>7/13/26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BD3F64-0020-8845-8F86-D3F337A5893A}" type="datetime1">
              <a:rPr lang="en-US" smtClean="0"/>
              <a:t>7/13/26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900" name="Amex Accent Bar"/>
          <p:cNvSpPr/>
          <p:nvPr/>
        </p:nvSpPr>
        <p:spPr>
          <a:xfrm>
            <a:off x="0" y="0"/>
            <a:ext cx="12192000" cy="63500"/>
          </a:xfrm>
          <a:prstGeom prst="rect">
            <a:avLst/>
          </a:prstGeom>
          <a:solidFill>
            <a:srgbClr val="006FCF"/>
          </a:solidFill>
          <a:ln>
            <a:noFill/>
          </a:ln>
        </p:spPr>
        <p:txBody>
          <a:bodyPr/>
          <a:lstStyle/>
          <a:p>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9824" y="176045"/>
            <a:ext cx="7315200" cy="261610"/>
          </a:xfrm>
          <a:prstGeom prst="rect">
            <a:avLst/>
          </a:prstGeom>
          <a:noFill/>
        </p:spPr>
        <p:txBody>
          <a:bodyPr wrap="square" anchor="t">
            <a:spAutoFit/>
          </a:bodyPr>
          <a:lstStyle/>
          <a:p>
            <a:pPr algn="l">
              <a:lnSpc>
                <a:spcPct val="100000"/>
              </a:lnSpc>
              <a:spcAft>
                <a:spcPts val="400"/>
              </a:spcAft>
            </a:pPr>
            <a:r>
              <a:rPr lang="en-US" sz="1100" b="1" dirty="0">
                <a:solidFill>
                  <a:srgbClr val="0066BE"/>
                </a:solidFill>
                <a:latin typeface="Menlo"/>
              </a:rPr>
              <a:t>Knowledge Store</a:t>
            </a:r>
            <a:endParaRPr sz="1100" b="1" dirty="0">
              <a:solidFill>
                <a:srgbClr val="0066BE"/>
              </a:solidFill>
              <a:latin typeface="Menlo"/>
            </a:endParaRPr>
          </a:p>
        </p:txBody>
      </p:sp>
      <p:sp>
        <p:nvSpPr>
          <p:cNvPr id="4" name="TextBox 3"/>
          <p:cNvSpPr txBox="1"/>
          <p:nvPr/>
        </p:nvSpPr>
        <p:spPr>
          <a:xfrm>
            <a:off x="548640" y="1783080"/>
            <a:ext cx="11155680" cy="646331"/>
          </a:xfrm>
          <a:prstGeom prst="rect">
            <a:avLst/>
          </a:prstGeom>
          <a:noFill/>
        </p:spPr>
        <p:txBody>
          <a:bodyPr wrap="square" anchor="t">
            <a:spAutoFit/>
          </a:bodyPr>
          <a:lstStyle/>
          <a:p>
            <a:pPr algn="l">
              <a:lnSpc>
                <a:spcPct val="100000"/>
              </a:lnSpc>
              <a:spcAft>
                <a:spcPts val="400"/>
              </a:spcAft>
            </a:pPr>
            <a:r>
              <a:rPr lang="en-US" sz="3600" b="1" dirty="0">
                <a:solidFill>
                  <a:srgbClr val="00175A"/>
                </a:solidFill>
                <a:latin typeface="Helvetica Neue"/>
              </a:rPr>
              <a:t>Knowledge Store: </a:t>
            </a:r>
            <a:r>
              <a:rPr lang="en-US" sz="2400" i="1" dirty="0">
                <a:solidFill>
                  <a:srgbClr val="00175A"/>
                </a:solidFill>
                <a:latin typeface="Helvetica Neue"/>
              </a:rPr>
              <a:t>Knowledge graph implementation</a:t>
            </a:r>
            <a:endParaRPr lang="en-US" sz="3600" i="1" dirty="0">
              <a:solidFill>
                <a:srgbClr val="00175A"/>
              </a:solidFill>
              <a:latin typeface="Helvetica Neue"/>
            </a:endParaRPr>
          </a:p>
        </p:txBody>
      </p:sp>
      <p:sp>
        <p:nvSpPr>
          <p:cNvPr id="5" name="TextBox 4"/>
          <p:cNvSpPr txBox="1"/>
          <p:nvPr/>
        </p:nvSpPr>
        <p:spPr>
          <a:xfrm>
            <a:off x="548640" y="2835932"/>
            <a:ext cx="10789920" cy="1371600"/>
          </a:xfrm>
          <a:prstGeom prst="rect">
            <a:avLst/>
          </a:prstGeom>
          <a:noFill/>
        </p:spPr>
        <p:txBody>
          <a:bodyPr wrap="square" anchor="t">
            <a:spAutoFit/>
          </a:bodyPr>
          <a:lstStyle/>
          <a:p>
            <a:pPr algn="l">
              <a:lnSpc>
                <a:spcPct val="120000"/>
              </a:lnSpc>
              <a:spcAft>
                <a:spcPts val="400"/>
              </a:spcAft>
            </a:pPr>
            <a:r>
              <a:rPr sz="1500" b="1" dirty="0">
                <a:solidFill>
                  <a:srgbClr val="00175A"/>
                </a:solidFill>
                <a:latin typeface="Helvetica Neue"/>
              </a:rPr>
              <a:t>The whole system in one sentence:</a:t>
            </a:r>
          </a:p>
          <a:p>
            <a:pPr algn="l">
              <a:lnSpc>
                <a:spcPct val="120000"/>
              </a:lnSpc>
              <a:spcAft>
                <a:spcPts val="400"/>
              </a:spcAft>
            </a:pPr>
            <a:r>
              <a:rPr sz="1500" b="0" dirty="0">
                <a:solidFill>
                  <a:srgbClr val="3E4C63"/>
                </a:solidFill>
                <a:latin typeface="Helvetica Neue"/>
              </a:rPr>
              <a:t>An AI reads documents and proposes facts. A person approves or rejects each one. Only approved facts enter the graph. Then anyone can search it or ask it questions.</a:t>
            </a:r>
          </a:p>
        </p:txBody>
      </p:sp>
      <p:grpSp>
        <p:nvGrpSpPr>
          <p:cNvPr id="500" name="Graph Motif"/>
          <p:cNvGrpSpPr/>
          <p:nvPr/>
        </p:nvGrpSpPr>
        <p:grpSpPr>
          <a:xfrm>
            <a:off x="7200000" y="200000"/>
            <a:ext cx="1600000" cy="900000"/>
            <a:chOff x="0" y="0"/>
            <a:chExt cx="1600000" cy="900000"/>
          </a:xfrm>
        </p:grpSpPr>
        <p:cxnSp>
          <p:nvCxnSpPr>
            <p:cNvPr id="501" name="L1"/>
            <p:cNvCxnSpPr/>
            <p:nvPr/>
          </p:nvCxnSpPr>
          <p:spPr>
            <a:xfrm>
              <a:off x="100000" y="700000"/>
              <a:ext cx="600000" cy="0"/>
            </a:xfrm>
            <a:prstGeom prst="line">
              <a:avLst/>
            </a:prstGeom>
            <a:ln w="9525">
              <a:solidFill>
                <a:srgbClr val="C8D7E6"/>
              </a:solidFill>
            </a:ln>
          </p:spPr>
        </p:cxnSp>
        <p:cxnSp>
          <p:nvCxnSpPr>
            <p:cNvPr id="502" name="L2"/>
            <p:cNvCxnSpPr/>
            <p:nvPr/>
          </p:nvCxnSpPr>
          <p:spPr>
            <a:xfrm flipV="1">
              <a:off x="700000" y="300000"/>
              <a:ext cx="500000" cy="400000"/>
            </a:xfrm>
            <a:prstGeom prst="line">
              <a:avLst/>
            </a:prstGeom>
            <a:ln w="9525">
              <a:solidFill>
                <a:srgbClr val="C8D7E6"/>
              </a:solidFill>
            </a:ln>
          </p:spPr>
        </p:cxnSp>
        <p:cxnSp>
          <p:nvCxnSpPr>
            <p:cNvPr id="503" name="L3"/>
            <p:cNvCxnSpPr/>
            <p:nvPr/>
          </p:nvCxnSpPr>
          <p:spPr>
            <a:xfrm>
              <a:off x="700000" y="700000"/>
              <a:ext cx="500000" cy="0"/>
            </a:xfrm>
            <a:prstGeom prst="line">
              <a:avLst/>
            </a:prstGeom>
            <a:ln w="9525">
              <a:solidFill>
                <a:srgbClr val="C8D7E6"/>
              </a:solidFill>
            </a:ln>
          </p:spPr>
        </p:cxnSp>
        <p:cxnSp>
          <p:nvCxnSpPr>
            <p:cNvPr id="504" name="L4"/>
            <p:cNvCxnSpPr/>
            <p:nvPr/>
          </p:nvCxnSpPr>
          <p:spPr>
            <a:xfrm>
              <a:off x="1200000" y="700000"/>
              <a:ext cx="300000" cy="300000"/>
            </a:xfrm>
            <a:prstGeom prst="line">
              <a:avLst/>
            </a:prstGeom>
            <a:ln w="9525">
              <a:solidFill>
                <a:srgbClr val="C8D7E6"/>
              </a:solidFill>
            </a:ln>
          </p:spPr>
        </p:cxnSp>
        <p:sp>
          <p:nvSpPr>
            <p:cNvPr id="505" name="N1"/>
            <p:cNvSpPr/>
            <p:nvPr/>
          </p:nvSpPr>
          <p:spPr>
            <a:xfrm>
              <a:off x="60000" y="660000"/>
              <a:ext cx="80000" cy="80000"/>
            </a:xfrm>
            <a:prstGeom prst="ellipse">
              <a:avLst/>
            </a:prstGeom>
            <a:solidFill>
              <a:srgbClr val="66A9E0"/>
            </a:solidFill>
          </p:spPr>
          <p:txBody>
            <a:bodyPr/>
            <a:lstStyle/>
            <a:p>
              <a:endParaRPr/>
            </a:p>
          </p:txBody>
        </p:sp>
        <p:sp>
          <p:nvSpPr>
            <p:cNvPr id="506" name="N2"/>
            <p:cNvSpPr/>
            <p:nvPr/>
          </p:nvSpPr>
          <p:spPr>
            <a:xfrm>
              <a:off x="660000" y="260000"/>
              <a:ext cx="90000" cy="90000"/>
            </a:xfrm>
            <a:prstGeom prst="ellipse">
              <a:avLst/>
            </a:prstGeom>
            <a:solidFill>
              <a:srgbClr val="006FCF"/>
            </a:solidFill>
          </p:spPr>
          <p:txBody>
            <a:bodyPr/>
            <a:lstStyle/>
            <a:p>
              <a:endParaRPr/>
            </a:p>
          </p:txBody>
        </p:sp>
        <p:sp>
          <p:nvSpPr>
            <p:cNvPr id="507" name="N3"/>
            <p:cNvSpPr/>
            <p:nvPr/>
          </p:nvSpPr>
          <p:spPr>
            <a:xfrm>
              <a:off x="660000" y="660000"/>
              <a:ext cx="80000" cy="80000"/>
            </a:xfrm>
            <a:prstGeom prst="ellipse">
              <a:avLst/>
            </a:prstGeom>
            <a:solidFill>
              <a:srgbClr val="66A9E0"/>
            </a:solidFill>
          </p:spPr>
          <p:txBody>
            <a:bodyPr/>
            <a:lstStyle/>
            <a:p>
              <a:endParaRPr/>
            </a:p>
          </p:txBody>
        </p:sp>
        <p:sp>
          <p:nvSpPr>
            <p:cNvPr id="508" name="N4"/>
            <p:cNvSpPr/>
            <p:nvPr/>
          </p:nvSpPr>
          <p:spPr>
            <a:xfrm>
              <a:off x="1160000" y="660000"/>
              <a:ext cx="80000" cy="80000"/>
            </a:xfrm>
            <a:prstGeom prst="ellipse">
              <a:avLst/>
            </a:prstGeom>
            <a:solidFill>
              <a:srgbClr val="00175A"/>
            </a:solidFill>
          </p:spPr>
          <p:txBody>
            <a:bodyPr/>
            <a:lstStyle/>
            <a:p>
              <a:endParaRPr/>
            </a:p>
          </p:txBody>
        </p:sp>
        <p:sp>
          <p:nvSpPr>
            <p:cNvPr id="509" name="N5"/>
            <p:cNvSpPr/>
            <p:nvPr/>
          </p:nvSpPr>
          <p:spPr>
            <a:xfrm>
              <a:off x="1460000" y="960000"/>
              <a:ext cx="1" cy="1"/>
            </a:xfrm>
            <a:prstGeom prst="ellipse">
              <a:avLst/>
            </a:prstGeom>
            <a:noFill/>
          </p:spPr>
          <p:txBody>
            <a:bodyPr/>
            <a:lstStyle/>
            <a:p>
              <a:endParaRPr/>
            </a:p>
          </p:txBody>
        </p:sp>
      </p:grpSp>
    </p:spTree>
    <p:extLst>
      <p:ext uri="{BB962C8B-B14F-4D97-AF65-F5344CB8AC3E}">
        <p14:creationId xmlns:p14="http://schemas.microsoft.com/office/powerpoint/2010/main" val="2624911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81610"/>
            <a:ext cx="8229600" cy="274320"/>
          </a:xfrm>
          <a:prstGeom prst="rect">
            <a:avLst/>
          </a:prstGeom>
          <a:noFill/>
        </p:spPr>
        <p:txBody>
          <a:bodyPr wrap="square" anchor="t">
            <a:spAutoFit/>
          </a:bodyPr>
          <a:lstStyle/>
          <a:p>
            <a:pPr algn="l">
              <a:lnSpc>
                <a:spcPct val="100000"/>
              </a:lnSpc>
              <a:spcAft>
                <a:spcPts val="400"/>
              </a:spcAft>
            </a:pPr>
            <a:r>
              <a:rPr sz="1000" b="1" dirty="0">
                <a:solidFill>
                  <a:srgbClr val="0066BE"/>
                </a:solidFill>
                <a:latin typeface="Menlo"/>
              </a:rPr>
              <a:t>01 · The databases</a:t>
            </a:r>
          </a:p>
        </p:txBody>
      </p:sp>
      <p:sp>
        <p:nvSpPr>
          <p:cNvPr id="4" name="TextBox 3"/>
          <p:cNvSpPr txBox="1"/>
          <p:nvPr/>
        </p:nvSpPr>
        <p:spPr>
          <a:xfrm>
            <a:off x="548640" y="566928"/>
            <a:ext cx="11064240" cy="461665"/>
          </a:xfrm>
          <a:prstGeom prst="rect">
            <a:avLst/>
          </a:prstGeom>
          <a:noFill/>
        </p:spPr>
        <p:txBody>
          <a:bodyPr wrap="square" anchor="t">
            <a:spAutoFit/>
          </a:bodyPr>
          <a:lstStyle/>
          <a:p>
            <a:pPr algn="l">
              <a:lnSpc>
                <a:spcPct val="100000"/>
              </a:lnSpc>
              <a:spcAft>
                <a:spcPts val="400"/>
              </a:spcAft>
            </a:pPr>
            <a:r>
              <a:rPr lang="en-US" sz="2400" b="1" dirty="0">
                <a:solidFill>
                  <a:srgbClr val="00175A"/>
                </a:solidFill>
                <a:latin typeface="Helvetica Neue"/>
              </a:rPr>
              <a:t>Database stack</a:t>
            </a:r>
            <a:endParaRPr sz="2400" b="1" dirty="0">
              <a:solidFill>
                <a:srgbClr val="00175A"/>
              </a:solidFill>
              <a:latin typeface="Helvetica Neue"/>
            </a:endParaRPr>
          </a:p>
        </p:txBody>
      </p:sp>
      <p:sp>
        <p:nvSpPr>
          <p:cNvPr id="5" name="Rounded Rectangle 4"/>
          <p:cNvSpPr/>
          <p:nvPr/>
        </p:nvSpPr>
        <p:spPr>
          <a:xfrm>
            <a:off x="548640" y="1325880"/>
            <a:ext cx="2779776" cy="416052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300" b="1" dirty="0">
                <a:solidFill>
                  <a:srgbClr val="0066BE"/>
                </a:solidFill>
                <a:latin typeface="Menlo"/>
              </a:rPr>
              <a:t>graph db  (Neo4j)</a:t>
            </a:r>
          </a:p>
          <a:p>
            <a:pPr algn="l">
              <a:spcAft>
                <a:spcPts val="300"/>
              </a:spcAft>
            </a:pPr>
            <a:r>
              <a:rPr sz="950" b="1" dirty="0">
                <a:solidFill>
                  <a:srgbClr val="3E4C63"/>
                </a:solidFill>
                <a:latin typeface="Helvetica Neue"/>
              </a:rPr>
              <a:t>This is the actual knowledge. Lose it, lose everything.</a:t>
            </a:r>
          </a:p>
          <a:p>
            <a:pPr algn="l">
              <a:spcAft>
                <a:spcPts val="300"/>
              </a:spcAft>
            </a:pPr>
            <a:endParaRPr sz="950" b="1" dirty="0">
              <a:solidFill>
                <a:srgbClr val="3E4C63"/>
              </a:solidFill>
              <a:latin typeface="Helvetica Neue"/>
            </a:endParaRPr>
          </a:p>
          <a:p>
            <a:pPr algn="l">
              <a:spcAft>
                <a:spcPts val="300"/>
              </a:spcAft>
            </a:pPr>
            <a:r>
              <a:rPr sz="950" b="0" dirty="0">
                <a:solidFill>
                  <a:srgbClr val="0066BE"/>
                </a:solidFill>
                <a:latin typeface="Helvetica Neue"/>
              </a:rPr>
              <a:t>▸ </a:t>
            </a:r>
            <a:r>
              <a:rPr sz="950" b="0" dirty="0">
                <a:solidFill>
                  <a:srgbClr val="3E4C63"/>
                </a:solidFill>
                <a:latin typeface="Helvetica Neue"/>
              </a:rPr>
              <a:t>Things (people, companies, places…), each with a one-line description</a:t>
            </a:r>
            <a:br>
              <a:rPr lang="en-US" sz="950" b="0" dirty="0">
                <a:solidFill>
                  <a:srgbClr val="3E4C63"/>
                </a:solidFill>
                <a:latin typeface="Helvetica Neue"/>
              </a:rPr>
            </a:br>
            <a:endParaRPr sz="950" b="0" dirty="0">
              <a:solidFill>
                <a:srgbClr val="3E4C63"/>
              </a:solidFill>
              <a:latin typeface="Helvetica Neue"/>
            </a:endParaRPr>
          </a:p>
          <a:p>
            <a:pPr algn="l">
              <a:spcAft>
                <a:spcPts val="300"/>
              </a:spcAft>
            </a:pPr>
            <a:r>
              <a:rPr sz="950" b="0" dirty="0">
                <a:solidFill>
                  <a:srgbClr val="0066BE"/>
                </a:solidFill>
                <a:latin typeface="Helvetica Neue"/>
              </a:rPr>
              <a:t>▸ </a:t>
            </a:r>
            <a:r>
              <a:rPr sz="950" b="0" dirty="0">
                <a:solidFill>
                  <a:srgbClr val="3E4C63"/>
                </a:solidFill>
                <a:latin typeface="Helvetica Neue"/>
              </a:rPr>
              <a:t>Facts between things — with start/end dates, so old facts close instead of being deleted</a:t>
            </a:r>
            <a:br>
              <a:rPr lang="en-US" sz="950" b="0" dirty="0">
                <a:solidFill>
                  <a:srgbClr val="3E4C63"/>
                </a:solidFill>
                <a:latin typeface="Helvetica Neue"/>
              </a:rPr>
            </a:br>
            <a:endParaRPr sz="950" b="0" dirty="0">
              <a:solidFill>
                <a:srgbClr val="3E4C63"/>
              </a:solidFill>
              <a:latin typeface="Helvetica Neue"/>
            </a:endParaRPr>
          </a:p>
          <a:p>
            <a:pPr algn="l">
              <a:spcAft>
                <a:spcPts val="300"/>
              </a:spcAft>
            </a:pPr>
            <a:r>
              <a:rPr sz="950" b="0" dirty="0">
                <a:solidFill>
                  <a:srgbClr val="0066BE"/>
                </a:solidFill>
                <a:latin typeface="Helvetica Neue"/>
              </a:rPr>
              <a:t>▸ </a:t>
            </a:r>
            <a:r>
              <a:rPr sz="950" b="0" dirty="0">
                <a:solidFill>
                  <a:srgbClr val="3E4C63"/>
                </a:solidFill>
                <a:latin typeface="Helvetica Neue"/>
              </a:rPr>
              <a:t>The exact sentence(s) each fact came from, one per source document</a:t>
            </a:r>
            <a:br>
              <a:rPr lang="en-US" sz="950" b="0" dirty="0">
                <a:solidFill>
                  <a:srgbClr val="3E4C63"/>
                </a:solidFill>
                <a:latin typeface="Helvetica Neue"/>
              </a:rPr>
            </a:br>
            <a:endParaRPr sz="950" b="0" dirty="0">
              <a:solidFill>
                <a:srgbClr val="3E4C63"/>
              </a:solidFill>
              <a:latin typeface="Helvetica Neue"/>
            </a:endParaRPr>
          </a:p>
          <a:p>
            <a:pPr algn="l">
              <a:spcAft>
                <a:spcPts val="300"/>
              </a:spcAft>
            </a:pPr>
            <a:r>
              <a:rPr sz="950" b="0" dirty="0">
                <a:solidFill>
                  <a:srgbClr val="0066BE"/>
                </a:solidFill>
                <a:latin typeface="Helvetica Neue"/>
              </a:rPr>
              <a:t>▸ </a:t>
            </a:r>
            <a:r>
              <a:rPr sz="950" b="0" dirty="0">
                <a:solidFill>
                  <a:srgbClr val="3E4C63"/>
                </a:solidFill>
                <a:latin typeface="Helvetica Neue"/>
              </a:rPr>
              <a:t>Who approved every fact, when, from which document</a:t>
            </a:r>
            <a:br>
              <a:rPr lang="en-US" sz="950" b="0" dirty="0">
                <a:solidFill>
                  <a:srgbClr val="3E4C63"/>
                </a:solidFill>
                <a:latin typeface="Helvetica Neue"/>
              </a:rPr>
            </a:br>
            <a:endParaRPr sz="950" b="0" dirty="0">
              <a:solidFill>
                <a:srgbClr val="3E4C63"/>
              </a:solidFill>
              <a:latin typeface="Helvetica Neue"/>
            </a:endParaRPr>
          </a:p>
          <a:p>
            <a:pPr algn="l">
              <a:spcAft>
                <a:spcPts val="300"/>
              </a:spcAft>
            </a:pPr>
            <a:r>
              <a:rPr sz="950" b="0" dirty="0">
                <a:solidFill>
                  <a:srgbClr val="0066BE"/>
                </a:solidFill>
                <a:latin typeface="Helvetica Neue"/>
              </a:rPr>
              <a:t>▸ </a:t>
            </a:r>
            <a:r>
              <a:rPr sz="950" b="0" dirty="0">
                <a:solidFill>
                  <a:srgbClr val="3E4C63"/>
                </a:solidFill>
                <a:latin typeface="Helvetica Neue"/>
              </a:rPr>
              <a:t>Also holds the waiting room: proposed facts sit here as plain JSON until a person decides</a:t>
            </a:r>
            <a:r>
              <a:rPr lang="en-US" sz="950" b="0" dirty="0">
                <a:solidFill>
                  <a:srgbClr val="3E4C63"/>
                </a:solidFill>
                <a:latin typeface="Helvetica Neue"/>
              </a:rPr>
              <a:t>. PATCH before commit.</a:t>
            </a:r>
            <a:endParaRPr sz="950" b="0" dirty="0">
              <a:solidFill>
                <a:srgbClr val="3E4C63"/>
              </a:solidFill>
              <a:latin typeface="Helvetica Neue"/>
            </a:endParaRPr>
          </a:p>
        </p:txBody>
      </p:sp>
      <p:sp>
        <p:nvSpPr>
          <p:cNvPr id="6" name="Rounded Rectangle 5"/>
          <p:cNvSpPr/>
          <p:nvPr/>
        </p:nvSpPr>
        <p:spPr>
          <a:xfrm>
            <a:off x="4585208" y="1325880"/>
            <a:ext cx="2779776" cy="416052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300" b="1" dirty="0">
                <a:solidFill>
                  <a:srgbClr val="0066BE"/>
                </a:solidFill>
                <a:latin typeface="Menlo"/>
              </a:rPr>
              <a:t>vector db  (Qdrant)</a:t>
            </a:r>
          </a:p>
          <a:p>
            <a:pPr algn="l">
              <a:spcAft>
                <a:spcPts val="300"/>
              </a:spcAft>
            </a:pPr>
            <a:r>
              <a:rPr sz="950" b="1" dirty="0">
                <a:solidFill>
                  <a:srgbClr val="3E4C63"/>
                </a:solidFill>
                <a:latin typeface="Helvetica Neue"/>
              </a:rPr>
              <a:t>Only for similarity search. Delete it any time — one script rebuilds it from the graph db.</a:t>
            </a:r>
          </a:p>
          <a:p>
            <a:pPr algn="l">
              <a:spcAft>
                <a:spcPts val="300"/>
              </a:spcAft>
            </a:pPr>
            <a:endParaRPr sz="950" b="1" dirty="0">
              <a:solidFill>
                <a:srgbClr val="3E4C63"/>
              </a:solidFill>
              <a:latin typeface="Helvetica Neue"/>
            </a:endParaRPr>
          </a:p>
          <a:p>
            <a:pPr algn="l">
              <a:spcAft>
                <a:spcPts val="300"/>
              </a:spcAft>
            </a:pPr>
            <a:r>
              <a:rPr sz="950" b="0" dirty="0">
                <a:solidFill>
                  <a:srgbClr val="00175A"/>
                </a:solidFill>
                <a:latin typeface="Helvetica Neue"/>
              </a:rPr>
              <a:t>▸ </a:t>
            </a:r>
            <a:r>
              <a:rPr sz="950" b="0" dirty="0">
                <a:solidFill>
                  <a:srgbClr val="3E4C63"/>
                </a:solidFill>
                <a:latin typeface="Helvetica Neue"/>
              </a:rPr>
              <a:t>“Is 'Acme Corp' the same as 'Acme Corporation'?” — similar names &amp; descriptions</a:t>
            </a:r>
            <a:br>
              <a:rPr lang="en-US" sz="950" b="0" dirty="0">
                <a:solidFill>
                  <a:srgbClr val="3E4C63"/>
                </a:solidFill>
                <a:latin typeface="Helvetica Neue"/>
              </a:rPr>
            </a:br>
            <a:endParaRPr sz="950" b="0" dirty="0">
              <a:solidFill>
                <a:srgbClr val="3E4C63"/>
              </a:solidFill>
              <a:latin typeface="Helvetica Neue"/>
            </a:endParaRPr>
          </a:p>
          <a:p>
            <a:pPr algn="l">
              <a:spcAft>
                <a:spcPts val="300"/>
              </a:spcAft>
            </a:pPr>
            <a:r>
              <a:rPr sz="950" b="0" dirty="0">
                <a:solidFill>
                  <a:srgbClr val="00175A"/>
                </a:solidFill>
                <a:latin typeface="Helvetica Neue"/>
              </a:rPr>
              <a:t>▸ </a:t>
            </a:r>
            <a:r>
              <a:rPr sz="950" b="0" dirty="0">
                <a:solidFill>
                  <a:srgbClr val="3E4C63"/>
                </a:solidFill>
                <a:latin typeface="Helvetica Neue"/>
              </a:rPr>
              <a:t>“Is 'is CEO of' the same as 'chief executive of'?” — similar wordings</a:t>
            </a:r>
            <a:br>
              <a:rPr lang="en-US" sz="950" b="0" dirty="0">
                <a:solidFill>
                  <a:srgbClr val="3E4C63"/>
                </a:solidFill>
                <a:latin typeface="Helvetica Neue"/>
              </a:rPr>
            </a:br>
            <a:endParaRPr sz="950" b="0" dirty="0">
              <a:solidFill>
                <a:srgbClr val="3E4C63"/>
              </a:solidFill>
              <a:latin typeface="Helvetica Neue"/>
            </a:endParaRPr>
          </a:p>
          <a:p>
            <a:pPr algn="l">
              <a:spcAft>
                <a:spcPts val="300"/>
              </a:spcAft>
            </a:pPr>
            <a:r>
              <a:rPr sz="950" b="0" dirty="0">
                <a:solidFill>
                  <a:srgbClr val="00175A"/>
                </a:solidFill>
                <a:latin typeface="Helvetica Neue"/>
              </a:rPr>
              <a:t>▸ </a:t>
            </a:r>
            <a:r>
              <a:rPr sz="950" b="0" dirty="0">
                <a:solidFill>
                  <a:srgbClr val="3E4C63"/>
                </a:solidFill>
                <a:latin typeface="Helvetica Neue"/>
              </a:rPr>
              <a:t>“Which stored facts sound like this question?” — similar facts</a:t>
            </a:r>
            <a:br>
              <a:rPr lang="en-US" sz="950" b="0" dirty="0">
                <a:solidFill>
                  <a:srgbClr val="3E4C63"/>
                </a:solidFill>
                <a:latin typeface="Helvetica Neue"/>
              </a:rPr>
            </a:br>
            <a:endParaRPr sz="950" b="0" dirty="0">
              <a:solidFill>
                <a:srgbClr val="3E4C63"/>
              </a:solidFill>
              <a:latin typeface="Helvetica Neue"/>
            </a:endParaRPr>
          </a:p>
          <a:p>
            <a:pPr algn="l">
              <a:spcAft>
                <a:spcPts val="300"/>
              </a:spcAft>
            </a:pPr>
            <a:r>
              <a:rPr sz="950" b="0" dirty="0">
                <a:solidFill>
                  <a:srgbClr val="00175A"/>
                </a:solidFill>
                <a:latin typeface="Helvetica Neue"/>
              </a:rPr>
              <a:t>▸ </a:t>
            </a:r>
            <a:r>
              <a:rPr sz="950" b="0" dirty="0">
                <a:solidFill>
                  <a:srgbClr val="3E4C63"/>
                </a:solidFill>
                <a:latin typeface="Helvetica Neue"/>
              </a:rPr>
              <a:t>Updated only after a person approves — proposals are never searchable</a:t>
            </a:r>
          </a:p>
        </p:txBody>
      </p:sp>
      <p:sp>
        <p:nvSpPr>
          <p:cNvPr id="7" name="Rounded Rectangle 6"/>
          <p:cNvSpPr/>
          <p:nvPr/>
        </p:nvSpPr>
        <p:spPr>
          <a:xfrm>
            <a:off x="8621776" y="1325880"/>
            <a:ext cx="2779776" cy="416052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nchorCtr="0"/>
          <a:lstStyle/>
          <a:p>
            <a:pPr algn="l">
              <a:spcAft>
                <a:spcPts val="300"/>
              </a:spcAft>
            </a:pPr>
            <a:r>
              <a:rPr lang="en-US" sz="1300" b="1" dirty="0">
                <a:solidFill>
                  <a:srgbClr val="0066BE"/>
                </a:solidFill>
                <a:latin typeface="Menlo"/>
              </a:rPr>
              <a:t>Postgres</a:t>
            </a:r>
          </a:p>
          <a:p>
            <a:pPr algn="l">
              <a:spcAft>
                <a:spcPts val="300"/>
              </a:spcAft>
            </a:pPr>
            <a:r>
              <a:rPr lang="en-US" sz="950" b="1" dirty="0">
                <a:solidFill>
                  <a:srgbClr val="3E4C63"/>
                </a:solidFill>
                <a:latin typeface="Helvetica Neue"/>
              </a:rPr>
              <a:t>Holds the state of paused runs so nothing is lost.</a:t>
            </a:r>
          </a:p>
          <a:p>
            <a:pPr algn="l">
              <a:spcAft>
                <a:spcPts val="300"/>
              </a:spcAft>
            </a:pPr>
            <a:endParaRPr lang="en-US" sz="950" b="1" dirty="0">
              <a:solidFill>
                <a:srgbClr val="3E4C63"/>
              </a:solidFill>
              <a:latin typeface="Helvetica Neue"/>
            </a:endParaRPr>
          </a:p>
          <a:p>
            <a:pPr algn="l">
              <a:spcAft>
                <a:spcPts val="300"/>
              </a:spcAft>
            </a:pPr>
            <a:r>
              <a:rPr lang="en-US" sz="950" b="0" dirty="0">
                <a:solidFill>
                  <a:srgbClr val="0066BE"/>
                </a:solidFill>
                <a:latin typeface="Helvetica Neue"/>
              </a:rPr>
              <a:t>▸ </a:t>
            </a:r>
            <a:r>
              <a:rPr lang="en-US" sz="950" b="0" dirty="0">
                <a:solidFill>
                  <a:srgbClr val="3E4C63"/>
                </a:solidFill>
                <a:latin typeface="Helvetica Neue"/>
              </a:rPr>
              <a:t>When a run stops to wait for human review, its state is saved here</a:t>
            </a:r>
            <a:br>
              <a:rPr lang="en-US" sz="950" b="0" dirty="0">
                <a:solidFill>
                  <a:srgbClr val="3E4C63"/>
                </a:solidFill>
                <a:latin typeface="Helvetica Neue"/>
              </a:rPr>
            </a:br>
            <a:endParaRPr lang="en-US" sz="950" b="0" dirty="0">
              <a:solidFill>
                <a:srgbClr val="3E4C63"/>
              </a:solidFill>
              <a:latin typeface="Helvetica Neue"/>
            </a:endParaRPr>
          </a:p>
          <a:p>
            <a:pPr algn="l">
              <a:spcAft>
                <a:spcPts val="300"/>
              </a:spcAft>
            </a:pPr>
            <a:r>
              <a:rPr lang="en-US" sz="950" b="0" dirty="0">
                <a:solidFill>
                  <a:srgbClr val="0066BE"/>
                </a:solidFill>
                <a:latin typeface="Helvetica Neue"/>
              </a:rPr>
              <a:t>▸ </a:t>
            </a:r>
            <a:r>
              <a:rPr lang="en-US" sz="950" b="0" dirty="0">
                <a:solidFill>
                  <a:srgbClr val="3E4C63"/>
                </a:solidFill>
                <a:latin typeface="Helvetica Neue"/>
              </a:rPr>
              <a:t>So the wait can last a week, laptops can reboot, and the run still resumes</a:t>
            </a:r>
          </a:p>
        </p:txBody>
      </p:sp>
      <p:pic>
        <p:nvPicPr>
          <p:cNvPr id="10" name="Graphic 10" descr="Graph database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21000" y="1422400"/>
            <a:ext cx="279400" cy="279400"/>
          </a:xfrm>
          <a:prstGeom prst="rect">
            <a:avLst/>
          </a:prstGeom>
        </p:spPr>
      </p:pic>
      <p:pic>
        <p:nvPicPr>
          <p:cNvPr id="11" name="Graphic 11" descr="Similarity search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1632" y="1422400"/>
            <a:ext cx="279400" cy="279400"/>
          </a:xfrm>
          <a:prstGeom prst="rect">
            <a:avLst/>
          </a:prstGeom>
        </p:spPr>
      </p:pic>
      <p:pic>
        <p:nvPicPr>
          <p:cNvPr id="12" name="Graphic 12" descr="Postgres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02264" y="1422400"/>
            <a:ext cx="279400" cy="279400"/>
          </a:xfrm>
          <a:prstGeom prst="rect">
            <a:avLst/>
          </a:prstGeom>
        </p:spPr>
      </p:pic>
    </p:spTree>
    <p:extLst>
      <p:ext uri="{BB962C8B-B14F-4D97-AF65-F5344CB8AC3E}">
        <p14:creationId xmlns:p14="http://schemas.microsoft.com/office/powerpoint/2010/main" val="211558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8640" y="566928"/>
            <a:ext cx="11064240" cy="548640"/>
          </a:xfrm>
          <a:prstGeom prst="rect">
            <a:avLst/>
          </a:prstGeom>
          <a:noFill/>
        </p:spPr>
        <p:txBody>
          <a:bodyPr wrap="square" anchor="t">
            <a:spAutoFit/>
          </a:bodyPr>
          <a:lstStyle/>
          <a:p>
            <a:pPr algn="l">
              <a:lnSpc>
                <a:spcPct val="100000"/>
              </a:lnSpc>
              <a:spcAft>
                <a:spcPts val="400"/>
              </a:spcAft>
            </a:pPr>
            <a:r>
              <a:rPr sz="2400" b="1">
                <a:solidFill>
                  <a:srgbClr val="00175A"/>
                </a:solidFill>
                <a:latin typeface="Helvetica Neue"/>
              </a:rPr>
              <a:t>Fingerprint the file, split it into fragments</a:t>
            </a:r>
          </a:p>
        </p:txBody>
      </p:sp>
      <p:sp>
        <p:nvSpPr>
          <p:cNvPr id="5" name="Rounded Rectangle 4"/>
          <p:cNvSpPr/>
          <p:nvPr/>
        </p:nvSpPr>
        <p:spPr>
          <a:xfrm>
            <a:off x="548640" y="1825752"/>
            <a:ext cx="5486400" cy="132588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250" b="1" dirty="0">
                <a:solidFill>
                  <a:srgbClr val="00175A"/>
                </a:solidFill>
                <a:latin typeface="Helvetica Neue"/>
              </a:rPr>
              <a:t>1 · Fingerprint</a:t>
            </a:r>
          </a:p>
          <a:p>
            <a:pPr algn="l">
              <a:spcAft>
                <a:spcPts val="300"/>
              </a:spcAft>
            </a:pPr>
            <a:r>
              <a:rPr sz="1000" b="0" dirty="0">
                <a:solidFill>
                  <a:srgbClr val="3E4C63"/>
                </a:solidFill>
                <a:latin typeface="Helvetica Neue"/>
              </a:rPr>
              <a:t>Hash the file's bytes — that hash IS the document's identity, not the filename. Same bytes already in the graph? “already ingested, nothing to do.” Same bytes waiting in the review pile? “decide the pending one first.” Either way we stop before spending a cent on AI.</a:t>
            </a:r>
          </a:p>
        </p:txBody>
      </p:sp>
      <p:sp>
        <p:nvSpPr>
          <p:cNvPr id="6" name="Rounded Rectangle 5"/>
          <p:cNvSpPr/>
          <p:nvPr/>
        </p:nvSpPr>
        <p:spPr>
          <a:xfrm>
            <a:off x="4490978" y="2771973"/>
            <a:ext cx="1367028" cy="274320"/>
          </a:xfrm>
          <a:prstGeom prst="roundRect">
            <a:avLst>
              <a:gd name="adj" fmla="val 50000"/>
            </a:avLst>
          </a:prstGeom>
          <a:solidFill>
            <a:srgbClr val="DEEDFA"/>
          </a:solidFill>
          <a:ln w="9525">
            <a:solidFill>
              <a:srgbClr val="0066BE"/>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spcAft>
                <a:spcPts val="300"/>
              </a:spcAft>
            </a:pPr>
            <a:r>
              <a:rPr sz="800" b="1" dirty="0">
                <a:solidFill>
                  <a:srgbClr val="0066BE"/>
                </a:solidFill>
                <a:latin typeface="Menlo"/>
              </a:rPr>
              <a:t>checks graph db</a:t>
            </a:r>
          </a:p>
        </p:txBody>
      </p:sp>
      <p:sp>
        <p:nvSpPr>
          <p:cNvPr id="7" name="Rounded Rectangle 6"/>
          <p:cNvSpPr/>
          <p:nvPr/>
        </p:nvSpPr>
        <p:spPr>
          <a:xfrm>
            <a:off x="548640" y="3575420"/>
            <a:ext cx="5486400" cy="152400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500"/>
              </a:spcAft>
            </a:pPr>
            <a:r>
              <a:rPr sz="1250" b="1" dirty="0">
                <a:solidFill>
                  <a:srgbClr val="00175A"/>
                </a:solidFill>
                <a:latin typeface="Helvetica Neue"/>
              </a:rPr>
              <a:t>2 · Split into fragments</a:t>
            </a:r>
          </a:p>
          <a:p>
            <a:pPr algn="l">
              <a:spcAft>
                <a:spcPts val="500"/>
              </a:spcAft>
            </a:pPr>
            <a:r>
              <a:rPr sz="1000" b="0" dirty="0">
                <a:solidFill>
                  <a:srgbClr val="3E4C63"/>
                </a:solidFill>
                <a:latin typeface="Helvetica Neue"/>
              </a:rPr>
              <a:t>Blank lines split the text into paragraphs. Headings never become content — they ride along as context, so the AI reading a fragment knows what section it came from.</a:t>
            </a:r>
          </a:p>
          <a:p>
            <a:pPr algn="l">
              <a:spcAft>
                <a:spcPts val="500"/>
              </a:spcAft>
            </a:pPr>
            <a:r>
              <a:rPr sz="1000" b="0" dirty="0">
                <a:solidFill>
                  <a:srgbClr val="3E4C63"/>
                </a:solidFill>
                <a:latin typeface="Helvetica Neue"/>
              </a:rPr>
              <a:t>We cut by paragraph, not by sentence, on purpose: a sentence alone loses who “she” is; a paragraph keeps names next to the claims about them.</a:t>
            </a:r>
          </a:p>
        </p:txBody>
      </p:sp>
      <p:sp>
        <p:nvSpPr>
          <p:cNvPr id="8" name="Rounded Rectangle 7"/>
          <p:cNvSpPr/>
          <p:nvPr/>
        </p:nvSpPr>
        <p:spPr>
          <a:xfrm>
            <a:off x="6263640" y="1962053"/>
            <a:ext cx="5815584" cy="2944889"/>
          </a:xfrm>
          <a:prstGeom prst="roundRect">
            <a:avLst>
              <a:gd name="adj" fmla="val 10000"/>
            </a:avLst>
          </a:prstGeom>
          <a:solidFill>
            <a:srgbClr val="FFFFFF"/>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lang="en-US" sz="900" b="1" dirty="0">
                <a:solidFill>
                  <a:srgbClr val="5A6577"/>
                </a:solidFill>
                <a:latin typeface="Menlo"/>
              </a:rPr>
              <a:t>Refer to sample </a:t>
            </a:r>
            <a:r>
              <a:rPr sz="900" b="1" dirty="0">
                <a:solidFill>
                  <a:srgbClr val="5A6577"/>
                </a:solidFill>
                <a:latin typeface="Menlo"/>
              </a:rPr>
              <a:t>— wikipedia_long.md</a:t>
            </a:r>
          </a:p>
          <a:p>
            <a:pPr algn="l">
              <a:spcAft>
                <a:spcPts val="300"/>
              </a:spcAft>
            </a:pPr>
            <a:endParaRPr sz="900" b="0" dirty="0">
              <a:solidFill>
                <a:srgbClr val="5A6577"/>
              </a:solidFill>
              <a:latin typeface="Helvetica Neue"/>
            </a:endParaRPr>
          </a:p>
          <a:p>
            <a:pPr algn="l">
              <a:spcAft>
                <a:spcPts val="300"/>
              </a:spcAft>
            </a:pPr>
            <a:r>
              <a:rPr sz="1050" b="0" dirty="0">
                <a:solidFill>
                  <a:srgbClr val="5A6577"/>
                </a:solidFill>
                <a:latin typeface="Menlo"/>
              </a:rPr>
              <a:t># Alfred Nobel</a:t>
            </a:r>
          </a:p>
          <a:p>
            <a:pPr algn="l">
              <a:spcAft>
                <a:spcPts val="300"/>
              </a:spcAft>
            </a:pPr>
            <a:r>
              <a:rPr sz="900" b="0" dirty="0">
                <a:solidFill>
                  <a:srgbClr val="5A6577"/>
                </a:solidFill>
                <a:latin typeface="Helvetica Neue"/>
              </a:rPr>
              <a:t>   → </a:t>
            </a:r>
            <a:r>
              <a:rPr lang="en-US" sz="900" b="0" dirty="0">
                <a:solidFill>
                  <a:srgbClr val="5A6577"/>
                </a:solidFill>
                <a:latin typeface="Helvetica Neue"/>
              </a:rPr>
              <a:t>Headings are </a:t>
            </a:r>
            <a:r>
              <a:rPr sz="900" b="0" dirty="0">
                <a:solidFill>
                  <a:srgbClr val="5A6577"/>
                </a:solidFill>
                <a:latin typeface="Helvetica Neue"/>
              </a:rPr>
              <a:t>pushed onto the “</a:t>
            </a:r>
            <a:r>
              <a:rPr sz="900" b="0" i="1" dirty="0">
                <a:solidFill>
                  <a:srgbClr val="5A6577"/>
                </a:solidFill>
                <a:latin typeface="Helvetica Neue"/>
              </a:rPr>
              <a:t>where am I</a:t>
            </a:r>
            <a:r>
              <a:rPr sz="900" b="0" dirty="0">
                <a:solidFill>
                  <a:srgbClr val="5A6577"/>
                </a:solidFill>
                <a:latin typeface="Helvetica Neue"/>
              </a:rPr>
              <a:t>” context</a:t>
            </a:r>
          </a:p>
          <a:p>
            <a:pPr algn="l">
              <a:spcAft>
                <a:spcPts val="300"/>
              </a:spcAft>
            </a:pPr>
            <a:endParaRPr sz="900" b="0" dirty="0">
              <a:solidFill>
                <a:srgbClr val="5A6577"/>
              </a:solidFill>
              <a:latin typeface="Helvetica Neue"/>
            </a:endParaRPr>
          </a:p>
          <a:p>
            <a:pPr algn="l">
              <a:spcAft>
                <a:spcPts val="300"/>
              </a:spcAft>
            </a:pPr>
            <a:r>
              <a:rPr sz="1050" b="0" i="1" dirty="0">
                <a:solidFill>
                  <a:srgbClr val="00175A"/>
                </a:solidFill>
                <a:latin typeface="Menlo"/>
              </a:rPr>
              <a:t>Alfred Bernhard Nobel (21 October 1833 – 10 December</a:t>
            </a:r>
          </a:p>
          <a:p>
            <a:pPr algn="l">
              <a:spcAft>
                <a:spcPts val="300"/>
              </a:spcAft>
            </a:pPr>
            <a:r>
              <a:rPr sz="1050" b="0" i="1" dirty="0">
                <a:solidFill>
                  <a:srgbClr val="00175A"/>
                </a:solidFill>
                <a:latin typeface="Menlo"/>
              </a:rPr>
              <a:t>1896) was a Swedish chemist, engineer, inventor,</a:t>
            </a:r>
          </a:p>
          <a:p>
            <a:pPr algn="l">
              <a:spcAft>
                <a:spcPts val="300"/>
              </a:spcAft>
            </a:pPr>
            <a:r>
              <a:rPr sz="1050" b="0" i="1" dirty="0">
                <a:solidFill>
                  <a:srgbClr val="00175A"/>
                </a:solidFill>
                <a:latin typeface="Menlo"/>
              </a:rPr>
              <a:t>businessman, and philanthropist. He is known for</a:t>
            </a:r>
          </a:p>
          <a:p>
            <a:pPr algn="l">
              <a:spcAft>
                <a:spcPts val="300"/>
              </a:spcAft>
            </a:pPr>
            <a:r>
              <a:rPr sz="1050" b="0" i="1" dirty="0">
                <a:solidFill>
                  <a:srgbClr val="00175A"/>
                </a:solidFill>
                <a:latin typeface="Menlo"/>
              </a:rPr>
              <a:t>creating dynamite as well as having bequeathed his</a:t>
            </a:r>
          </a:p>
          <a:p>
            <a:pPr algn="l">
              <a:spcAft>
                <a:spcPts val="300"/>
              </a:spcAft>
            </a:pPr>
            <a:r>
              <a:rPr sz="1050" b="0" i="1" dirty="0">
                <a:solidFill>
                  <a:srgbClr val="00175A"/>
                </a:solidFill>
                <a:latin typeface="Menlo"/>
              </a:rPr>
              <a:t>fortune to establish the Nobel Prize.</a:t>
            </a:r>
          </a:p>
          <a:p>
            <a:pPr algn="l">
              <a:spcAft>
                <a:spcPts val="300"/>
              </a:spcAft>
            </a:pPr>
            <a:r>
              <a:rPr sz="900" b="0" dirty="0">
                <a:solidFill>
                  <a:srgbClr val="5A6577"/>
                </a:solidFill>
                <a:latin typeface="Helvetica Neue"/>
              </a:rPr>
              <a:t>   → both sentences travel together, so “He” in the</a:t>
            </a:r>
            <a:r>
              <a:rPr lang="en-US" sz="900" b="0" dirty="0">
                <a:solidFill>
                  <a:srgbClr val="5A6577"/>
                </a:solidFill>
                <a:latin typeface="Helvetica Neue"/>
              </a:rPr>
              <a:t> </a:t>
            </a:r>
            <a:r>
              <a:rPr sz="900" b="0" dirty="0">
                <a:solidFill>
                  <a:srgbClr val="5A6577"/>
                </a:solidFill>
                <a:latin typeface="Helvetica Neue"/>
              </a:rPr>
              <a:t>second sentence still resolves to Alfred Nobel</a:t>
            </a:r>
          </a:p>
          <a:p>
            <a:pPr algn="l">
              <a:spcAft>
                <a:spcPts val="300"/>
              </a:spcAft>
            </a:pPr>
            <a:endParaRPr sz="900" b="0" dirty="0">
              <a:solidFill>
                <a:srgbClr val="5A6577"/>
              </a:solidFill>
              <a:latin typeface="Helvetica Neue"/>
            </a:endParaRPr>
          </a:p>
          <a:p>
            <a:pPr algn="l">
              <a:spcAft>
                <a:spcPts val="300"/>
              </a:spcAft>
            </a:pPr>
            <a:r>
              <a:rPr sz="1050" b="0" dirty="0">
                <a:solidFill>
                  <a:srgbClr val="0066BE"/>
                </a:solidFill>
                <a:latin typeface="Menlo"/>
              </a:rPr>
              <a:t>fragment id: doc_7f3a9c · block 1</a:t>
            </a:r>
          </a:p>
          <a:p>
            <a:pPr algn="l">
              <a:spcAft>
                <a:spcPts val="300"/>
              </a:spcAft>
            </a:pPr>
            <a:r>
              <a:rPr sz="900" b="0" dirty="0">
                <a:solidFill>
                  <a:srgbClr val="5A6577"/>
                </a:solidFill>
                <a:latin typeface="Helvetica Neue"/>
              </a:rPr>
              <a:t>   → every fragment points to the exact block it came from.</a:t>
            </a:r>
          </a:p>
        </p:txBody>
      </p:sp>
      <p:sp>
        <p:nvSpPr>
          <p:cNvPr id="9" name="Rounded Rectangle 8"/>
          <p:cNvSpPr/>
          <p:nvPr/>
        </p:nvSpPr>
        <p:spPr>
          <a:xfrm>
            <a:off x="548640" y="5753428"/>
            <a:ext cx="10810754" cy="38100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l">
              <a:spcAft>
                <a:spcPts val="300"/>
              </a:spcAft>
            </a:pPr>
            <a:r>
              <a:rPr sz="1100" b="1" dirty="0">
                <a:solidFill>
                  <a:srgbClr val="00175A"/>
                </a:solidFill>
                <a:latin typeface="Helvetica Neue"/>
              </a:rPr>
              <a:t>Cost meter: </a:t>
            </a:r>
            <a:r>
              <a:rPr sz="1050" b="0" dirty="0">
                <a:solidFill>
                  <a:srgbClr val="3E4C63"/>
                </a:solidFill>
                <a:latin typeface="Helvetica Neue"/>
              </a:rPr>
              <a:t>fragment</a:t>
            </a:r>
            <a:r>
              <a:rPr lang="en-US" sz="1050" b="0" dirty="0">
                <a:solidFill>
                  <a:srgbClr val="3E4C63"/>
                </a:solidFill>
                <a:latin typeface="Helvetica Neue"/>
              </a:rPr>
              <a:t>s are generated programmatically then</a:t>
            </a:r>
            <a:r>
              <a:rPr sz="1050" b="0" dirty="0">
                <a:solidFill>
                  <a:srgbClr val="3E4C63"/>
                </a:solidFill>
                <a:latin typeface="Helvetica Neue"/>
              </a:rPr>
              <a:t> </a:t>
            </a:r>
            <a:r>
              <a:rPr lang="en-US" sz="1050" b="0" dirty="0">
                <a:solidFill>
                  <a:srgbClr val="3E4C63"/>
                </a:solidFill>
                <a:latin typeface="Helvetica Neue"/>
              </a:rPr>
              <a:t>(on the next step) </a:t>
            </a:r>
            <a:r>
              <a:rPr sz="1050" b="0" dirty="0">
                <a:solidFill>
                  <a:srgbClr val="3E4C63"/>
                </a:solidFill>
                <a:latin typeface="Helvetica Neue"/>
              </a:rPr>
              <a:t>one AI call</a:t>
            </a:r>
            <a:r>
              <a:rPr lang="en-US" sz="1050" b="0" dirty="0">
                <a:solidFill>
                  <a:srgbClr val="3E4C63"/>
                </a:solidFill>
                <a:latin typeface="Helvetica Neue"/>
              </a:rPr>
              <a:t> is made per fragment</a:t>
            </a:r>
            <a:r>
              <a:rPr sz="1050" b="0" dirty="0">
                <a:solidFill>
                  <a:srgbClr val="3E4C63"/>
                </a:solidFill>
                <a:latin typeface="Helvetica Neue"/>
              </a:rPr>
              <a:t>. The Alfred Nobel </a:t>
            </a:r>
            <a:r>
              <a:rPr lang="en-US" sz="1050" b="0" dirty="0">
                <a:solidFill>
                  <a:srgbClr val="3E4C63"/>
                </a:solidFill>
                <a:latin typeface="Helvetica Neue"/>
              </a:rPr>
              <a:t>sample </a:t>
            </a:r>
            <a:r>
              <a:rPr sz="1050" b="0" dirty="0">
                <a:solidFill>
                  <a:srgbClr val="3E4C63"/>
                </a:solidFill>
                <a:latin typeface="Helvetica Neue"/>
              </a:rPr>
              <a:t>article</a:t>
            </a:r>
            <a:r>
              <a:rPr lang="en-US" sz="1050" b="0" dirty="0">
                <a:solidFill>
                  <a:srgbClr val="3E4C63"/>
                </a:solidFill>
                <a:latin typeface="Helvetica Neue"/>
              </a:rPr>
              <a:t> generates</a:t>
            </a:r>
            <a:r>
              <a:rPr sz="1050" b="0" dirty="0">
                <a:solidFill>
                  <a:srgbClr val="3E4C63"/>
                </a:solidFill>
                <a:latin typeface="Helvetica Neue"/>
              </a:rPr>
              <a:t> about 30 fragments</a:t>
            </a:r>
            <a:r>
              <a:rPr lang="en-US" sz="1050" b="0" dirty="0">
                <a:solidFill>
                  <a:srgbClr val="3E4C63"/>
                </a:solidFill>
                <a:latin typeface="Helvetica Neue"/>
              </a:rPr>
              <a:t>.</a:t>
            </a:r>
            <a:r>
              <a:rPr sz="1050" b="0" dirty="0">
                <a:solidFill>
                  <a:srgbClr val="3E4C63"/>
                </a:solidFill>
                <a:latin typeface="Helvetica Neue"/>
              </a:rPr>
              <a:t> </a:t>
            </a:r>
          </a:p>
        </p:txBody>
      </p:sp>
      <p:sp>
        <p:nvSpPr>
          <p:cNvPr id="2" name="Slide Number Placeholder 1">
            <a:extLst>
              <a:ext uri="{FF2B5EF4-FFF2-40B4-BE49-F238E27FC236}">
                <a16:creationId xmlns:a16="http://schemas.microsoft.com/office/drawing/2014/main" id="{A31A6077-081D-AE6C-3936-16EF83B2A9B8}"/>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11" name="TextBox 10">
            <a:extLst>
              <a:ext uri="{FF2B5EF4-FFF2-40B4-BE49-F238E27FC236}">
                <a16:creationId xmlns:a16="http://schemas.microsoft.com/office/drawing/2014/main" id="{2220BC90-98C7-D382-DFEE-6930B07E892B}"/>
              </a:ext>
            </a:extLst>
          </p:cNvPr>
          <p:cNvSpPr txBox="1"/>
          <p:nvPr/>
        </p:nvSpPr>
        <p:spPr>
          <a:xfrm>
            <a:off x="0" y="181610"/>
            <a:ext cx="8229600" cy="246221"/>
          </a:xfrm>
          <a:prstGeom prst="rect">
            <a:avLst/>
          </a:prstGeom>
          <a:noFill/>
        </p:spPr>
        <p:txBody>
          <a:bodyPr wrap="square" anchor="t">
            <a:spAutoFit/>
          </a:bodyPr>
          <a:lstStyle/>
          <a:p>
            <a:pPr>
              <a:spcAft>
                <a:spcPts val="400"/>
              </a:spcAft>
            </a:pPr>
            <a:r>
              <a:rPr lang="en-US" sz="1000" b="1" dirty="0">
                <a:solidFill>
                  <a:srgbClr val="0066BE"/>
                </a:solidFill>
                <a:latin typeface="Menlo"/>
              </a:rPr>
              <a:t>02 · Ingestion · splitting the text</a:t>
            </a:r>
          </a:p>
        </p:txBody>
      </p:sp>
    </p:spTree>
    <p:extLst>
      <p:ext uri="{BB962C8B-B14F-4D97-AF65-F5344CB8AC3E}">
        <p14:creationId xmlns:p14="http://schemas.microsoft.com/office/powerpoint/2010/main" val="4012617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C">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355600" y="487191"/>
            <a:ext cx="11684000" cy="431800"/>
          </a:xfrm>
          <a:prstGeom prst="rect">
            <a:avLst/>
          </a:prstGeom>
          <a:noFill/>
          <a:ln>
            <a:noFill/>
          </a:ln>
        </p:spPr>
        <p:txBody>
          <a:bodyPr wrap="square" lIns="0" tIns="0" rIns="0" bIns="0">
            <a:noAutofit/>
          </a:bodyPr>
          <a:lstStyle/>
          <a:p>
            <a:pPr algn="l"/>
            <a:r>
              <a:rPr lang="en-US" sz="2000" b="1" i="0" dirty="0">
                <a:solidFill>
                  <a:srgbClr val="0E1116"/>
                </a:solidFill>
                <a:latin typeface="Helvetica Neue"/>
              </a:rPr>
              <a:t>Each fragment goes to the AI: text in, structured facts out</a:t>
            </a:r>
          </a:p>
        </p:txBody>
      </p:sp>
      <p:sp>
        <p:nvSpPr>
          <p:cNvPr id="102" name="Shape 102"/>
          <p:cNvSpPr/>
          <p:nvPr/>
        </p:nvSpPr>
        <p:spPr>
          <a:xfrm>
            <a:off x="254000" y="914400"/>
            <a:ext cx="2794000" cy="5753100"/>
          </a:xfrm>
          <a:prstGeom prst="roundRect">
            <a:avLst>
              <a:gd name="adj" fmla="val 6000"/>
            </a:avLst>
          </a:prstGeom>
          <a:solidFill>
            <a:srgbClr val="F2F4F6"/>
          </a:solidFill>
          <a:ln w="9525">
            <a:solidFill>
              <a:srgbClr val="CFD5DB"/>
            </a:solidFill>
          </a:ln>
        </p:spPr>
        <p:txBody>
          <a:bodyPr/>
          <a:lstStyle/>
          <a:p>
            <a:endParaRPr/>
          </a:p>
        </p:txBody>
      </p:sp>
      <p:sp>
        <p:nvSpPr>
          <p:cNvPr id="103" name="Text 103"/>
          <p:cNvSpPr txBox="1"/>
          <p:nvPr/>
        </p:nvSpPr>
        <p:spPr>
          <a:xfrm>
            <a:off x="355600" y="1016000"/>
            <a:ext cx="2590800" cy="177800"/>
          </a:xfrm>
          <a:prstGeom prst="rect">
            <a:avLst/>
          </a:prstGeom>
          <a:noFill/>
          <a:ln>
            <a:noFill/>
          </a:ln>
        </p:spPr>
        <p:txBody>
          <a:bodyPr wrap="square" lIns="0" tIns="0" rIns="0" bIns="0">
            <a:noAutofit/>
          </a:bodyPr>
          <a:lstStyle/>
          <a:p>
            <a:pPr algn="l">
              <a:spcAft>
                <a:spcPts val="150"/>
              </a:spcAft>
            </a:pPr>
            <a:r>
              <a:rPr lang="en-US" sz="1000" b="1" i="0" dirty="0">
                <a:solidFill>
                  <a:srgbClr val="848D9B"/>
                </a:solidFill>
                <a:latin typeface="Helvetica Neue"/>
              </a:rPr>
              <a:t>THE DOCUMENT AS IT ARRIVES</a:t>
            </a:r>
          </a:p>
        </p:txBody>
      </p:sp>
      <p:sp>
        <p:nvSpPr>
          <p:cNvPr id="104" name="Shape 104"/>
          <p:cNvSpPr/>
          <p:nvPr/>
        </p:nvSpPr>
        <p:spPr>
          <a:xfrm>
            <a:off x="355600" y="1244600"/>
            <a:ext cx="2590800" cy="4826000"/>
          </a:xfrm>
          <a:prstGeom prst="rect">
            <a:avLst/>
          </a:prstGeom>
          <a:solidFill>
            <a:srgbClr val="FFFFFF"/>
          </a:solidFill>
          <a:ln w="9525">
            <a:solidFill>
              <a:srgbClr val="CFD5DB"/>
            </a:solidFill>
          </a:ln>
        </p:spPr>
        <p:txBody>
          <a:bodyPr/>
          <a:lstStyle/>
          <a:p>
            <a:endParaRPr/>
          </a:p>
        </p:txBody>
      </p:sp>
      <p:sp>
        <p:nvSpPr>
          <p:cNvPr id="105" name="Text 105"/>
          <p:cNvSpPr txBox="1"/>
          <p:nvPr/>
        </p:nvSpPr>
        <p:spPr>
          <a:xfrm>
            <a:off x="457200" y="1346200"/>
            <a:ext cx="2387600" cy="4648200"/>
          </a:xfrm>
          <a:prstGeom prst="rect">
            <a:avLst/>
          </a:prstGeom>
          <a:noFill/>
          <a:ln>
            <a:noFill/>
          </a:ln>
        </p:spPr>
        <p:txBody>
          <a:bodyPr wrap="square" lIns="0" tIns="0" rIns="0" bIns="0">
            <a:noAutofit/>
          </a:bodyPr>
          <a:lstStyle/>
          <a:p>
            <a:pPr algn="l">
              <a:lnSpc>
                <a:spcPct val="118000"/>
              </a:lnSpc>
              <a:spcAft>
                <a:spcPts val="300"/>
              </a:spcAft>
            </a:pPr>
            <a:r>
              <a:rPr lang="en-US" sz="1100" b="1" i="0" dirty="0">
                <a:solidFill>
                  <a:srgbClr val="0E1116"/>
                </a:solidFill>
                <a:latin typeface="Menlo"/>
              </a:rPr>
              <a:t># Alfred Nobel</a:t>
            </a:r>
          </a:p>
          <a:p>
            <a:pPr algn="l">
              <a:lnSpc>
                <a:spcPct val="118000"/>
              </a:lnSpc>
              <a:spcAft>
                <a:spcPts val="300"/>
              </a:spcAft>
            </a:pPr>
            <a:r>
              <a:rPr lang="en-US" sz="1000" b="0" i="0" dirty="0">
                <a:solidFill>
                  <a:srgbClr val="0E1116"/>
                </a:solidFill>
                <a:latin typeface="Menlo"/>
              </a:rPr>
              <a:t>Alfred Bernhard Nobel (21 October 1833 – 10 December 1896) was a Swedish chemist, engineer, inventor, businessman, and philanthropist. He is known for creating dynamite as well as having bequeathed his fortune to establish the Nobel Prize. […] Nobel's most famous invention was dynamite, an explosive using nitroglycerin; it was patented in 1867.</a:t>
            </a:r>
          </a:p>
          <a:p>
            <a:pPr algn="l">
              <a:lnSpc>
                <a:spcPct val="118000"/>
              </a:lnSpc>
              <a:spcAft>
                <a:spcPts val="150"/>
              </a:spcAft>
            </a:pPr>
            <a:r>
              <a:rPr lang="en-US" sz="1000" b="0" i="0" dirty="0">
                <a:solidFill>
                  <a:srgbClr val="0E1116"/>
                </a:solidFill>
                <a:latin typeface="Menlo"/>
              </a:rPr>
              <a:t>Nobel displayed an early aptitude for science […] and filed his first patent at the age of 24. He embarked on many business ventures with his family, most notably owning the company Bofors, which was an iron and steel producer that he had developed into a major manufacturer of cannons and other armaments.</a:t>
            </a:r>
          </a:p>
        </p:txBody>
      </p:sp>
      <p:sp>
        <p:nvSpPr>
          <p:cNvPr id="106" name="Text 106"/>
          <p:cNvSpPr txBox="1"/>
          <p:nvPr/>
        </p:nvSpPr>
        <p:spPr>
          <a:xfrm>
            <a:off x="355600" y="6172200"/>
            <a:ext cx="2590800" cy="381000"/>
          </a:xfrm>
          <a:prstGeom prst="rect">
            <a:avLst/>
          </a:prstGeom>
          <a:noFill/>
          <a:ln>
            <a:noFill/>
          </a:ln>
        </p:spPr>
        <p:txBody>
          <a:bodyPr wrap="square" lIns="0" tIns="0" rIns="0" bIns="0">
            <a:noAutofit/>
          </a:bodyPr>
          <a:lstStyle/>
          <a:p>
            <a:pPr algn="l">
              <a:spcAft>
                <a:spcPts val="0"/>
              </a:spcAft>
            </a:pPr>
            <a:r>
              <a:rPr lang="en-US" sz="1000" i="1" dirty="0">
                <a:solidFill>
                  <a:srgbClr val="848D9B"/>
                </a:solidFill>
                <a:latin typeface="Helvetica Neue"/>
              </a:rPr>
              <a:t>Real Wikipedia text</a:t>
            </a:r>
          </a:p>
        </p:txBody>
      </p:sp>
      <p:sp>
        <p:nvSpPr>
          <p:cNvPr id="107" name="Arrow 107"/>
          <p:cNvSpPr/>
          <p:nvPr/>
        </p:nvSpPr>
        <p:spPr>
          <a:xfrm>
            <a:off x="3098800" y="3175000"/>
            <a:ext cx="304800" cy="254000"/>
          </a:xfrm>
          <a:prstGeom prst="rightArrow">
            <a:avLst/>
          </a:prstGeom>
          <a:solidFill>
            <a:srgbClr val="CFD5DB"/>
          </a:solidFill>
          <a:ln>
            <a:noFill/>
          </a:ln>
        </p:spPr>
        <p:txBody>
          <a:bodyPr/>
          <a:lstStyle/>
          <a:p>
            <a:endParaRPr/>
          </a:p>
        </p:txBody>
      </p:sp>
      <p:sp>
        <p:nvSpPr>
          <p:cNvPr id="108" name="Shape 108"/>
          <p:cNvSpPr/>
          <p:nvPr/>
        </p:nvSpPr>
        <p:spPr>
          <a:xfrm>
            <a:off x="3454400" y="914400"/>
            <a:ext cx="3302000" cy="5753100"/>
          </a:xfrm>
          <a:prstGeom prst="roundRect">
            <a:avLst>
              <a:gd name="adj" fmla="val 6000"/>
            </a:avLst>
          </a:prstGeom>
          <a:solidFill>
            <a:srgbClr val="F2F4F6"/>
          </a:solidFill>
          <a:ln w="9525">
            <a:solidFill>
              <a:srgbClr val="CFD5DB"/>
            </a:solidFill>
          </a:ln>
        </p:spPr>
        <p:txBody>
          <a:bodyPr/>
          <a:lstStyle/>
          <a:p>
            <a:endParaRPr/>
          </a:p>
        </p:txBody>
      </p:sp>
      <p:sp>
        <p:nvSpPr>
          <p:cNvPr id="109" name="Text 109"/>
          <p:cNvSpPr txBox="1"/>
          <p:nvPr/>
        </p:nvSpPr>
        <p:spPr>
          <a:xfrm>
            <a:off x="3556000" y="1003300"/>
            <a:ext cx="3098800" cy="165100"/>
          </a:xfrm>
          <a:prstGeom prst="rect">
            <a:avLst/>
          </a:prstGeom>
          <a:noFill/>
          <a:ln>
            <a:noFill/>
          </a:ln>
        </p:spPr>
        <p:txBody>
          <a:bodyPr wrap="square" lIns="0" tIns="0" rIns="0" bIns="0">
            <a:noAutofit/>
          </a:bodyPr>
          <a:lstStyle/>
          <a:p>
            <a:pPr algn="l">
              <a:spcAft>
                <a:spcPts val="150"/>
              </a:spcAft>
            </a:pPr>
            <a:r>
              <a:rPr lang="en-US" sz="1000" b="1" i="0" dirty="0">
                <a:solidFill>
                  <a:srgbClr val="848D9B"/>
                </a:solidFill>
                <a:latin typeface="Helvetica Neue"/>
              </a:rPr>
              <a:t>SPLIT INTO FRAGMENTS</a:t>
            </a:r>
          </a:p>
        </p:txBody>
      </p:sp>
      <p:sp>
        <p:nvSpPr>
          <p:cNvPr id="110" name="Shape 110"/>
          <p:cNvSpPr/>
          <p:nvPr/>
        </p:nvSpPr>
        <p:spPr>
          <a:xfrm>
            <a:off x="3556000" y="1206500"/>
            <a:ext cx="3098800" cy="571500"/>
          </a:xfrm>
          <a:prstGeom prst="rect">
            <a:avLst/>
          </a:prstGeom>
          <a:solidFill>
            <a:srgbClr val="FFFFFF"/>
          </a:solidFill>
          <a:ln w="9525">
            <a:solidFill>
              <a:srgbClr val="CFD5DB"/>
            </a:solidFill>
          </a:ln>
        </p:spPr>
        <p:txBody>
          <a:bodyPr/>
          <a:lstStyle/>
          <a:p>
            <a:endParaRPr/>
          </a:p>
        </p:txBody>
      </p:sp>
      <p:sp>
        <p:nvSpPr>
          <p:cNvPr id="111" name="Text 111"/>
          <p:cNvSpPr txBox="1"/>
          <p:nvPr/>
        </p:nvSpPr>
        <p:spPr>
          <a:xfrm>
            <a:off x="3632200" y="1231900"/>
            <a:ext cx="2946400" cy="423280"/>
          </a:xfrm>
          <a:prstGeom prst="rect">
            <a:avLst/>
          </a:prstGeom>
          <a:noFill/>
          <a:ln>
            <a:noFill/>
          </a:ln>
        </p:spPr>
        <p:txBody>
          <a:bodyPr wrap="square" lIns="0" tIns="0" rIns="0" bIns="0">
            <a:noAutofit/>
          </a:bodyPr>
          <a:lstStyle/>
          <a:p>
            <a:pPr algn="l">
              <a:spcAft>
                <a:spcPts val="50"/>
              </a:spcAft>
            </a:pPr>
            <a:r>
              <a:rPr lang="en-US" sz="1050" b="1" i="0" dirty="0">
                <a:solidFill>
                  <a:srgbClr val="848D9B"/>
                </a:solidFill>
                <a:latin typeface="Menlo"/>
              </a:rPr>
              <a:t># Alfred Nobel</a:t>
            </a:r>
          </a:p>
          <a:p>
            <a:pPr algn="l">
              <a:spcAft>
                <a:spcPts val="100"/>
              </a:spcAft>
            </a:pPr>
            <a:r>
              <a:rPr lang="en-US" sz="900" b="0" i="1" dirty="0">
                <a:solidFill>
                  <a:srgbClr val="848D9B"/>
                </a:solidFill>
                <a:latin typeface="Helvetica Neue"/>
              </a:rPr>
              <a:t>Context, not content — the AI is told which article this is.</a:t>
            </a:r>
          </a:p>
        </p:txBody>
      </p:sp>
      <p:sp>
        <p:nvSpPr>
          <p:cNvPr id="112" name="Shape 112"/>
          <p:cNvSpPr/>
          <p:nvPr/>
        </p:nvSpPr>
        <p:spPr>
          <a:xfrm>
            <a:off x="3556000" y="1841500"/>
            <a:ext cx="3098800" cy="2476500"/>
          </a:xfrm>
          <a:prstGeom prst="roundRect">
            <a:avLst>
              <a:gd name="adj" fmla="val 6000"/>
            </a:avLst>
          </a:prstGeom>
          <a:solidFill>
            <a:srgbClr val="E2EFEC"/>
          </a:solidFill>
          <a:ln>
            <a:noFill/>
          </a:ln>
        </p:spPr>
        <p:txBody>
          <a:bodyPr/>
          <a:lstStyle/>
          <a:p>
            <a:endParaRPr/>
          </a:p>
        </p:txBody>
      </p:sp>
      <p:sp>
        <p:nvSpPr>
          <p:cNvPr id="113" name="Text 113"/>
          <p:cNvSpPr txBox="1"/>
          <p:nvPr/>
        </p:nvSpPr>
        <p:spPr>
          <a:xfrm>
            <a:off x="3632200" y="1892300"/>
            <a:ext cx="2794000" cy="177800"/>
          </a:xfrm>
          <a:prstGeom prst="rect">
            <a:avLst/>
          </a:prstGeom>
          <a:noFill/>
          <a:ln>
            <a:noFill/>
          </a:ln>
        </p:spPr>
        <p:txBody>
          <a:bodyPr wrap="square" lIns="0" tIns="0" rIns="0" bIns="0">
            <a:noAutofit/>
          </a:bodyPr>
          <a:lstStyle/>
          <a:p>
            <a:pPr algn="l">
              <a:spcAft>
                <a:spcPts val="150"/>
              </a:spcAft>
            </a:pPr>
            <a:r>
              <a:rPr lang="en-US" sz="1000" b="1" i="0" dirty="0">
                <a:solidFill>
                  <a:srgbClr val="0B7E99"/>
                </a:solidFill>
                <a:latin typeface="Helvetica Neue"/>
              </a:rPr>
              <a:t>FRAGMENT 1</a:t>
            </a:r>
          </a:p>
        </p:txBody>
      </p:sp>
      <p:sp>
        <p:nvSpPr>
          <p:cNvPr id="114" name="Text 114"/>
          <p:cNvSpPr txBox="1"/>
          <p:nvPr/>
        </p:nvSpPr>
        <p:spPr>
          <a:xfrm>
            <a:off x="3632200" y="2095500"/>
            <a:ext cx="2794000" cy="2159000"/>
          </a:xfrm>
          <a:prstGeom prst="rect">
            <a:avLst/>
          </a:prstGeom>
          <a:noFill/>
          <a:ln>
            <a:noFill/>
          </a:ln>
        </p:spPr>
        <p:txBody>
          <a:bodyPr wrap="square" lIns="0" tIns="0" rIns="0" bIns="0">
            <a:noAutofit/>
          </a:bodyPr>
          <a:lstStyle/>
          <a:p>
            <a:pPr algn="l">
              <a:lnSpc>
                <a:spcPct val="118000"/>
              </a:lnSpc>
              <a:spcAft>
                <a:spcPts val="0"/>
              </a:spcAft>
            </a:pPr>
            <a:r>
              <a:rPr lang="en-US" sz="1000" b="0" i="0" dirty="0">
                <a:solidFill>
                  <a:srgbClr val="0E1116"/>
                </a:solidFill>
                <a:latin typeface="Menlo"/>
              </a:rPr>
              <a:t>Alfred Bernhard Nobel (21 October 1833 – 10 December 1896) was a Swedish chemist, engineer, inventor, businessman, and philanthropist. He is known for creating dynamite as well as having bequeathed his fortune to establish the Nobel Prize. […] Nobel's most famous invention was dynamite, an explosive using nitroglycerin; it was patented in 1867.</a:t>
            </a:r>
          </a:p>
        </p:txBody>
      </p:sp>
      <p:sp>
        <p:nvSpPr>
          <p:cNvPr id="115" name="Shape 115"/>
          <p:cNvSpPr/>
          <p:nvPr/>
        </p:nvSpPr>
        <p:spPr>
          <a:xfrm>
            <a:off x="3556000" y="4394200"/>
            <a:ext cx="3098800" cy="2222500"/>
          </a:xfrm>
          <a:prstGeom prst="roundRect">
            <a:avLst>
              <a:gd name="adj" fmla="val 6000"/>
            </a:avLst>
          </a:prstGeom>
          <a:solidFill>
            <a:srgbClr val="ECE7F9"/>
          </a:solidFill>
          <a:ln>
            <a:noFill/>
          </a:ln>
        </p:spPr>
        <p:txBody>
          <a:bodyPr/>
          <a:lstStyle/>
          <a:p>
            <a:endParaRPr/>
          </a:p>
        </p:txBody>
      </p:sp>
      <p:sp>
        <p:nvSpPr>
          <p:cNvPr id="116" name="Text 116"/>
          <p:cNvSpPr txBox="1"/>
          <p:nvPr/>
        </p:nvSpPr>
        <p:spPr>
          <a:xfrm>
            <a:off x="3632200" y="4445000"/>
            <a:ext cx="2794000" cy="177800"/>
          </a:xfrm>
          <a:prstGeom prst="rect">
            <a:avLst/>
          </a:prstGeom>
          <a:noFill/>
          <a:ln>
            <a:noFill/>
          </a:ln>
        </p:spPr>
        <p:txBody>
          <a:bodyPr wrap="square" lIns="0" tIns="0" rIns="0" bIns="0">
            <a:noAutofit/>
          </a:bodyPr>
          <a:lstStyle/>
          <a:p>
            <a:pPr algn="l">
              <a:spcAft>
                <a:spcPts val="150"/>
              </a:spcAft>
            </a:pPr>
            <a:r>
              <a:rPr lang="en-US" sz="1000" b="1" i="0" dirty="0">
                <a:solidFill>
                  <a:srgbClr val="6D4FC4"/>
                </a:solidFill>
                <a:latin typeface="Helvetica Neue"/>
              </a:rPr>
              <a:t>FRAGMENT 2</a:t>
            </a:r>
          </a:p>
        </p:txBody>
      </p:sp>
      <p:sp>
        <p:nvSpPr>
          <p:cNvPr id="117" name="Text 117"/>
          <p:cNvSpPr txBox="1"/>
          <p:nvPr/>
        </p:nvSpPr>
        <p:spPr>
          <a:xfrm>
            <a:off x="3632200" y="4648200"/>
            <a:ext cx="2794000" cy="1905000"/>
          </a:xfrm>
          <a:prstGeom prst="rect">
            <a:avLst/>
          </a:prstGeom>
          <a:noFill/>
          <a:ln>
            <a:noFill/>
          </a:ln>
        </p:spPr>
        <p:txBody>
          <a:bodyPr wrap="square" lIns="0" tIns="0" rIns="0" bIns="0">
            <a:noAutofit/>
          </a:bodyPr>
          <a:lstStyle/>
          <a:p>
            <a:pPr algn="l">
              <a:lnSpc>
                <a:spcPct val="118000"/>
              </a:lnSpc>
              <a:spcAft>
                <a:spcPts val="0"/>
              </a:spcAft>
            </a:pPr>
            <a:r>
              <a:rPr lang="en-US" sz="1000" b="0" i="0" dirty="0">
                <a:solidFill>
                  <a:srgbClr val="0E1116"/>
                </a:solidFill>
                <a:latin typeface="Menlo"/>
              </a:rPr>
              <a:t>Nobel displayed an early aptitude for science […] and filed his first patent at the age of 24. He embarked on many business ventures with his family, most notably owning the company Bofors, which was an iron and steel producer that he had developed into a major manufacturer of cannons and other armaments.</a:t>
            </a:r>
          </a:p>
        </p:txBody>
      </p:sp>
      <p:sp>
        <p:nvSpPr>
          <p:cNvPr id="118" name="Text 118"/>
          <p:cNvSpPr txBox="1"/>
          <p:nvPr/>
        </p:nvSpPr>
        <p:spPr>
          <a:xfrm>
            <a:off x="3810000" y="6096000"/>
            <a:ext cx="2844800" cy="25400"/>
          </a:xfrm>
          <a:prstGeom prst="rect">
            <a:avLst/>
          </a:prstGeom>
          <a:noFill/>
          <a:ln>
            <a:noFill/>
          </a:ln>
        </p:spPr>
        <p:txBody>
          <a:bodyPr wrap="square" lIns="0" tIns="0" rIns="0" bIns="0">
            <a:noAutofit/>
          </a:bodyPr>
          <a:lstStyle/>
          <a:p>
            <a:pPr algn="l">
              <a:lnSpc>
                <a:spcPct val="115000"/>
              </a:lnSpc>
              <a:spcAft>
                <a:spcPts val="100"/>
              </a:spcAft>
            </a:pPr>
            <a:endParaRPr/>
          </a:p>
        </p:txBody>
      </p:sp>
      <p:sp>
        <p:nvSpPr>
          <p:cNvPr id="119" name="Text 119"/>
          <p:cNvSpPr txBox="1"/>
          <p:nvPr/>
        </p:nvSpPr>
        <p:spPr>
          <a:xfrm>
            <a:off x="3810000" y="6096000"/>
            <a:ext cx="2844800" cy="25400"/>
          </a:xfrm>
          <a:prstGeom prst="rect">
            <a:avLst/>
          </a:prstGeom>
          <a:noFill/>
          <a:ln>
            <a:noFill/>
          </a:ln>
        </p:spPr>
        <p:txBody>
          <a:bodyPr wrap="square" lIns="0" tIns="0" rIns="0" bIns="0">
            <a:noAutofit/>
          </a:bodyPr>
          <a:lstStyle/>
          <a:p>
            <a:pPr algn="l">
              <a:lnSpc>
                <a:spcPct val="115000"/>
              </a:lnSpc>
              <a:spcAft>
                <a:spcPts val="100"/>
              </a:spcAft>
            </a:pPr>
            <a:endParaRPr/>
          </a:p>
        </p:txBody>
      </p:sp>
      <p:sp>
        <p:nvSpPr>
          <p:cNvPr id="200" name="Arrow 200"/>
          <p:cNvSpPr/>
          <p:nvPr/>
        </p:nvSpPr>
        <p:spPr>
          <a:xfrm>
            <a:off x="6807200" y="3175000"/>
            <a:ext cx="304800" cy="254000"/>
          </a:xfrm>
          <a:prstGeom prst="rightArrow">
            <a:avLst/>
          </a:prstGeom>
          <a:solidFill>
            <a:srgbClr val="CFD5DB"/>
          </a:solidFill>
          <a:ln>
            <a:noFill/>
          </a:ln>
        </p:spPr>
        <p:txBody>
          <a:bodyPr/>
          <a:lstStyle/>
          <a:p>
            <a:endParaRPr/>
          </a:p>
        </p:txBody>
      </p:sp>
      <p:sp>
        <p:nvSpPr>
          <p:cNvPr id="201" name="Shape 201"/>
          <p:cNvSpPr/>
          <p:nvPr/>
        </p:nvSpPr>
        <p:spPr>
          <a:xfrm>
            <a:off x="7162800" y="914400"/>
            <a:ext cx="4775200" cy="5753100"/>
          </a:xfrm>
          <a:prstGeom prst="roundRect">
            <a:avLst>
              <a:gd name="adj" fmla="val 6000"/>
            </a:avLst>
          </a:prstGeom>
          <a:solidFill>
            <a:srgbClr val="F2F4F6"/>
          </a:solidFill>
          <a:ln w="9525">
            <a:solidFill>
              <a:srgbClr val="CFD5DB"/>
            </a:solidFill>
          </a:ln>
        </p:spPr>
        <p:txBody>
          <a:bodyPr/>
          <a:lstStyle/>
          <a:p>
            <a:endParaRPr/>
          </a:p>
        </p:txBody>
      </p:sp>
      <p:sp>
        <p:nvSpPr>
          <p:cNvPr id="202" name="Text 202"/>
          <p:cNvSpPr txBox="1"/>
          <p:nvPr/>
        </p:nvSpPr>
        <p:spPr>
          <a:xfrm>
            <a:off x="7264400" y="1016000"/>
            <a:ext cx="4572000" cy="177800"/>
          </a:xfrm>
          <a:prstGeom prst="rect">
            <a:avLst/>
          </a:prstGeom>
          <a:noFill/>
          <a:ln>
            <a:noFill/>
          </a:ln>
        </p:spPr>
        <p:txBody>
          <a:bodyPr wrap="square" lIns="0" tIns="0" rIns="0" bIns="0">
            <a:noAutofit/>
          </a:bodyPr>
          <a:lstStyle/>
          <a:p>
            <a:pPr algn="l">
              <a:spcAft>
                <a:spcPts val="150"/>
              </a:spcAft>
            </a:pPr>
            <a:r>
              <a:rPr lang="en-US" sz="1000" b="1" i="0" dirty="0">
                <a:solidFill>
                  <a:srgbClr val="848D9B"/>
                </a:solidFill>
                <a:latin typeface="Helvetica Neue"/>
              </a:rPr>
              <a:t>WHAT THE AI RETURNS</a:t>
            </a:r>
          </a:p>
        </p:txBody>
      </p:sp>
      <p:sp>
        <p:nvSpPr>
          <p:cNvPr id="203" name="Shape 203"/>
          <p:cNvSpPr/>
          <p:nvPr/>
        </p:nvSpPr>
        <p:spPr>
          <a:xfrm>
            <a:off x="7162800" y="1244600"/>
            <a:ext cx="4775200" cy="3733800"/>
          </a:xfrm>
          <a:prstGeom prst="roundRect">
            <a:avLst>
              <a:gd name="adj" fmla="val 6000"/>
            </a:avLst>
          </a:prstGeom>
          <a:solidFill>
            <a:srgbClr val="FFFFFF"/>
          </a:solidFill>
          <a:ln w="15875">
            <a:solidFill>
              <a:srgbClr val="0B7E99"/>
            </a:solidFill>
          </a:ln>
        </p:spPr>
        <p:txBody>
          <a:bodyPr/>
          <a:lstStyle/>
          <a:p>
            <a:endParaRPr/>
          </a:p>
        </p:txBody>
      </p:sp>
      <p:sp>
        <p:nvSpPr>
          <p:cNvPr id="204" name="Text 204"/>
          <p:cNvSpPr txBox="1"/>
          <p:nvPr/>
        </p:nvSpPr>
        <p:spPr>
          <a:xfrm>
            <a:off x="7315200" y="1320800"/>
            <a:ext cx="4470400" cy="177800"/>
          </a:xfrm>
          <a:prstGeom prst="rect">
            <a:avLst/>
          </a:prstGeom>
          <a:noFill/>
          <a:ln>
            <a:noFill/>
          </a:ln>
        </p:spPr>
        <p:txBody>
          <a:bodyPr wrap="square" lIns="0" tIns="0" rIns="0" bIns="0">
            <a:noAutofit/>
          </a:bodyPr>
          <a:lstStyle/>
          <a:p>
            <a:pPr algn="l">
              <a:spcAft>
                <a:spcPts val="150"/>
              </a:spcAft>
            </a:pPr>
            <a:r>
              <a:rPr lang="en-US" sz="1050" b="1" i="0" dirty="0">
                <a:solidFill>
                  <a:srgbClr val="0B7E99"/>
                </a:solidFill>
                <a:latin typeface="Helvetica Neue"/>
              </a:rPr>
              <a:t>fragment 1 → AI → candidates</a:t>
            </a:r>
          </a:p>
        </p:txBody>
      </p:sp>
      <p:sp>
        <p:nvSpPr>
          <p:cNvPr id="205" name="Text 205"/>
          <p:cNvSpPr txBox="1"/>
          <p:nvPr/>
        </p:nvSpPr>
        <p:spPr>
          <a:xfrm>
            <a:off x="7315200" y="1512711"/>
            <a:ext cx="4470400" cy="1079500"/>
          </a:xfrm>
          <a:prstGeom prst="rect">
            <a:avLst/>
          </a:prstGeom>
          <a:noFill/>
          <a:ln>
            <a:noFill/>
          </a:ln>
        </p:spPr>
        <p:txBody>
          <a:bodyPr wrap="square" lIns="0" tIns="0" rIns="0" bIns="0">
            <a:noAutofit/>
          </a:bodyPr>
          <a:lstStyle/>
          <a:p>
            <a:pPr algn="l">
              <a:spcAft>
                <a:spcPts val="400"/>
              </a:spcAft>
            </a:pPr>
            <a:r>
              <a:rPr lang="en-US" sz="1000" b="1" i="0" spc="40" dirty="0">
                <a:solidFill>
                  <a:srgbClr val="0066BE"/>
                </a:solidFill>
                <a:latin typeface="Menlo"/>
              </a:rPr>
              <a:t>THINGS</a:t>
            </a:r>
          </a:p>
          <a:p>
            <a:pPr marL="182880" algn="l">
              <a:lnSpc>
                <a:spcPct val="118000"/>
              </a:lnSpc>
              <a:spcAft>
                <a:spcPts val="100"/>
              </a:spcAft>
            </a:pPr>
            <a:r>
              <a:rPr lang="en-US" sz="1000" b="1" i="0" dirty="0">
                <a:solidFill>
                  <a:srgbClr val="0E1116"/>
                </a:solidFill>
                <a:latin typeface="Menlo"/>
              </a:rPr>
              <a:t>Alfred Nobel</a:t>
            </a:r>
            <a:r>
              <a:rPr lang="en-US" sz="1000" b="0" i="0" dirty="0">
                <a:solidFill>
                  <a:srgbClr val="848D9B"/>
                </a:solidFill>
                <a:latin typeface="Menlo"/>
              </a:rPr>
              <a:t>  ·  Person  ·  </a:t>
            </a:r>
            <a:r>
              <a:rPr lang="en-US" sz="1000" b="0" i="1" dirty="0">
                <a:solidFill>
                  <a:srgbClr val="848D9B"/>
                </a:solidFill>
                <a:latin typeface="Menlo"/>
              </a:rPr>
              <a:t>“Swedish chemist, inventor, philanthropist (1833–1896)”</a:t>
            </a:r>
          </a:p>
          <a:p>
            <a:pPr marL="182880" algn="l">
              <a:lnSpc>
                <a:spcPct val="118000"/>
              </a:lnSpc>
              <a:spcAft>
                <a:spcPts val="100"/>
              </a:spcAft>
            </a:pPr>
            <a:r>
              <a:rPr lang="en-US" sz="1000" b="1" i="0" dirty="0">
                <a:solidFill>
                  <a:srgbClr val="0E1116"/>
                </a:solidFill>
                <a:latin typeface="Menlo"/>
              </a:rPr>
              <a:t>dynamite</a:t>
            </a:r>
            <a:r>
              <a:rPr lang="en-US" sz="1000" b="0" i="0" dirty="0">
                <a:solidFill>
                  <a:srgbClr val="848D9B"/>
                </a:solidFill>
                <a:latin typeface="Menlo"/>
              </a:rPr>
              <a:t>  ·  Invention  ·  </a:t>
            </a:r>
            <a:r>
              <a:rPr lang="en-US" sz="1000" b="0" i="1" dirty="0">
                <a:solidFill>
                  <a:srgbClr val="848D9B"/>
                </a:solidFill>
                <a:latin typeface="Menlo"/>
              </a:rPr>
              <a:t>“explosive using nitroglycerin”</a:t>
            </a:r>
          </a:p>
          <a:p>
            <a:pPr marL="182880" algn="l">
              <a:lnSpc>
                <a:spcPct val="118000"/>
              </a:lnSpc>
              <a:spcAft>
                <a:spcPts val="0"/>
              </a:spcAft>
            </a:pPr>
            <a:r>
              <a:rPr lang="en-US" sz="1000" b="1" i="0" dirty="0">
                <a:solidFill>
                  <a:srgbClr val="0E1116"/>
                </a:solidFill>
                <a:latin typeface="Menlo"/>
              </a:rPr>
              <a:t>Nobel Prize</a:t>
            </a:r>
            <a:r>
              <a:rPr lang="en-US" sz="1000" b="0" i="0" dirty="0">
                <a:solidFill>
                  <a:srgbClr val="848D9B"/>
                </a:solidFill>
                <a:latin typeface="Menlo"/>
              </a:rPr>
              <a:t>  ·  Award  ·  </a:t>
            </a:r>
            <a:r>
              <a:rPr lang="en-US" sz="1000" b="0" i="1" dirty="0">
                <a:solidFill>
                  <a:srgbClr val="848D9B"/>
                </a:solidFill>
                <a:latin typeface="Menlo"/>
              </a:rPr>
              <a:t>“prize from Nobel's fortune”</a:t>
            </a:r>
          </a:p>
        </p:txBody>
      </p:sp>
      <p:sp>
        <p:nvSpPr>
          <p:cNvPr id="206" name="Text 206"/>
          <p:cNvSpPr txBox="1"/>
          <p:nvPr/>
        </p:nvSpPr>
        <p:spPr>
          <a:xfrm>
            <a:off x="7315200" y="2687900"/>
            <a:ext cx="4470400" cy="2095500"/>
          </a:xfrm>
          <a:prstGeom prst="rect">
            <a:avLst/>
          </a:prstGeom>
          <a:noFill/>
          <a:ln>
            <a:noFill/>
          </a:ln>
        </p:spPr>
        <p:txBody>
          <a:bodyPr wrap="square" lIns="0" tIns="0" rIns="0" bIns="0">
            <a:noAutofit/>
          </a:bodyPr>
          <a:lstStyle/>
          <a:p>
            <a:pPr algn="l">
              <a:spcAft>
                <a:spcPts val="400"/>
              </a:spcAft>
            </a:pPr>
            <a:r>
              <a:rPr lang="en-US" sz="1000" b="1" i="0" spc="40" dirty="0">
                <a:solidFill>
                  <a:srgbClr val="0066BE"/>
                </a:solidFill>
                <a:latin typeface="Menlo"/>
              </a:rPr>
              <a:t>FACTS</a:t>
            </a:r>
          </a:p>
          <a:p>
            <a:pPr marL="182880">
              <a:lnSpc>
                <a:spcPct val="118000"/>
              </a:lnSpc>
              <a:spcAft>
                <a:spcPts val="50"/>
              </a:spcAft>
            </a:pPr>
            <a:r>
              <a:rPr lang="en-US" sz="1000" b="1" i="0" dirty="0">
                <a:solidFill>
                  <a:srgbClr val="0E1116"/>
                </a:solidFill>
                <a:latin typeface="Menlo"/>
              </a:rPr>
              <a:t>(Alfred Nobel) </a:t>
            </a:r>
            <a:r>
              <a:rPr lang="en-US" sz="1000" b="1" dirty="0">
                <a:solidFill>
                  <a:srgbClr val="0E1116"/>
                </a:solidFill>
                <a:latin typeface="Menlo"/>
              </a:rPr>
              <a:t>→ created </a:t>
            </a:r>
            <a:r>
              <a:rPr lang="en-US" sz="1000" b="1" i="0" dirty="0">
                <a:solidFill>
                  <a:srgbClr val="0E1116"/>
                </a:solidFill>
                <a:latin typeface="Menlo"/>
              </a:rPr>
              <a:t>→ (dynamite)</a:t>
            </a:r>
          </a:p>
          <a:p>
            <a:pPr marL="182880" algn="l">
              <a:lnSpc>
                <a:spcPct val="118000"/>
              </a:lnSpc>
              <a:spcAft>
                <a:spcPts val="50"/>
              </a:spcAft>
            </a:pPr>
            <a:r>
              <a:rPr lang="en-US" sz="1000" b="0" i="1" dirty="0">
                <a:solidFill>
                  <a:srgbClr val="848D9B"/>
                </a:solidFill>
                <a:latin typeface="Menlo"/>
              </a:rPr>
              <a:t>quote: “He is known for creating dynamite”</a:t>
            </a:r>
          </a:p>
          <a:p>
            <a:pPr marL="182880" algn="l">
              <a:lnSpc>
                <a:spcPct val="118000"/>
              </a:lnSpc>
              <a:spcAft>
                <a:spcPts val="200"/>
              </a:spcAft>
            </a:pPr>
            <a:r>
              <a:rPr lang="en-US" sz="1000" b="1" i="0" dirty="0">
                <a:solidFill>
                  <a:srgbClr val="0B7E99"/>
                </a:solidFill>
                <a:latin typeface="Helvetica Neue"/>
              </a:rPr>
              <a:t>→ </a:t>
            </a:r>
            <a:r>
              <a:rPr lang="en-US" sz="1000" b="0" i="1" dirty="0">
                <a:solidFill>
                  <a:srgbClr val="0B7E99"/>
                </a:solidFill>
                <a:latin typeface="Helvetica Neue"/>
              </a:rPr>
              <a:t>“He” resolved to Alfred Nobel — pronouns are resolved, never extracted as things.</a:t>
            </a:r>
          </a:p>
          <a:p>
            <a:pPr marL="182880">
              <a:lnSpc>
                <a:spcPct val="118000"/>
              </a:lnSpc>
              <a:spcAft>
                <a:spcPts val="50"/>
              </a:spcAft>
            </a:pPr>
            <a:r>
              <a:rPr lang="en-US" sz="1000" b="1" i="0" dirty="0">
                <a:solidFill>
                  <a:srgbClr val="0E1116"/>
                </a:solidFill>
                <a:latin typeface="Menlo"/>
              </a:rPr>
              <a:t>(Alfred Nobel) </a:t>
            </a:r>
            <a:r>
              <a:rPr lang="en-US" sz="1000" b="1" dirty="0">
                <a:solidFill>
                  <a:srgbClr val="0E1116"/>
                </a:solidFill>
                <a:latin typeface="Menlo"/>
              </a:rPr>
              <a:t>→ established </a:t>
            </a:r>
            <a:r>
              <a:rPr lang="en-US" sz="1000" b="1" i="0" dirty="0">
                <a:solidFill>
                  <a:srgbClr val="0E1116"/>
                </a:solidFill>
                <a:latin typeface="Menlo"/>
              </a:rPr>
              <a:t>→ (Nobel Prize)</a:t>
            </a:r>
          </a:p>
          <a:p>
            <a:pPr marL="182880" algn="l">
              <a:lnSpc>
                <a:spcPct val="118000"/>
              </a:lnSpc>
              <a:spcAft>
                <a:spcPts val="200"/>
              </a:spcAft>
            </a:pPr>
            <a:r>
              <a:rPr lang="en-US" sz="1000" b="0" i="1" dirty="0">
                <a:solidFill>
                  <a:srgbClr val="848D9B"/>
                </a:solidFill>
                <a:latin typeface="Menlo"/>
              </a:rPr>
              <a:t>quote: “…bequeathed his fortune to establish the Nobel Prize”</a:t>
            </a:r>
          </a:p>
          <a:p>
            <a:pPr marL="182880">
              <a:lnSpc>
                <a:spcPct val="118000"/>
              </a:lnSpc>
              <a:spcAft>
                <a:spcPts val="50"/>
              </a:spcAft>
            </a:pPr>
            <a:r>
              <a:rPr lang="en-US" sz="1000" b="1" i="0" dirty="0">
                <a:solidFill>
                  <a:srgbClr val="0E1116"/>
                </a:solidFill>
                <a:latin typeface="Menlo"/>
              </a:rPr>
              <a:t>(Alfred Nobel) </a:t>
            </a:r>
            <a:r>
              <a:rPr lang="en-US" sz="1000" b="1" dirty="0">
                <a:solidFill>
                  <a:srgbClr val="0E1116"/>
                </a:solidFill>
                <a:latin typeface="Menlo"/>
              </a:rPr>
              <a:t>→ patented </a:t>
            </a:r>
            <a:r>
              <a:rPr lang="en-US" sz="1000" b="1" i="0" dirty="0">
                <a:solidFill>
                  <a:srgbClr val="0E1116"/>
                </a:solidFill>
                <a:latin typeface="Menlo"/>
              </a:rPr>
              <a:t>→ (dynamite)   </a:t>
            </a:r>
            <a:r>
              <a:rPr lang="en-US" sz="1000" b="0" i="0" dirty="0">
                <a:solidFill>
                  <a:srgbClr val="0E1116"/>
                </a:solidFill>
                <a:latin typeface="Menlo"/>
              </a:rPr>
              <a:t>starts: 1867</a:t>
            </a:r>
          </a:p>
          <a:p>
            <a:pPr marL="182880" algn="l">
              <a:lnSpc>
                <a:spcPct val="118000"/>
              </a:lnSpc>
              <a:spcAft>
                <a:spcPts val="50"/>
              </a:spcAft>
            </a:pPr>
            <a:r>
              <a:rPr lang="en-US" sz="1000" b="0" i="1" dirty="0">
                <a:solidFill>
                  <a:srgbClr val="848D9B"/>
                </a:solidFill>
                <a:latin typeface="Menlo"/>
              </a:rPr>
              <a:t>quote: “it was patented in 1867”</a:t>
            </a:r>
          </a:p>
          <a:p>
            <a:pPr marL="182880" algn="l">
              <a:lnSpc>
                <a:spcPct val="118000"/>
              </a:lnSpc>
              <a:spcAft>
                <a:spcPts val="0"/>
              </a:spcAft>
            </a:pPr>
            <a:r>
              <a:rPr lang="en-US" sz="1000" b="1" i="0" dirty="0">
                <a:solidFill>
                  <a:srgbClr val="0B7E99"/>
                </a:solidFill>
                <a:latin typeface="Helvetica Neue"/>
              </a:rPr>
              <a:t>→ </a:t>
            </a:r>
            <a:r>
              <a:rPr lang="en-US" sz="1000" b="0" i="1" dirty="0">
                <a:solidFill>
                  <a:srgbClr val="0B7E99"/>
                </a:solidFill>
                <a:latin typeface="Helvetica Neue"/>
              </a:rPr>
              <a:t>“it” resolved to dynamite; if unresolvable, the fact is dropped, not guessed.</a:t>
            </a:r>
          </a:p>
        </p:txBody>
      </p:sp>
      <p:sp>
        <p:nvSpPr>
          <p:cNvPr id="207" name="Shape 207"/>
          <p:cNvSpPr/>
          <p:nvPr/>
        </p:nvSpPr>
        <p:spPr>
          <a:xfrm>
            <a:off x="7162800" y="5075409"/>
            <a:ext cx="4775200" cy="1689100"/>
          </a:xfrm>
          <a:prstGeom prst="roundRect">
            <a:avLst>
              <a:gd name="adj" fmla="val 6000"/>
            </a:avLst>
          </a:prstGeom>
          <a:solidFill>
            <a:srgbClr val="FFFFFF"/>
          </a:solidFill>
          <a:ln w="15875">
            <a:solidFill>
              <a:srgbClr val="6D4FC4"/>
            </a:solidFill>
          </a:ln>
        </p:spPr>
        <p:txBody>
          <a:bodyPr/>
          <a:lstStyle/>
          <a:p>
            <a:endParaRPr/>
          </a:p>
        </p:txBody>
      </p:sp>
      <p:sp>
        <p:nvSpPr>
          <p:cNvPr id="208" name="Text 208"/>
          <p:cNvSpPr txBox="1"/>
          <p:nvPr/>
        </p:nvSpPr>
        <p:spPr>
          <a:xfrm>
            <a:off x="7315200" y="5126209"/>
            <a:ext cx="4470400" cy="177800"/>
          </a:xfrm>
          <a:prstGeom prst="rect">
            <a:avLst/>
          </a:prstGeom>
          <a:noFill/>
          <a:ln>
            <a:noFill/>
          </a:ln>
        </p:spPr>
        <p:txBody>
          <a:bodyPr wrap="square" lIns="0" tIns="0" rIns="0" bIns="0">
            <a:noAutofit/>
          </a:bodyPr>
          <a:lstStyle/>
          <a:p>
            <a:pPr algn="l">
              <a:spcAft>
                <a:spcPts val="150"/>
              </a:spcAft>
            </a:pPr>
            <a:r>
              <a:rPr lang="en-US" sz="1050" b="1" i="0" dirty="0">
                <a:solidFill>
                  <a:srgbClr val="6D4FC4"/>
                </a:solidFill>
                <a:latin typeface="Helvetica Neue"/>
              </a:rPr>
              <a:t>fragment 2 → AI → candidates</a:t>
            </a:r>
          </a:p>
        </p:txBody>
      </p:sp>
      <p:sp>
        <p:nvSpPr>
          <p:cNvPr id="209" name="Text 209"/>
          <p:cNvSpPr txBox="1"/>
          <p:nvPr/>
        </p:nvSpPr>
        <p:spPr>
          <a:xfrm>
            <a:off x="7315200" y="5329409"/>
            <a:ext cx="4470400" cy="304800"/>
          </a:xfrm>
          <a:prstGeom prst="rect">
            <a:avLst/>
          </a:prstGeom>
          <a:noFill/>
          <a:ln>
            <a:noFill/>
          </a:ln>
        </p:spPr>
        <p:txBody>
          <a:bodyPr wrap="square" lIns="0" tIns="0" rIns="0" bIns="0">
            <a:noAutofit/>
          </a:bodyPr>
          <a:lstStyle/>
          <a:p>
            <a:pPr algn="l">
              <a:spcAft>
                <a:spcPts val="400"/>
              </a:spcAft>
            </a:pPr>
            <a:r>
              <a:rPr lang="en-US" sz="1000" b="1" i="0" spc="40" dirty="0">
                <a:solidFill>
                  <a:srgbClr val="0066BE"/>
                </a:solidFill>
                <a:latin typeface="Menlo"/>
              </a:rPr>
              <a:t>THINGS</a:t>
            </a:r>
          </a:p>
          <a:p>
            <a:pPr marL="182880" algn="l">
              <a:lnSpc>
                <a:spcPct val="115000"/>
              </a:lnSpc>
              <a:spcAft>
                <a:spcPts val="0"/>
              </a:spcAft>
            </a:pPr>
            <a:r>
              <a:rPr lang="en-US" sz="1000" b="1" i="0" dirty="0">
                <a:solidFill>
                  <a:srgbClr val="0E1116"/>
                </a:solidFill>
                <a:latin typeface="Menlo"/>
              </a:rPr>
              <a:t>Bofors</a:t>
            </a:r>
            <a:r>
              <a:rPr lang="en-US" sz="1000" b="0" i="0" dirty="0">
                <a:solidFill>
                  <a:srgbClr val="848D9B"/>
                </a:solidFill>
                <a:latin typeface="Menlo"/>
              </a:rPr>
              <a:t>  ·  Company  ·  </a:t>
            </a:r>
            <a:r>
              <a:rPr lang="en-US" sz="1000" b="0" i="1" dirty="0">
                <a:solidFill>
                  <a:srgbClr val="848D9B"/>
                </a:solidFill>
                <a:latin typeface="Menlo"/>
              </a:rPr>
              <a:t>“iron and steel producer”</a:t>
            </a:r>
          </a:p>
        </p:txBody>
      </p:sp>
      <p:sp>
        <p:nvSpPr>
          <p:cNvPr id="210" name="Text 210"/>
          <p:cNvSpPr txBox="1"/>
          <p:nvPr/>
        </p:nvSpPr>
        <p:spPr>
          <a:xfrm>
            <a:off x="7315200" y="5710409"/>
            <a:ext cx="4470400" cy="990600"/>
          </a:xfrm>
          <a:prstGeom prst="rect">
            <a:avLst/>
          </a:prstGeom>
          <a:noFill/>
          <a:ln>
            <a:noFill/>
          </a:ln>
        </p:spPr>
        <p:txBody>
          <a:bodyPr wrap="square" lIns="0" tIns="0" rIns="0" bIns="0">
            <a:noAutofit/>
          </a:bodyPr>
          <a:lstStyle/>
          <a:p>
            <a:pPr algn="l">
              <a:spcAft>
                <a:spcPts val="400"/>
              </a:spcAft>
            </a:pPr>
            <a:r>
              <a:rPr lang="en-US" sz="1000" b="1" i="0" spc="40" dirty="0">
                <a:solidFill>
                  <a:srgbClr val="0066BE"/>
                </a:solidFill>
                <a:latin typeface="Menlo"/>
              </a:rPr>
              <a:t>FACTS</a:t>
            </a:r>
          </a:p>
          <a:p>
            <a:pPr marL="182880">
              <a:lnSpc>
                <a:spcPct val="115000"/>
              </a:lnSpc>
              <a:spcAft>
                <a:spcPts val="40"/>
              </a:spcAft>
            </a:pPr>
            <a:r>
              <a:rPr lang="en-US" sz="1000" b="1" i="0" dirty="0">
                <a:solidFill>
                  <a:srgbClr val="0E1116"/>
                </a:solidFill>
                <a:latin typeface="Menlo"/>
              </a:rPr>
              <a:t>(Alfred Nobel) </a:t>
            </a:r>
            <a:r>
              <a:rPr lang="en-US" sz="1000" b="1" dirty="0">
                <a:solidFill>
                  <a:srgbClr val="0E1116"/>
                </a:solidFill>
                <a:latin typeface="Menlo"/>
              </a:rPr>
              <a:t>→ owned </a:t>
            </a:r>
            <a:r>
              <a:rPr lang="en-US" sz="1000" b="1" i="0" dirty="0">
                <a:solidFill>
                  <a:srgbClr val="0E1116"/>
                </a:solidFill>
                <a:latin typeface="Menlo"/>
              </a:rPr>
              <a:t>→ (Bofors)</a:t>
            </a:r>
          </a:p>
          <a:p>
            <a:pPr marL="182880" algn="l">
              <a:lnSpc>
                <a:spcPct val="115000"/>
              </a:lnSpc>
              <a:spcAft>
                <a:spcPts val="70"/>
              </a:spcAft>
            </a:pPr>
            <a:r>
              <a:rPr lang="en-US" sz="1000" b="0" i="1" dirty="0">
                <a:solidFill>
                  <a:srgbClr val="848D9B"/>
                </a:solidFill>
                <a:latin typeface="Menlo"/>
              </a:rPr>
              <a:t>quote: “…owning the company Bofors”</a:t>
            </a:r>
          </a:p>
          <a:p>
            <a:pPr marL="182880" algn="l">
              <a:lnSpc>
                <a:spcPct val="115000"/>
              </a:lnSpc>
              <a:spcAft>
                <a:spcPts val="0"/>
              </a:spcAft>
            </a:pPr>
            <a:r>
              <a:rPr lang="en-US" sz="1000" b="1" i="0" dirty="0">
                <a:solidFill>
                  <a:srgbClr val="6D4FC4"/>
                </a:solidFill>
                <a:latin typeface="Helvetica Neue"/>
              </a:rPr>
              <a:t>→ </a:t>
            </a:r>
            <a:r>
              <a:rPr lang="en-US" sz="1000" b="0" i="1" dirty="0">
                <a:solidFill>
                  <a:srgbClr val="6D4FC4"/>
                </a:solidFill>
                <a:latin typeface="Helvetica Neue"/>
              </a:rPr>
              <a:t>“family”, “ventures”, “armaments” — generic, never extracted.</a:t>
            </a:r>
          </a:p>
        </p:txBody>
      </p:sp>
      <p:sp>
        <p:nvSpPr>
          <p:cNvPr id="7" name="TextBox 6">
            <a:extLst>
              <a:ext uri="{FF2B5EF4-FFF2-40B4-BE49-F238E27FC236}">
                <a16:creationId xmlns:a16="http://schemas.microsoft.com/office/drawing/2014/main" id="{C0E2627E-5DD3-481F-AA32-EED1C616E239}"/>
              </a:ext>
            </a:extLst>
          </p:cNvPr>
          <p:cNvSpPr txBox="1"/>
          <p:nvPr/>
        </p:nvSpPr>
        <p:spPr>
          <a:xfrm>
            <a:off x="0" y="181610"/>
            <a:ext cx="8229600" cy="246221"/>
          </a:xfrm>
          <a:prstGeom prst="rect">
            <a:avLst/>
          </a:prstGeom>
          <a:noFill/>
        </p:spPr>
        <p:txBody>
          <a:bodyPr wrap="square" anchor="t">
            <a:spAutoFit/>
          </a:bodyPr>
          <a:lstStyle/>
          <a:p>
            <a:pPr>
              <a:spcAft>
                <a:spcPts val="400"/>
              </a:spcAft>
            </a:pPr>
            <a:r>
              <a:rPr lang="en-US" sz="1000" b="1" dirty="0">
                <a:solidFill>
                  <a:srgbClr val="0066BE"/>
                </a:solidFill>
                <a:latin typeface="Menlo"/>
              </a:rPr>
              <a:t>03 · Ingestion · finding fact candidates</a:t>
            </a:r>
          </a:p>
        </p:txBody>
      </p:sp>
    </p:spTree>
    <p:extLst>
      <p:ext uri="{BB962C8B-B14F-4D97-AF65-F5344CB8AC3E}">
        <p14:creationId xmlns:p14="http://schemas.microsoft.com/office/powerpoint/2010/main" val="876199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292608"/>
            <a:ext cx="8229600" cy="246221"/>
          </a:xfrm>
          <a:prstGeom prst="rect">
            <a:avLst/>
          </a:prstGeom>
          <a:noFill/>
        </p:spPr>
        <p:txBody>
          <a:bodyPr wrap="square" anchor="t">
            <a:spAutoFit/>
          </a:bodyPr>
          <a:lstStyle/>
          <a:p>
            <a:pPr algn="l">
              <a:lnSpc>
                <a:spcPct val="100000"/>
              </a:lnSpc>
              <a:spcAft>
                <a:spcPts val="400"/>
              </a:spcAft>
            </a:pPr>
            <a:r>
              <a:rPr sz="1000" b="1" dirty="0">
                <a:solidFill>
                  <a:srgbClr val="0066BE"/>
                </a:solidFill>
                <a:latin typeface="Menlo"/>
              </a:rPr>
              <a:t>04 · Ingestion · checking </a:t>
            </a:r>
            <a:r>
              <a:rPr lang="en-US" sz="1000" b="1" dirty="0">
                <a:solidFill>
                  <a:srgbClr val="0066BE"/>
                </a:solidFill>
                <a:latin typeface="Menlo"/>
              </a:rPr>
              <a:t>everything</a:t>
            </a:r>
            <a:endParaRPr sz="1000" b="1" dirty="0">
              <a:solidFill>
                <a:srgbClr val="0066BE"/>
              </a:solidFill>
              <a:latin typeface="Menlo"/>
            </a:endParaRPr>
          </a:p>
        </p:txBody>
      </p:sp>
      <p:sp>
        <p:nvSpPr>
          <p:cNvPr id="4" name="TextBox 3"/>
          <p:cNvSpPr txBox="1"/>
          <p:nvPr/>
        </p:nvSpPr>
        <p:spPr>
          <a:xfrm>
            <a:off x="548640" y="566928"/>
            <a:ext cx="11064240" cy="548640"/>
          </a:xfrm>
          <a:prstGeom prst="rect">
            <a:avLst/>
          </a:prstGeom>
          <a:noFill/>
        </p:spPr>
        <p:txBody>
          <a:bodyPr wrap="square" anchor="t">
            <a:spAutoFit/>
          </a:bodyPr>
          <a:lstStyle/>
          <a:p>
            <a:pPr algn="l">
              <a:lnSpc>
                <a:spcPct val="100000"/>
              </a:lnSpc>
              <a:spcAft>
                <a:spcPts val="400"/>
              </a:spcAft>
            </a:pPr>
            <a:r>
              <a:rPr sz="2400" b="1">
                <a:solidFill>
                  <a:srgbClr val="00175A"/>
                </a:solidFill>
                <a:latin typeface="Helvetica Neue"/>
              </a:rPr>
              <a:t>“Do we already know this thing?” — three checks, cheapest first</a:t>
            </a:r>
          </a:p>
        </p:txBody>
      </p:sp>
      <p:sp>
        <p:nvSpPr>
          <p:cNvPr id="5" name="Rounded Rectangle 4"/>
          <p:cNvSpPr/>
          <p:nvPr/>
        </p:nvSpPr>
        <p:spPr>
          <a:xfrm>
            <a:off x="548640" y="1371600"/>
            <a:ext cx="3703320" cy="196596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150" b="1" dirty="0">
                <a:solidFill>
                  <a:srgbClr val="0066BE"/>
                </a:solidFill>
                <a:latin typeface="Menlo"/>
              </a:rPr>
              <a:t>check 1 · exact name</a:t>
            </a:r>
          </a:p>
          <a:p>
            <a:pPr algn="l">
              <a:spcAft>
                <a:spcPts val="300"/>
              </a:spcAft>
            </a:pPr>
            <a:r>
              <a:rPr sz="950" b="0" dirty="0">
                <a:solidFill>
                  <a:srgbClr val="3E4C63"/>
                </a:solidFill>
                <a:latin typeface="Helvetica Neue"/>
              </a:rPr>
              <a:t>Is the exact name (ignoring case) already in the graph db?</a:t>
            </a:r>
          </a:p>
          <a:p>
            <a:pPr algn="l">
              <a:spcAft>
                <a:spcPts val="300"/>
              </a:spcAft>
            </a:pPr>
            <a:endParaRPr sz="950" b="0" dirty="0">
              <a:solidFill>
                <a:srgbClr val="3E4C63"/>
              </a:solidFill>
              <a:latin typeface="Helvetica Neue"/>
            </a:endParaRPr>
          </a:p>
          <a:p>
            <a:pPr algn="l">
              <a:spcAft>
                <a:spcPts val="300"/>
              </a:spcAft>
            </a:pPr>
            <a:r>
              <a:rPr sz="950" b="0" dirty="0">
                <a:solidFill>
                  <a:srgbClr val="00175A"/>
                </a:solidFill>
                <a:latin typeface="Menlo"/>
              </a:rPr>
              <a:t>“Alfred Nobel” → found</a:t>
            </a:r>
          </a:p>
          <a:p>
            <a:pPr algn="l">
              <a:spcAft>
                <a:spcPts val="300"/>
              </a:spcAft>
            </a:pPr>
            <a:r>
              <a:rPr sz="950" b="0" dirty="0">
                <a:solidFill>
                  <a:srgbClr val="3E4C63"/>
                </a:solidFill>
                <a:latin typeface="Helvetica Neue"/>
              </a:rPr>
              <a:t>→ reuse the existing thing. Free, instant, done.</a:t>
            </a:r>
          </a:p>
        </p:txBody>
      </p:sp>
      <p:sp>
        <p:nvSpPr>
          <p:cNvPr id="6" name="Rounded Rectangle 5"/>
          <p:cNvSpPr/>
          <p:nvPr/>
        </p:nvSpPr>
        <p:spPr>
          <a:xfrm>
            <a:off x="3327400" y="1397000"/>
            <a:ext cx="822960" cy="274320"/>
          </a:xfrm>
          <a:prstGeom prst="roundRect">
            <a:avLst>
              <a:gd name="adj" fmla="val 50000"/>
            </a:avLst>
          </a:prstGeom>
          <a:solidFill>
            <a:srgbClr val="DEEDFA"/>
          </a:solidFill>
          <a:ln w="9525">
            <a:solidFill>
              <a:srgbClr val="0066BE"/>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lstStyle/>
          <a:p>
            <a:pPr algn="ctr">
              <a:spcAft>
                <a:spcPts val="300"/>
              </a:spcAft>
            </a:pPr>
            <a:r>
              <a:rPr sz="800" b="1" dirty="0">
                <a:solidFill>
                  <a:srgbClr val="0066BE"/>
                </a:solidFill>
                <a:latin typeface="Menlo"/>
              </a:rPr>
              <a:t>graph db</a:t>
            </a:r>
          </a:p>
        </p:txBody>
      </p:sp>
      <p:sp>
        <p:nvSpPr>
          <p:cNvPr id="7" name="Rounded Rectangle 6"/>
          <p:cNvSpPr/>
          <p:nvPr/>
        </p:nvSpPr>
        <p:spPr>
          <a:xfrm>
            <a:off x="4480560" y="1371600"/>
            <a:ext cx="3703320" cy="196596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spcAft>
                <a:spcPts val="300"/>
              </a:spcAft>
            </a:pPr>
            <a:r>
              <a:rPr lang="en-US" sz="1150" b="1" dirty="0">
                <a:solidFill>
                  <a:srgbClr val="0066BE"/>
                </a:solidFill>
                <a:latin typeface="Menlo"/>
              </a:rPr>
              <a:t>check 2 · similar meaning</a:t>
            </a:r>
          </a:p>
          <a:p>
            <a:pPr algn="l">
              <a:spcAft>
                <a:spcPts val="300"/>
              </a:spcAft>
            </a:pPr>
            <a:r>
              <a:rPr sz="950" b="0" dirty="0">
                <a:solidFill>
                  <a:srgbClr val="3E4C63"/>
                </a:solidFill>
                <a:latin typeface="Helvetica Neue"/>
              </a:rPr>
              <a:t>Turn name + description into a vector, search the vector db for the closest known thing.</a:t>
            </a:r>
          </a:p>
          <a:p>
            <a:pPr algn="l">
              <a:spcAft>
                <a:spcPts val="300"/>
              </a:spcAft>
            </a:pPr>
            <a:endParaRPr sz="950" b="0" dirty="0">
              <a:solidFill>
                <a:srgbClr val="3E4C63"/>
              </a:solidFill>
              <a:latin typeface="Helvetica Neue"/>
            </a:endParaRPr>
          </a:p>
          <a:p>
            <a:pPr algn="l">
              <a:spcAft>
                <a:spcPts val="300"/>
              </a:spcAft>
            </a:pPr>
            <a:r>
              <a:rPr sz="950" b="0" dirty="0">
                <a:solidFill>
                  <a:srgbClr val="00175A"/>
                </a:solidFill>
                <a:latin typeface="Menlo"/>
              </a:rPr>
              <a:t>“Nobel Prize” ≈ “The Nobel Prize”: 0.93 → same thing</a:t>
            </a:r>
          </a:p>
          <a:p>
            <a:pPr algn="l">
              <a:spcAft>
                <a:spcPts val="300"/>
              </a:spcAft>
            </a:pPr>
            <a:r>
              <a:rPr sz="950" b="0" dirty="0">
                <a:solidFill>
                  <a:srgbClr val="00175A"/>
                </a:solidFill>
                <a:latin typeface="Menlo"/>
              </a:rPr>
              <a:t>“Bofors”: best hit 0.38 → nothing like it → new thing</a:t>
            </a:r>
          </a:p>
        </p:txBody>
      </p:sp>
      <p:sp>
        <p:nvSpPr>
          <p:cNvPr id="8" name="Rounded Rectangle 7"/>
          <p:cNvSpPr/>
          <p:nvPr/>
        </p:nvSpPr>
        <p:spPr>
          <a:xfrm>
            <a:off x="7181850" y="1397000"/>
            <a:ext cx="900684" cy="274320"/>
          </a:xfrm>
          <a:prstGeom prst="roundRect">
            <a:avLst>
              <a:gd name="adj" fmla="val 50000"/>
            </a:avLst>
          </a:prstGeom>
          <a:solidFill>
            <a:srgbClr val="DEEDFA"/>
          </a:solidFill>
          <a:ln w="9525">
            <a:solidFill>
              <a:srgbClr val="00175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spcAft>
                <a:spcPts val="300"/>
              </a:spcAft>
            </a:pPr>
            <a:r>
              <a:rPr sz="800" b="1" dirty="0">
                <a:solidFill>
                  <a:srgbClr val="00175A"/>
                </a:solidFill>
                <a:latin typeface="Menlo"/>
              </a:rPr>
              <a:t>vector db</a:t>
            </a:r>
          </a:p>
        </p:txBody>
      </p:sp>
      <p:sp>
        <p:nvSpPr>
          <p:cNvPr id="9" name="Rounded Rectangle 8"/>
          <p:cNvSpPr/>
          <p:nvPr/>
        </p:nvSpPr>
        <p:spPr>
          <a:xfrm>
            <a:off x="8412480" y="1371600"/>
            <a:ext cx="3657600" cy="196596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150" b="1">
                <a:solidFill>
                  <a:srgbClr val="0066BE"/>
                </a:solidFill>
                <a:latin typeface="Menlo"/>
              </a:rPr>
              <a:t>check 3 · too close to call</a:t>
            </a:r>
          </a:p>
          <a:p>
            <a:pPr algn="l">
              <a:spcAft>
                <a:spcPts val="300"/>
              </a:spcAft>
            </a:pPr>
            <a:r>
              <a:rPr sz="950" b="0">
                <a:solidFill>
                  <a:srgbClr val="3E4C63"/>
                </a:solidFill>
                <a:latin typeface="Helvetica Neue"/>
              </a:rPr>
              <a:t>Scores between the bars go to the AI as a judge — told to prefer “different” when unsure.</a:t>
            </a:r>
          </a:p>
          <a:p>
            <a:pPr algn="l">
              <a:spcAft>
                <a:spcPts val="300"/>
              </a:spcAft>
            </a:pPr>
            <a:endParaRPr sz="950" b="0">
              <a:solidFill>
                <a:srgbClr val="3E4C63"/>
              </a:solidFill>
              <a:latin typeface="Helvetica Neue"/>
            </a:endParaRPr>
          </a:p>
          <a:p>
            <a:pPr algn="l">
              <a:spcAft>
                <a:spcPts val="300"/>
              </a:spcAft>
            </a:pPr>
            <a:r>
              <a:rPr sz="950" b="0">
                <a:solidFill>
                  <a:srgbClr val="3E4C63"/>
                </a:solidFill>
                <a:latin typeface="Helvetica Neue"/>
              </a:rPr>
              <a:t>Real case: Nobel Prize vs Nobel Foundation scored 0.86 — similar name, different organizations. Gluing two things together is the worst mistake: it's nearly invisible afterwards.</a:t>
            </a:r>
          </a:p>
        </p:txBody>
      </p:sp>
      <p:sp>
        <p:nvSpPr>
          <p:cNvPr id="10" name="Rounded Rectangle 9"/>
          <p:cNvSpPr/>
          <p:nvPr/>
        </p:nvSpPr>
        <p:spPr>
          <a:xfrm>
            <a:off x="11518900" y="1397000"/>
            <a:ext cx="431800" cy="274320"/>
          </a:xfrm>
          <a:prstGeom prst="roundRect">
            <a:avLst>
              <a:gd name="adj" fmla="val 50000"/>
            </a:avLst>
          </a:prstGeom>
          <a:solidFill>
            <a:srgbClr val="DEEDFA"/>
          </a:solidFill>
          <a:ln w="9525" cap="flat" cmpd="sng" algn="ctr">
            <a:solidFill>
              <a:srgbClr val="00175A"/>
            </a:solidFill>
            <a:prstDash val="solid"/>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nchorCtr="0"/>
          <a:lstStyle/>
          <a:p>
            <a:pPr algn="ctr">
              <a:spcAft>
                <a:spcPts val="300"/>
              </a:spcAft>
            </a:pPr>
            <a:r>
              <a:rPr sz="800" b="1">
                <a:solidFill>
                  <a:srgbClr val="00175A"/>
                </a:solidFill>
                <a:latin typeface="Menlo"/>
              </a:rPr>
              <a:t>AI</a:t>
            </a:r>
          </a:p>
        </p:txBody>
      </p:sp>
      <p:sp>
        <p:nvSpPr>
          <p:cNvPr id="11" name="TextBox 10"/>
          <p:cNvSpPr txBox="1"/>
          <p:nvPr/>
        </p:nvSpPr>
        <p:spPr>
          <a:xfrm>
            <a:off x="548640" y="3611880"/>
            <a:ext cx="4572000" cy="274320"/>
          </a:xfrm>
          <a:prstGeom prst="rect">
            <a:avLst/>
          </a:prstGeom>
          <a:noFill/>
        </p:spPr>
        <p:txBody>
          <a:bodyPr wrap="square" anchor="t">
            <a:spAutoFit/>
          </a:bodyPr>
          <a:lstStyle/>
          <a:p>
            <a:pPr algn="l">
              <a:lnSpc>
                <a:spcPct val="100000"/>
              </a:lnSpc>
              <a:spcAft>
                <a:spcPts val="400"/>
              </a:spcAft>
            </a:pPr>
            <a:r>
              <a:rPr sz="1000" b="1">
                <a:solidFill>
                  <a:srgbClr val="3E4C63"/>
                </a:solidFill>
                <a:latin typeface="Helvetica Neue"/>
              </a:rPr>
              <a:t>the similarity score decides which check settles it:</a:t>
            </a:r>
          </a:p>
        </p:txBody>
      </p:sp>
      <p:sp>
        <p:nvSpPr>
          <p:cNvPr id="12" name="Rounded Rectangle 11"/>
          <p:cNvSpPr/>
          <p:nvPr/>
        </p:nvSpPr>
        <p:spPr>
          <a:xfrm>
            <a:off x="548640" y="3931920"/>
            <a:ext cx="4151376" cy="384048"/>
          </a:xfrm>
          <a:prstGeom prst="roundRect">
            <a:avLst>
              <a:gd name="adj" fmla="val 6000"/>
            </a:avLst>
          </a:prstGeom>
          <a:solidFill>
            <a:srgbClr val="A9FFA8"/>
          </a:solidFill>
          <a:ln w="9525">
            <a:solidFill>
              <a:schemeClr val="accent1">
                <a:lumMod val="40000"/>
                <a:lumOff val="60000"/>
              </a:schemeClr>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l">
              <a:spcAft>
                <a:spcPts val="300"/>
              </a:spcAft>
            </a:pPr>
            <a:r>
              <a:rPr sz="900" b="1" dirty="0">
                <a:solidFill>
                  <a:schemeClr val="tx2">
                    <a:lumMod val="50000"/>
                    <a:lumOff val="50000"/>
                  </a:schemeClr>
                </a:solidFill>
                <a:latin typeface="Menlo"/>
              </a:rPr>
              <a:t>NEW THING</a:t>
            </a:r>
          </a:p>
        </p:txBody>
      </p:sp>
      <p:sp>
        <p:nvSpPr>
          <p:cNvPr id="13" name="Rounded Rectangle 12"/>
          <p:cNvSpPr/>
          <p:nvPr/>
        </p:nvSpPr>
        <p:spPr>
          <a:xfrm>
            <a:off x="4700016" y="3931920"/>
            <a:ext cx="3456432" cy="384048"/>
          </a:xfrm>
          <a:prstGeom prst="roundRect">
            <a:avLst>
              <a:gd name="adj" fmla="val 6000"/>
            </a:avLst>
          </a:prstGeom>
          <a:solidFill>
            <a:srgbClr val="B3C0FE"/>
          </a:solidFill>
          <a:ln w="9525">
            <a:solidFill>
              <a:srgbClr val="0066BE"/>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spcAft>
                <a:spcPts val="300"/>
              </a:spcAft>
            </a:pPr>
            <a:r>
              <a:rPr sz="900" b="1" dirty="0">
                <a:solidFill>
                  <a:schemeClr val="tx2">
                    <a:lumMod val="50000"/>
                    <a:lumOff val="50000"/>
                  </a:schemeClr>
                </a:solidFill>
                <a:latin typeface="Menlo"/>
              </a:rPr>
              <a:t>ASK THE AI JUDGE</a:t>
            </a:r>
          </a:p>
        </p:txBody>
      </p:sp>
      <p:sp>
        <p:nvSpPr>
          <p:cNvPr id="14" name="Rounded Rectangle 13"/>
          <p:cNvSpPr/>
          <p:nvPr/>
        </p:nvSpPr>
        <p:spPr>
          <a:xfrm>
            <a:off x="8156448" y="3931920"/>
            <a:ext cx="1737360" cy="384048"/>
          </a:xfrm>
          <a:prstGeom prst="roundRect">
            <a:avLst>
              <a:gd name="adj" fmla="val 6000"/>
            </a:avLst>
          </a:prstGeom>
          <a:solidFill>
            <a:srgbClr val="FFD2EC"/>
          </a:solidFill>
          <a:ln w="9525">
            <a:solidFill>
              <a:srgbClr val="0066BE"/>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spcAft>
                <a:spcPts val="300"/>
              </a:spcAft>
            </a:pPr>
            <a:r>
              <a:rPr sz="900" b="1" dirty="0">
                <a:solidFill>
                  <a:schemeClr val="tx2">
                    <a:lumMod val="50000"/>
                    <a:lumOff val="50000"/>
                  </a:schemeClr>
                </a:solidFill>
                <a:latin typeface="Menlo"/>
              </a:rPr>
              <a:t>SAME THING</a:t>
            </a:r>
          </a:p>
        </p:txBody>
      </p:sp>
      <p:sp>
        <p:nvSpPr>
          <p:cNvPr id="15" name="TextBox 14"/>
          <p:cNvSpPr txBox="1"/>
          <p:nvPr/>
        </p:nvSpPr>
        <p:spPr>
          <a:xfrm>
            <a:off x="4434840" y="4370832"/>
            <a:ext cx="914400" cy="230832"/>
          </a:xfrm>
          <a:prstGeom prst="rect">
            <a:avLst/>
          </a:prstGeom>
          <a:noFill/>
        </p:spPr>
        <p:txBody>
          <a:bodyPr wrap="square" anchor="t">
            <a:spAutoFit/>
          </a:bodyPr>
          <a:lstStyle/>
          <a:p>
            <a:pPr algn="l">
              <a:lnSpc>
                <a:spcPct val="100000"/>
              </a:lnSpc>
              <a:spcAft>
                <a:spcPts val="400"/>
              </a:spcAft>
            </a:pPr>
            <a:r>
              <a:rPr sz="900" b="1" dirty="0">
                <a:solidFill>
                  <a:srgbClr val="5A6577"/>
                </a:solidFill>
                <a:latin typeface="Menlo"/>
              </a:rPr>
              <a:t>0.60</a:t>
            </a:r>
          </a:p>
        </p:txBody>
      </p:sp>
      <p:sp>
        <p:nvSpPr>
          <p:cNvPr id="16" name="TextBox 15"/>
          <p:cNvSpPr txBox="1"/>
          <p:nvPr/>
        </p:nvSpPr>
        <p:spPr>
          <a:xfrm>
            <a:off x="7936992" y="4370832"/>
            <a:ext cx="914400" cy="230832"/>
          </a:xfrm>
          <a:prstGeom prst="rect">
            <a:avLst/>
          </a:prstGeom>
          <a:noFill/>
        </p:spPr>
        <p:txBody>
          <a:bodyPr wrap="square" anchor="t">
            <a:spAutoFit/>
          </a:bodyPr>
          <a:lstStyle/>
          <a:p>
            <a:pPr algn="l">
              <a:lnSpc>
                <a:spcPct val="100000"/>
              </a:lnSpc>
              <a:spcAft>
                <a:spcPts val="400"/>
              </a:spcAft>
            </a:pPr>
            <a:r>
              <a:rPr sz="900" b="1" dirty="0">
                <a:solidFill>
                  <a:srgbClr val="5A6577"/>
                </a:solidFill>
                <a:latin typeface="Menlo"/>
              </a:rPr>
              <a:t>0.90</a:t>
            </a:r>
          </a:p>
        </p:txBody>
      </p:sp>
      <p:sp>
        <p:nvSpPr>
          <p:cNvPr id="17" name="TextBox 16"/>
          <p:cNvSpPr txBox="1"/>
          <p:nvPr/>
        </p:nvSpPr>
        <p:spPr>
          <a:xfrm>
            <a:off x="10012680" y="3977639"/>
            <a:ext cx="1938020" cy="405239"/>
          </a:xfrm>
          <a:prstGeom prst="rect">
            <a:avLst/>
          </a:prstGeom>
          <a:noFill/>
        </p:spPr>
        <p:txBody>
          <a:bodyPr wrap="square" anchor="t">
            <a:spAutoFit/>
          </a:bodyPr>
          <a:lstStyle/>
          <a:p>
            <a:pPr algn="l">
              <a:lnSpc>
                <a:spcPct val="100000"/>
              </a:lnSpc>
              <a:spcAft>
                <a:spcPts val="400"/>
              </a:spcAft>
            </a:pPr>
            <a:r>
              <a:rPr sz="850" b="0" dirty="0">
                <a:solidFill>
                  <a:srgbClr val="5A6577"/>
                </a:solidFill>
                <a:latin typeface="Helvetica Neue"/>
              </a:rPr>
              <a:t>bars measured on real data,
not guessed</a:t>
            </a:r>
          </a:p>
        </p:txBody>
      </p:sp>
      <p:sp>
        <p:nvSpPr>
          <p:cNvPr id="18" name="Rounded Rectangle 17"/>
          <p:cNvSpPr/>
          <p:nvPr/>
        </p:nvSpPr>
        <p:spPr>
          <a:xfrm>
            <a:off x="548640" y="4892040"/>
            <a:ext cx="11530584" cy="96012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150" b="1" dirty="0">
                <a:solidFill>
                  <a:srgbClr val="00175A"/>
                </a:solidFill>
                <a:latin typeface="Helvetica Neue"/>
              </a:rPr>
              <a:t>A match brings its new information with it</a:t>
            </a:r>
            <a:r>
              <a:rPr lang="en-US" sz="1150" b="1" dirty="0">
                <a:solidFill>
                  <a:srgbClr val="00175A"/>
                </a:solidFill>
                <a:latin typeface="Helvetica Neue"/>
              </a:rPr>
              <a:t>:</a:t>
            </a:r>
            <a:endParaRPr sz="1150" b="1" dirty="0">
              <a:solidFill>
                <a:srgbClr val="00175A"/>
              </a:solidFill>
              <a:latin typeface="Helvetica Neue"/>
            </a:endParaRPr>
          </a:p>
          <a:p>
            <a:pPr algn="l">
              <a:spcAft>
                <a:spcPts val="300"/>
              </a:spcAft>
            </a:pPr>
            <a:endParaRPr lang="en-US" sz="1000" b="0" dirty="0">
              <a:solidFill>
                <a:srgbClr val="3E4C63"/>
              </a:solidFill>
              <a:latin typeface="Helvetica Neue"/>
            </a:endParaRPr>
          </a:p>
          <a:p>
            <a:pPr algn="l">
              <a:spcAft>
                <a:spcPts val="300"/>
              </a:spcAft>
            </a:pPr>
            <a:r>
              <a:rPr sz="1000" b="0" dirty="0">
                <a:solidFill>
                  <a:srgbClr val="3E4C63"/>
                </a:solidFill>
                <a:latin typeface="Helvetica Neue"/>
              </a:rPr>
              <a:t>If the graph knows “Alfred Nobel — Swedish chemist and inventor” and this document adds “philanthropist who bequeathed his fortune to establish the Nobel Prize”, we propose the combined description. Combined — never overwritten. If someone edits the description while this proposal waits, the proposal is sent back for a redo instead of clobbering their change.</a:t>
            </a:r>
          </a:p>
        </p:txBody>
      </p:sp>
    </p:spTree>
    <p:extLst>
      <p:ext uri="{BB962C8B-B14F-4D97-AF65-F5344CB8AC3E}">
        <p14:creationId xmlns:p14="http://schemas.microsoft.com/office/powerpoint/2010/main" val="1597663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292608"/>
            <a:ext cx="8229600" cy="274320"/>
          </a:xfrm>
          <a:prstGeom prst="rect">
            <a:avLst/>
          </a:prstGeom>
          <a:noFill/>
        </p:spPr>
        <p:txBody>
          <a:bodyPr wrap="square" anchor="t">
            <a:spAutoFit/>
          </a:bodyPr>
          <a:lstStyle/>
          <a:p>
            <a:pPr algn="l">
              <a:lnSpc>
                <a:spcPct val="100000"/>
              </a:lnSpc>
              <a:spcAft>
                <a:spcPts val="400"/>
              </a:spcAft>
            </a:pPr>
            <a:r>
              <a:rPr sz="1000" b="1">
                <a:solidFill>
                  <a:srgbClr val="0066BE"/>
                </a:solidFill>
                <a:latin typeface="Menlo"/>
              </a:rPr>
              <a:t>05 · Ingestion · checking every fact wording</a:t>
            </a:r>
          </a:p>
        </p:txBody>
      </p:sp>
      <p:sp>
        <p:nvSpPr>
          <p:cNvPr id="4" name="TextBox 3"/>
          <p:cNvSpPr txBox="1"/>
          <p:nvPr/>
        </p:nvSpPr>
        <p:spPr>
          <a:xfrm>
            <a:off x="548640" y="1002300"/>
            <a:ext cx="11222813" cy="830997"/>
          </a:xfrm>
          <a:prstGeom prst="rect">
            <a:avLst/>
          </a:prstGeom>
          <a:noFill/>
        </p:spPr>
        <p:txBody>
          <a:bodyPr wrap="square" anchor="t">
            <a:spAutoFit/>
          </a:bodyPr>
          <a:lstStyle/>
          <a:p>
            <a:pPr>
              <a:spcAft>
                <a:spcPts val="400"/>
              </a:spcAft>
            </a:pPr>
            <a:r>
              <a:rPr lang="en-US" sz="2400" b="1" dirty="0">
                <a:solidFill>
                  <a:srgbClr val="00175A"/>
                </a:solidFill>
                <a:latin typeface="Helvetica Neue"/>
              </a:rPr>
              <a:t>Consolidating facts with those we already know: </a:t>
            </a:r>
            <a:r>
              <a:rPr lang="en-US" sz="2400" i="1" dirty="0">
                <a:solidFill>
                  <a:srgbClr val="00175A"/>
                </a:solidFill>
                <a:latin typeface="Helvetica Neue"/>
              </a:rPr>
              <a:t>Aliases, duplicates and paraphrases.</a:t>
            </a:r>
            <a:endParaRPr sz="2400" i="1" dirty="0">
              <a:solidFill>
                <a:srgbClr val="00175A"/>
              </a:solidFill>
              <a:latin typeface="Helvetica Neue"/>
            </a:endParaRPr>
          </a:p>
        </p:txBody>
      </p:sp>
      <p:sp>
        <p:nvSpPr>
          <p:cNvPr id="5" name="Rounded Rectangle 4"/>
          <p:cNvSpPr/>
          <p:nvPr/>
        </p:nvSpPr>
        <p:spPr>
          <a:xfrm>
            <a:off x="2342330" y="5281847"/>
            <a:ext cx="7507340" cy="73152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050" b="0" dirty="0">
                <a:solidFill>
                  <a:srgbClr val="3E4C63"/>
                </a:solidFill>
                <a:latin typeface="Helvetica Neue"/>
              </a:rPr>
              <a:t>A fact's wording (“</a:t>
            </a:r>
            <a:r>
              <a:rPr sz="1050" b="0" i="1" dirty="0">
                <a:solidFill>
                  <a:srgbClr val="3E4C63"/>
                </a:solidFill>
                <a:latin typeface="Helvetica Neue"/>
              </a:rPr>
              <a:t>is CEO of</a:t>
            </a:r>
            <a:r>
              <a:rPr sz="1050" b="0" dirty="0">
                <a:solidFill>
                  <a:srgbClr val="3E4C63"/>
                </a:solidFill>
                <a:latin typeface="Helvetica Neue"/>
              </a:rPr>
              <a:t>”, “</a:t>
            </a:r>
            <a:r>
              <a:rPr sz="1050" b="0" i="1" dirty="0">
                <a:solidFill>
                  <a:srgbClr val="3E4C63"/>
                </a:solidFill>
                <a:latin typeface="Helvetica Neue"/>
              </a:rPr>
              <a:t>headquartered in</a:t>
            </a:r>
            <a:r>
              <a:rPr sz="1050" b="0" dirty="0">
                <a:solidFill>
                  <a:srgbClr val="3E4C63"/>
                </a:solidFill>
                <a:latin typeface="Helvetica Neue"/>
              </a:rPr>
              <a:t>”) is just a label on the fact — not a thing with identity. </a:t>
            </a:r>
            <a:endParaRPr lang="en-US" sz="1050" dirty="0">
              <a:solidFill>
                <a:srgbClr val="3E4C63"/>
              </a:solidFill>
              <a:latin typeface="Helvetica Neue"/>
            </a:endParaRPr>
          </a:p>
          <a:p>
            <a:pPr algn="l">
              <a:spcAft>
                <a:spcPts val="300"/>
              </a:spcAft>
            </a:pPr>
            <a:r>
              <a:rPr sz="1050" b="0" dirty="0">
                <a:solidFill>
                  <a:srgbClr val="3E4C63"/>
                </a:solidFill>
                <a:latin typeface="Helvetica Neue"/>
              </a:rPr>
              <a:t>New wordings appear constantly (“</a:t>
            </a:r>
            <a:r>
              <a:rPr lang="en-US" sz="1050" b="0" i="1" dirty="0">
                <a:solidFill>
                  <a:srgbClr val="3E4C63"/>
                </a:solidFill>
                <a:latin typeface="Helvetica Neue"/>
              </a:rPr>
              <a:t>is chief executive officer of</a:t>
            </a:r>
            <a:r>
              <a:rPr sz="1050" b="0" dirty="0">
                <a:solidFill>
                  <a:srgbClr val="3E4C63"/>
                </a:solidFill>
                <a:latin typeface="Helvetica Neue"/>
              </a:rPr>
              <a:t>”), and letting every synonym in would split the vocabulary. </a:t>
            </a:r>
            <a:endParaRPr lang="en-US" sz="1050" b="0" dirty="0">
              <a:solidFill>
                <a:srgbClr val="3E4C63"/>
              </a:solidFill>
              <a:latin typeface="Helvetica Neue"/>
            </a:endParaRPr>
          </a:p>
          <a:p>
            <a:pPr algn="l">
              <a:spcAft>
                <a:spcPts val="300"/>
              </a:spcAft>
            </a:pPr>
            <a:r>
              <a:rPr lang="en-US" sz="1050" b="0" dirty="0">
                <a:solidFill>
                  <a:srgbClr val="3E4C63"/>
                </a:solidFill>
                <a:latin typeface="Helvetica Neue"/>
              </a:rPr>
              <a:t>Pipeline performs o</a:t>
            </a:r>
            <a:r>
              <a:rPr sz="1050" b="0" dirty="0">
                <a:solidFill>
                  <a:srgbClr val="3E4C63"/>
                </a:solidFill>
                <a:latin typeface="Helvetica Neue"/>
              </a:rPr>
              <a:t>ne similarity lookup against the wordings the graph already uses.</a:t>
            </a:r>
          </a:p>
        </p:txBody>
      </p:sp>
      <p:sp>
        <p:nvSpPr>
          <p:cNvPr id="2" name="Rounded Rectangle 1">
            <a:extLst>
              <a:ext uri="{FF2B5EF4-FFF2-40B4-BE49-F238E27FC236}">
                <a16:creationId xmlns:a16="http://schemas.microsoft.com/office/drawing/2014/main" id="{CF1EA6CA-699B-F345-A65F-F559249E831E}"/>
              </a:ext>
            </a:extLst>
          </p:cNvPr>
          <p:cNvSpPr/>
          <p:nvPr/>
        </p:nvSpPr>
        <p:spPr>
          <a:xfrm>
            <a:off x="1472079" y="2284923"/>
            <a:ext cx="3883364" cy="2394191"/>
          </a:xfrm>
          <a:prstGeom prst="roundRect">
            <a:avLst/>
          </a:prstGeom>
          <a:solidFill>
            <a:srgbClr val="F5F8FB"/>
          </a:solidFill>
          <a:ln w="9525" cap="flat" cmpd="sng" algn="ctr">
            <a:solidFill>
              <a:srgbClr val="C8D7E6"/>
            </a:solidFill>
            <a:prstDash val="solid"/>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vertOverflow="clip" horzOverflow="clip" rtlCol="0" anchor="ctr" anchorCtr="0"/>
          <a:lstStyle/>
          <a:p>
            <a:pPr algn="l">
              <a:spcAft>
                <a:spcPts val="400"/>
              </a:spcAft>
            </a:pPr>
            <a:r>
              <a:rPr sz="1150" b="1" dirty="0">
                <a:solidFill>
                  <a:srgbClr val="0066BE"/>
                </a:solidFill>
                <a:latin typeface="Menlo"/>
              </a:rPr>
              <a:t>THINGS</a:t>
            </a:r>
          </a:p>
          <a:p>
            <a:pPr algn="l">
              <a:spcBef>
                <a:spcPts val="600"/>
              </a:spcBef>
              <a:spcAft>
                <a:spcPts val="150"/>
              </a:spcAft>
            </a:pPr>
            <a:r>
              <a:rPr sz="1050" b="1" dirty="0">
                <a:solidFill>
                  <a:srgbClr val="00175A"/>
                </a:solidFill>
                <a:latin typeface="Helvetica Neue"/>
              </a:rPr>
              <a:t>The check</a:t>
            </a:r>
          </a:p>
          <a:p>
            <a:pPr algn="l">
              <a:spcAft>
                <a:spcPts val="0"/>
              </a:spcAft>
            </a:pPr>
            <a:r>
              <a:rPr sz="1000" b="0" dirty="0">
                <a:solidFill>
                  <a:srgbClr val="3E4C63"/>
                </a:solidFill>
                <a:latin typeface="Helvetica Neue"/>
              </a:rPr>
              <a:t>exact name → similar vector → AI judge</a:t>
            </a:r>
          </a:p>
          <a:p>
            <a:pPr algn="l">
              <a:spcBef>
                <a:spcPts val="600"/>
              </a:spcBef>
              <a:spcAft>
                <a:spcPts val="150"/>
              </a:spcAft>
            </a:pPr>
            <a:r>
              <a:rPr sz="1050" b="1" dirty="0">
                <a:solidFill>
                  <a:srgbClr val="00175A"/>
                </a:solidFill>
                <a:latin typeface="Helvetica Neue"/>
              </a:rPr>
              <a:t>If similar (≥ 0.85)</a:t>
            </a:r>
          </a:p>
          <a:p>
            <a:pPr algn="l">
              <a:spcAft>
                <a:spcPts val="0"/>
              </a:spcAft>
            </a:pPr>
            <a:r>
              <a:rPr sz="1000" b="0" dirty="0">
                <a:solidFill>
                  <a:srgbClr val="3E4C63"/>
                </a:solidFill>
                <a:latin typeface="Helvetica Neue"/>
              </a:rPr>
              <a:t>proposed merge, reviewable, with an undo link</a:t>
            </a:r>
          </a:p>
          <a:p>
            <a:pPr algn="l">
              <a:spcBef>
                <a:spcPts val="600"/>
              </a:spcBef>
              <a:spcAft>
                <a:spcPts val="150"/>
              </a:spcAft>
            </a:pPr>
            <a:r>
              <a:rPr sz="1050" b="1" dirty="0">
                <a:solidFill>
                  <a:srgbClr val="00175A"/>
                </a:solidFill>
                <a:latin typeface="Helvetica Neue"/>
              </a:rPr>
              <a:t>If nothing similar</a:t>
            </a:r>
          </a:p>
          <a:p>
            <a:pPr algn="l">
              <a:spcAft>
                <a:spcPts val="0"/>
              </a:spcAft>
            </a:pPr>
            <a:r>
              <a:rPr sz="1000" b="0" dirty="0">
                <a:solidFill>
                  <a:srgbClr val="3E4C63"/>
                </a:solidFill>
                <a:latin typeface="Helvetica Neue"/>
              </a:rPr>
              <a:t>proposed as a new thing, goes to the review pile</a:t>
            </a:r>
          </a:p>
          <a:p>
            <a:pPr algn="l">
              <a:spcBef>
                <a:spcPts val="600"/>
              </a:spcBef>
              <a:spcAft>
                <a:spcPts val="150"/>
              </a:spcAft>
            </a:pPr>
            <a:r>
              <a:rPr sz="1050" b="1" dirty="0">
                <a:solidFill>
                  <a:srgbClr val="00175A"/>
                </a:solidFill>
                <a:latin typeface="Helvetica Neue"/>
              </a:rPr>
              <a:t>A wrong call costs</a:t>
            </a:r>
          </a:p>
          <a:p>
            <a:pPr algn="l">
              <a:spcAft>
                <a:spcPts val="0"/>
              </a:spcAft>
            </a:pPr>
            <a:r>
              <a:rPr sz="1000" b="0" dirty="0">
                <a:solidFill>
                  <a:srgbClr val="3E4C63"/>
                </a:solidFill>
                <a:latin typeface="Helvetica Neue"/>
              </a:rPr>
              <a:t>two things glued together — nearly invisible later</a:t>
            </a:r>
          </a:p>
        </p:txBody>
      </p:sp>
      <p:sp>
        <p:nvSpPr>
          <p:cNvPr id="22" name="Rounded Rectangle 21">
            <a:extLst>
              <a:ext uri="{FF2B5EF4-FFF2-40B4-BE49-F238E27FC236}">
                <a16:creationId xmlns:a16="http://schemas.microsoft.com/office/drawing/2014/main" id="{82720DE6-D0CC-7E46-8BA5-C2993A2A7615}"/>
              </a:ext>
            </a:extLst>
          </p:cNvPr>
          <p:cNvSpPr/>
          <p:nvPr/>
        </p:nvSpPr>
        <p:spPr>
          <a:xfrm>
            <a:off x="6836558" y="2268669"/>
            <a:ext cx="3883364" cy="2426700"/>
          </a:xfrm>
          <a:prstGeom prst="roundRect">
            <a:avLst/>
          </a:prstGeom>
          <a:solidFill>
            <a:srgbClr val="F5F8FB"/>
          </a:solidFill>
          <a:ln w="9525" cap="flat" cmpd="sng" algn="ctr">
            <a:solidFill>
              <a:srgbClr val="C8D7E6"/>
            </a:solidFill>
            <a:prstDash val="solid"/>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vertOverflow="clip" horzOverflow="clip" rtlCol="0" anchor="ctr" anchorCtr="0"/>
          <a:lstStyle/>
          <a:p>
            <a:pPr algn="l">
              <a:spcAft>
                <a:spcPts val="400"/>
              </a:spcAft>
            </a:pPr>
            <a:r>
              <a:rPr sz="1150" b="1" dirty="0">
                <a:solidFill>
                  <a:srgbClr val="0066BE"/>
                </a:solidFill>
                <a:latin typeface="Menlo"/>
              </a:rPr>
              <a:t>FACT WORDINGS</a:t>
            </a:r>
            <a:endParaRPr lang="en-US" sz="1150" b="1" dirty="0">
              <a:solidFill>
                <a:srgbClr val="0066BE"/>
              </a:solidFill>
              <a:latin typeface="Menlo"/>
            </a:endParaRPr>
          </a:p>
          <a:p>
            <a:pPr algn="l">
              <a:spcBef>
                <a:spcPts val="600"/>
              </a:spcBef>
              <a:spcAft>
                <a:spcPts val="150"/>
              </a:spcAft>
            </a:pPr>
            <a:r>
              <a:rPr lang="en-US" sz="1050" b="1" dirty="0">
                <a:solidFill>
                  <a:srgbClr val="00175A"/>
                </a:solidFill>
                <a:latin typeface="Helvetica Neue"/>
              </a:rPr>
              <a:t>The check</a:t>
            </a:r>
          </a:p>
          <a:p>
            <a:pPr algn="l">
              <a:spcAft>
                <a:spcPts val="0"/>
              </a:spcAft>
            </a:pPr>
            <a:r>
              <a:rPr sz="1000" b="0" dirty="0">
                <a:solidFill>
                  <a:srgbClr val="3E4C63"/>
                </a:solidFill>
                <a:latin typeface="Helvetica Neue"/>
              </a:rPr>
              <a:t>one vector-db lookup, nothing else</a:t>
            </a:r>
          </a:p>
          <a:p>
            <a:pPr algn="l">
              <a:spcBef>
                <a:spcPts val="600"/>
              </a:spcBef>
              <a:spcAft>
                <a:spcPts val="150"/>
              </a:spcAft>
            </a:pPr>
            <a:r>
              <a:rPr sz="1050" b="1" dirty="0">
                <a:solidFill>
                  <a:srgbClr val="00175A"/>
                </a:solidFill>
                <a:latin typeface="Helvetica Neue"/>
              </a:rPr>
              <a:t>If similar (≥ 0.85)</a:t>
            </a:r>
          </a:p>
          <a:p>
            <a:pPr algn="l">
              <a:spcAft>
                <a:spcPts val="0"/>
              </a:spcAft>
            </a:pPr>
            <a:r>
              <a:rPr sz="1000" b="0" dirty="0">
                <a:solidFill>
                  <a:srgbClr val="3E4C63"/>
                </a:solidFill>
                <a:latin typeface="Helvetica Neue"/>
              </a:rPr>
              <a:t>silently rewritten to the known wording. No review, no undo.</a:t>
            </a:r>
          </a:p>
          <a:p>
            <a:pPr algn="l">
              <a:spcBef>
                <a:spcPts val="600"/>
              </a:spcBef>
              <a:spcAft>
                <a:spcPts val="150"/>
              </a:spcAft>
            </a:pPr>
            <a:r>
              <a:rPr sz="1050" b="1" dirty="0">
                <a:solidFill>
                  <a:srgbClr val="00175A"/>
                </a:solidFill>
                <a:latin typeface="Helvetica Neue"/>
              </a:rPr>
              <a:t>If nothing similar</a:t>
            </a:r>
          </a:p>
          <a:p>
            <a:pPr algn="l">
              <a:spcAft>
                <a:spcPts val="0"/>
              </a:spcAft>
            </a:pPr>
            <a:r>
              <a:rPr sz="1000" b="0" dirty="0">
                <a:solidFill>
                  <a:srgbClr val="3E4C63"/>
                </a:solidFill>
                <a:latin typeface="Helvetica Neue"/>
              </a:rPr>
              <a:t>used as-is; joins the vocabulary once approved</a:t>
            </a:r>
          </a:p>
          <a:p>
            <a:pPr algn="l">
              <a:spcBef>
                <a:spcPts val="600"/>
              </a:spcBef>
              <a:spcAft>
                <a:spcPts val="150"/>
              </a:spcAft>
            </a:pPr>
            <a:r>
              <a:rPr sz="1050" b="1" dirty="0">
                <a:solidFill>
                  <a:srgbClr val="00175A"/>
                </a:solidFill>
                <a:latin typeface="Helvetica Neue"/>
              </a:rPr>
              <a:t>A wrong call costs</a:t>
            </a:r>
          </a:p>
          <a:p>
            <a:pPr algn="l">
              <a:spcAft>
                <a:spcPts val="0"/>
              </a:spcAft>
            </a:pPr>
            <a:r>
              <a:rPr sz="1000" b="0" dirty="0">
                <a:solidFill>
                  <a:srgbClr val="3E4C63"/>
                </a:solidFill>
                <a:latin typeface="Helvetica Neue"/>
              </a:rPr>
              <a:t>two wordings for the same relation — ugly, but harmless</a:t>
            </a:r>
          </a:p>
        </p:txBody>
      </p:sp>
    </p:spTree>
    <p:extLst>
      <p:ext uri="{BB962C8B-B14F-4D97-AF65-F5344CB8AC3E}">
        <p14:creationId xmlns:p14="http://schemas.microsoft.com/office/powerpoint/2010/main" val="2317477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292608"/>
            <a:ext cx="8229600" cy="274320"/>
          </a:xfrm>
          <a:prstGeom prst="rect">
            <a:avLst/>
          </a:prstGeom>
          <a:noFill/>
        </p:spPr>
        <p:txBody>
          <a:bodyPr wrap="square" anchor="t">
            <a:spAutoFit/>
          </a:bodyPr>
          <a:lstStyle/>
          <a:p>
            <a:pPr algn="l">
              <a:lnSpc>
                <a:spcPct val="100000"/>
              </a:lnSpc>
              <a:spcAft>
                <a:spcPts val="400"/>
              </a:spcAft>
            </a:pPr>
            <a:r>
              <a:rPr sz="1000" b="1">
                <a:solidFill>
                  <a:srgbClr val="0066BE"/>
                </a:solidFill>
                <a:latin typeface="Menlo"/>
              </a:rPr>
              <a:t>06 · Ingestion · comparing with what the graph believes</a:t>
            </a:r>
          </a:p>
        </p:txBody>
      </p:sp>
      <p:sp>
        <p:nvSpPr>
          <p:cNvPr id="4" name="TextBox 3"/>
          <p:cNvSpPr txBox="1"/>
          <p:nvPr/>
        </p:nvSpPr>
        <p:spPr>
          <a:xfrm>
            <a:off x="548640" y="566928"/>
            <a:ext cx="11064240" cy="548640"/>
          </a:xfrm>
          <a:prstGeom prst="rect">
            <a:avLst/>
          </a:prstGeom>
          <a:noFill/>
        </p:spPr>
        <p:txBody>
          <a:bodyPr wrap="square" anchor="t">
            <a:spAutoFit/>
          </a:bodyPr>
          <a:lstStyle/>
          <a:p>
            <a:pPr algn="l">
              <a:lnSpc>
                <a:spcPct val="100000"/>
              </a:lnSpc>
              <a:spcAft>
                <a:spcPts val="400"/>
              </a:spcAft>
            </a:pPr>
            <a:r>
              <a:rPr sz="2400" b="1">
                <a:solidFill>
                  <a:srgbClr val="00175A"/>
                </a:solidFill>
                <a:latin typeface="Helvetica Neue"/>
              </a:rPr>
              <a:t>Every fact candidate is checked for a clash, then scored</a:t>
            </a:r>
          </a:p>
        </p:txBody>
      </p:sp>
      <p:sp>
        <p:nvSpPr>
          <p:cNvPr id="5" name="Rounded Rectangle 4"/>
          <p:cNvSpPr/>
          <p:nvPr/>
        </p:nvSpPr>
        <p:spPr>
          <a:xfrm>
            <a:off x="548640" y="1371600"/>
            <a:ext cx="5577840" cy="289560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200" b="1" dirty="0">
                <a:solidFill>
                  <a:srgbClr val="00175A"/>
                </a:solidFill>
                <a:latin typeface="Helvetica Neue"/>
              </a:rPr>
              <a:t>The clash check — three outcomes</a:t>
            </a:r>
          </a:p>
          <a:p>
            <a:pPr algn="l">
              <a:spcAft>
                <a:spcPts val="300"/>
              </a:spcAft>
            </a:pPr>
            <a:endParaRPr sz="1200" b="1" dirty="0">
              <a:solidFill>
                <a:srgbClr val="00175A"/>
              </a:solidFill>
              <a:latin typeface="Helvetica Neue"/>
            </a:endParaRPr>
          </a:p>
          <a:p>
            <a:pPr algn="l">
              <a:spcAft>
                <a:spcPts val="300"/>
              </a:spcAft>
            </a:pPr>
            <a:r>
              <a:rPr sz="1000" b="1" dirty="0">
                <a:solidFill>
                  <a:srgbClr val="0066BE"/>
                </a:solidFill>
                <a:latin typeface="Helvetica Neue"/>
              </a:rPr>
              <a:t>Already stored, same fact</a:t>
            </a:r>
          </a:p>
          <a:p>
            <a:pPr algn="l">
              <a:spcAft>
                <a:spcPts val="300"/>
              </a:spcAft>
            </a:pPr>
            <a:r>
              <a:rPr sz="950" b="0" dirty="0">
                <a:solidFill>
                  <a:srgbClr val="3E4C63"/>
                </a:solidFill>
                <a:latin typeface="Helvetica Neue"/>
              </a:rPr>
              <a:t>→ count one more source and keep this document's quote too. A fact three documents agree on carries three quotes.</a:t>
            </a:r>
          </a:p>
          <a:p>
            <a:pPr algn="l">
              <a:spcAft>
                <a:spcPts val="300"/>
              </a:spcAft>
            </a:pPr>
            <a:endParaRPr sz="950" b="0" dirty="0">
              <a:solidFill>
                <a:srgbClr val="3E4C63"/>
              </a:solidFill>
              <a:latin typeface="Helvetica Neue"/>
            </a:endParaRPr>
          </a:p>
          <a:p>
            <a:pPr algn="l">
              <a:spcAft>
                <a:spcPts val="300"/>
              </a:spcAft>
            </a:pPr>
            <a:r>
              <a:rPr sz="1000" b="1" dirty="0">
                <a:solidFill>
                  <a:srgbClr val="0066BE"/>
                </a:solidFill>
                <a:latin typeface="Helvetica Neue"/>
              </a:rPr>
              <a:t>The value changed over time</a:t>
            </a:r>
          </a:p>
          <a:p>
            <a:pPr algn="l">
              <a:spcAft>
                <a:spcPts val="300"/>
              </a:spcAft>
            </a:pPr>
            <a:r>
              <a:rPr sz="950" b="0" dirty="0">
                <a:solidFill>
                  <a:srgbClr val="3E4C63"/>
                </a:solidFill>
                <a:latin typeface="Helvetica Neue"/>
              </a:rPr>
              <a:t>→ “new CEO since March” — close the old fact with an end date, add the new one. History is kept, nothing is deleted. Only done when the text clearly shows change (dates, “replaced”, “until”).</a:t>
            </a:r>
          </a:p>
          <a:p>
            <a:pPr algn="l">
              <a:spcAft>
                <a:spcPts val="300"/>
              </a:spcAft>
            </a:pPr>
            <a:endParaRPr sz="950" b="0" dirty="0">
              <a:solidFill>
                <a:srgbClr val="3E4C63"/>
              </a:solidFill>
              <a:latin typeface="Helvetica Neue"/>
            </a:endParaRPr>
          </a:p>
          <a:p>
            <a:pPr algn="l">
              <a:spcAft>
                <a:spcPts val="300"/>
              </a:spcAft>
            </a:pPr>
            <a:r>
              <a:rPr sz="1000" b="1" dirty="0">
                <a:solidFill>
                  <a:srgbClr val="0066BE"/>
                </a:solidFill>
                <a:latin typeface="Helvetica Neue"/>
              </a:rPr>
              <a:t>A flat contradiction</a:t>
            </a:r>
          </a:p>
          <a:p>
            <a:pPr algn="l">
              <a:spcAft>
                <a:spcPts val="300"/>
              </a:spcAft>
            </a:pPr>
            <a:r>
              <a:rPr sz="950" b="0" dirty="0">
                <a:solidFill>
                  <a:srgbClr val="3E4C63"/>
                </a:solidFill>
                <a:latin typeface="Helvetica Neue"/>
              </a:rPr>
              <a:t>→ “Bofors is based in Sweden” vs stored “Bofors is based in Germany”, no acquisition mentioned. Flagged ⚠ — a person MUST decide. The AI is told: when unsure, escalate — silently rewriting history is worse than one extra review.</a:t>
            </a:r>
          </a:p>
        </p:txBody>
      </p:sp>
      <p:sp>
        <p:nvSpPr>
          <p:cNvPr id="6" name="Rounded Rectangle 5"/>
          <p:cNvSpPr/>
          <p:nvPr/>
        </p:nvSpPr>
        <p:spPr>
          <a:xfrm>
            <a:off x="4480560" y="1481328"/>
            <a:ext cx="822960" cy="274320"/>
          </a:xfrm>
          <a:prstGeom prst="roundRect">
            <a:avLst>
              <a:gd name="adj" fmla="val 50000"/>
            </a:avLst>
          </a:prstGeom>
          <a:solidFill>
            <a:srgbClr val="DEEDFA"/>
          </a:solidFill>
          <a:ln w="9525">
            <a:solidFill>
              <a:srgbClr val="0066BE"/>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lstStyle/>
          <a:p>
            <a:pPr algn="ctr">
              <a:spcAft>
                <a:spcPts val="300"/>
              </a:spcAft>
            </a:pPr>
            <a:r>
              <a:rPr sz="800" b="1" dirty="0">
                <a:solidFill>
                  <a:srgbClr val="0066BE"/>
                </a:solidFill>
                <a:latin typeface="Menlo"/>
              </a:rPr>
              <a:t>graph db</a:t>
            </a:r>
          </a:p>
        </p:txBody>
      </p:sp>
      <p:sp>
        <p:nvSpPr>
          <p:cNvPr id="7" name="Rounded Rectangle 6"/>
          <p:cNvSpPr/>
          <p:nvPr/>
        </p:nvSpPr>
        <p:spPr>
          <a:xfrm>
            <a:off x="5394960" y="1481328"/>
            <a:ext cx="356616" cy="274320"/>
          </a:xfrm>
          <a:prstGeom prst="roundRect">
            <a:avLst>
              <a:gd name="adj" fmla="val 50000"/>
            </a:avLst>
          </a:prstGeom>
          <a:solidFill>
            <a:srgbClr val="DEEDFA"/>
          </a:solidFill>
          <a:ln w="9525">
            <a:solidFill>
              <a:srgbClr val="00175A"/>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lstStyle/>
          <a:p>
            <a:pPr algn="ctr">
              <a:spcAft>
                <a:spcPts val="300"/>
              </a:spcAft>
            </a:pPr>
            <a:r>
              <a:rPr sz="800" b="1">
                <a:solidFill>
                  <a:srgbClr val="00175A"/>
                </a:solidFill>
                <a:latin typeface="Menlo"/>
              </a:rPr>
              <a:t>AI</a:t>
            </a:r>
          </a:p>
        </p:txBody>
      </p:sp>
      <p:sp>
        <p:nvSpPr>
          <p:cNvPr id="8" name="Rounded Rectangle 7"/>
          <p:cNvSpPr/>
          <p:nvPr/>
        </p:nvSpPr>
        <p:spPr>
          <a:xfrm>
            <a:off x="6355080" y="1371600"/>
            <a:ext cx="5724144" cy="289560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200" b="1" dirty="0">
                <a:solidFill>
                  <a:srgbClr val="00175A"/>
                </a:solidFill>
                <a:latin typeface="Helvetica Neue"/>
              </a:rPr>
              <a:t>The score — who </a:t>
            </a:r>
            <a:r>
              <a:rPr lang="en-US" sz="1200" b="1" dirty="0">
                <a:solidFill>
                  <a:srgbClr val="00175A"/>
                </a:solidFill>
                <a:latin typeface="Helvetica Neue"/>
              </a:rPr>
              <a:t>must</a:t>
            </a:r>
            <a:r>
              <a:rPr sz="1200" b="1" dirty="0">
                <a:solidFill>
                  <a:srgbClr val="00175A"/>
                </a:solidFill>
                <a:latin typeface="Helvetica Neue"/>
              </a:rPr>
              <a:t> look at this?</a:t>
            </a:r>
          </a:p>
          <a:p>
            <a:pPr algn="l">
              <a:spcAft>
                <a:spcPts val="300"/>
              </a:spcAft>
            </a:pPr>
            <a:endParaRPr sz="1200" b="1" dirty="0">
              <a:solidFill>
                <a:srgbClr val="00175A"/>
              </a:solidFill>
              <a:latin typeface="Helvetica Neue"/>
            </a:endParaRPr>
          </a:p>
          <a:p>
            <a:pPr algn="l">
              <a:spcAft>
                <a:spcPts val="300"/>
              </a:spcAft>
            </a:pPr>
            <a:r>
              <a:rPr sz="950" b="0" dirty="0">
                <a:solidFill>
                  <a:srgbClr val="3E4C63"/>
                </a:solidFill>
                <a:latin typeface="Helvetica Neue"/>
              </a:rPr>
              <a:t>Each proposed change gets one number, blended from: how sure the AI was reading the text · how many sources back it · how cleanly the identity checks resolved · whether the type is already known.</a:t>
            </a:r>
          </a:p>
          <a:p>
            <a:pPr algn="l">
              <a:spcAft>
                <a:spcPts val="300"/>
              </a:spcAft>
            </a:pPr>
            <a:endParaRPr sz="950" b="0" dirty="0">
              <a:solidFill>
                <a:srgbClr val="3E4C63"/>
              </a:solidFill>
              <a:latin typeface="Helvetica Neue"/>
            </a:endParaRPr>
          </a:p>
          <a:p>
            <a:pPr algn="l">
              <a:spcAft>
                <a:spcPts val="300"/>
              </a:spcAft>
            </a:pPr>
            <a:r>
              <a:rPr sz="950" b="0" dirty="0">
                <a:solidFill>
                  <a:srgbClr val="00175A"/>
                </a:solidFill>
                <a:latin typeface="Menlo"/>
              </a:rPr>
              <a:t>very sure (≥ 0.92)  → auto-approved, no human</a:t>
            </a:r>
          </a:p>
          <a:p>
            <a:pPr algn="l">
              <a:spcAft>
                <a:spcPts val="300"/>
              </a:spcAft>
            </a:pPr>
            <a:r>
              <a:rPr sz="950" b="0" dirty="0">
                <a:solidFill>
                  <a:srgbClr val="00175A"/>
                </a:solidFill>
                <a:latin typeface="Menlo"/>
              </a:rPr>
              <a:t>garbage   (&lt; 0.30)  → auto-dropped</a:t>
            </a:r>
          </a:p>
          <a:p>
            <a:pPr algn="l">
              <a:spcAft>
                <a:spcPts val="300"/>
              </a:spcAft>
            </a:pPr>
            <a:r>
              <a:rPr sz="950" b="0" dirty="0">
                <a:solidFill>
                  <a:srgbClr val="00175A"/>
                </a:solidFill>
                <a:latin typeface="Menlo"/>
              </a:rPr>
              <a:t>everything else     → the review pile</a:t>
            </a:r>
          </a:p>
          <a:p>
            <a:pPr algn="l">
              <a:spcAft>
                <a:spcPts val="300"/>
              </a:spcAft>
            </a:pPr>
            <a:endParaRPr sz="950" b="0" dirty="0">
              <a:solidFill>
                <a:srgbClr val="00175A"/>
              </a:solidFill>
              <a:latin typeface="Menlo"/>
            </a:endParaRPr>
          </a:p>
          <a:p>
            <a:pPr algn="l">
              <a:spcAft>
                <a:spcPts val="300"/>
              </a:spcAft>
            </a:pPr>
            <a:r>
              <a:rPr sz="950" b="0" dirty="0">
                <a:solidFill>
                  <a:srgbClr val="3E4C63"/>
                </a:solidFill>
                <a:latin typeface="Helvetica Neue"/>
              </a:rPr>
              <a:t>Two things ignore the score entirely: flagged contradictions and never-seen types ALWAYS go to a person. A brand-new graph is skeptical by design — first facts never auto-approve.</a:t>
            </a:r>
          </a:p>
        </p:txBody>
      </p:sp>
      <p:sp>
        <p:nvSpPr>
          <p:cNvPr id="9" name="Rounded Rectangle 8"/>
          <p:cNvSpPr/>
          <p:nvPr/>
        </p:nvSpPr>
        <p:spPr>
          <a:xfrm>
            <a:off x="548640" y="4521200"/>
            <a:ext cx="11530584" cy="190500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500"/>
              </a:spcAft>
            </a:pPr>
            <a:r>
              <a:rPr sz="1000" b="1" dirty="0">
                <a:solidFill>
                  <a:srgbClr val="5A6577"/>
                </a:solidFill>
                <a:latin typeface="Menlo"/>
              </a:rPr>
              <a:t>our example document ends up as five proposed changes:</a:t>
            </a:r>
          </a:p>
          <a:p>
            <a:pPr algn="l">
              <a:tabLst>
                <a:tab pos="5842000" algn="l"/>
              </a:tabLst>
            </a:pPr>
            <a:r>
              <a:rPr sz="1000" b="0" dirty="0">
                <a:solidFill>
                  <a:srgbClr val="00175A"/>
                </a:solidFill>
                <a:latin typeface="Menlo"/>
              </a:rPr>
              <a:t>1  “</a:t>
            </a:r>
            <a:r>
              <a:rPr sz="1000" b="0" i="1" dirty="0">
                <a:solidFill>
                  <a:srgbClr val="00175A"/>
                </a:solidFill>
                <a:latin typeface="Menlo"/>
              </a:rPr>
              <a:t>Nobel Prize” is the same as “The Nobel Prize</a:t>
            </a:r>
            <a:r>
              <a:rPr sz="1000" b="0" dirty="0">
                <a:solidFill>
                  <a:srgbClr val="00175A"/>
                </a:solidFill>
                <a:latin typeface="Menlo"/>
              </a:rPr>
              <a:t>”  (0.93)</a:t>
            </a:r>
            <a:r>
              <a:rPr sz="1000" dirty="0">
                <a:latin typeface="Menlo"/>
              </a:rPr>
              <a:t>	</a:t>
            </a:r>
            <a:r>
              <a:rPr sz="1000" b="1" dirty="0">
                <a:solidFill>
                  <a:srgbClr val="0066BE"/>
                </a:solidFill>
                <a:latin typeface="Menlo"/>
              </a:rPr>
              <a:t>score .89 </a:t>
            </a:r>
            <a:r>
              <a:rPr lang="en-US" sz="1000" b="1" dirty="0">
                <a:solidFill>
                  <a:srgbClr val="0066BE"/>
                </a:solidFill>
                <a:latin typeface="Menlo"/>
              </a:rPr>
              <a:t>	</a:t>
            </a:r>
            <a:r>
              <a:rPr sz="1000" b="1" dirty="0">
                <a:solidFill>
                  <a:srgbClr val="0066BE"/>
                </a:solidFill>
                <a:latin typeface="Menlo"/>
              </a:rPr>
              <a:t>→ review</a:t>
            </a:r>
          </a:p>
          <a:p>
            <a:pPr algn="l">
              <a:tabLst>
                <a:tab pos="5842000" algn="l"/>
              </a:tabLst>
            </a:pPr>
            <a:r>
              <a:rPr sz="1000" b="0" dirty="0">
                <a:solidFill>
                  <a:srgbClr val="00175A"/>
                </a:solidFill>
                <a:latin typeface="Menlo"/>
              </a:rPr>
              <a:t>2  </a:t>
            </a:r>
            <a:r>
              <a:rPr lang="en-US" sz="1000" b="0" dirty="0">
                <a:solidFill>
                  <a:srgbClr val="00175A"/>
                </a:solidFill>
                <a:latin typeface="Menlo"/>
              </a:rPr>
              <a:t>C</a:t>
            </a:r>
            <a:r>
              <a:rPr sz="1000" b="0" dirty="0">
                <a:solidFill>
                  <a:srgbClr val="00175A"/>
                </a:solidFill>
                <a:latin typeface="Menlo"/>
              </a:rPr>
              <a:t>reate new thing “</a:t>
            </a:r>
            <a:r>
              <a:rPr sz="1000" b="0" i="1" dirty="0">
                <a:solidFill>
                  <a:srgbClr val="00175A"/>
                </a:solidFill>
                <a:latin typeface="Menlo"/>
              </a:rPr>
              <a:t>Bofors</a:t>
            </a:r>
            <a:r>
              <a:rPr sz="1000" b="0" dirty="0">
                <a:solidFill>
                  <a:srgbClr val="00175A"/>
                </a:solidFill>
                <a:latin typeface="Menlo"/>
              </a:rPr>
              <a:t>”</a:t>
            </a:r>
            <a:r>
              <a:rPr sz="1000" dirty="0">
                <a:latin typeface="Menlo"/>
              </a:rPr>
              <a:t>	</a:t>
            </a:r>
            <a:r>
              <a:rPr sz="1000" b="1" dirty="0">
                <a:solidFill>
                  <a:srgbClr val="0066BE"/>
                </a:solidFill>
                <a:latin typeface="Menlo"/>
              </a:rPr>
              <a:t>score .74 </a:t>
            </a:r>
            <a:r>
              <a:rPr lang="en-US" sz="1000" b="1" dirty="0">
                <a:solidFill>
                  <a:srgbClr val="0066BE"/>
                </a:solidFill>
                <a:latin typeface="Menlo"/>
              </a:rPr>
              <a:t>	</a:t>
            </a:r>
            <a:r>
              <a:rPr sz="1000" b="1" dirty="0">
                <a:solidFill>
                  <a:srgbClr val="0066BE"/>
                </a:solidFill>
                <a:latin typeface="Menlo"/>
              </a:rPr>
              <a:t>→ review</a:t>
            </a:r>
          </a:p>
          <a:p>
            <a:pPr>
              <a:tabLst>
                <a:tab pos="5842000" algn="l"/>
              </a:tabLst>
            </a:pPr>
            <a:r>
              <a:rPr sz="1000" b="0" dirty="0">
                <a:solidFill>
                  <a:srgbClr val="00175A"/>
                </a:solidFill>
                <a:latin typeface="Menlo"/>
              </a:rPr>
              <a:t>3  </a:t>
            </a:r>
            <a:r>
              <a:rPr sz="1000" b="1" dirty="0">
                <a:solidFill>
                  <a:srgbClr val="00175A"/>
                </a:solidFill>
                <a:latin typeface="Menlo"/>
              </a:rPr>
              <a:t>(Alfred Nobel) </a:t>
            </a:r>
            <a:r>
              <a:rPr lang="en-US" sz="1000" dirty="0">
                <a:solidFill>
                  <a:srgbClr val="00175A"/>
                </a:solidFill>
                <a:latin typeface="Menlo"/>
              </a:rPr>
              <a:t>→ </a:t>
            </a:r>
            <a:r>
              <a:rPr sz="1000" b="0" dirty="0">
                <a:solidFill>
                  <a:srgbClr val="00175A"/>
                </a:solidFill>
                <a:latin typeface="Menlo"/>
              </a:rPr>
              <a:t>patented</a:t>
            </a:r>
            <a:r>
              <a:rPr lang="en-US" sz="1000" b="0" dirty="0">
                <a:solidFill>
                  <a:srgbClr val="00175A"/>
                </a:solidFill>
                <a:latin typeface="Menlo"/>
              </a:rPr>
              <a:t> </a:t>
            </a:r>
            <a:r>
              <a:rPr sz="1000" b="0" dirty="0">
                <a:solidFill>
                  <a:srgbClr val="00175A"/>
                </a:solidFill>
                <a:latin typeface="Menlo"/>
              </a:rPr>
              <a:t>→ </a:t>
            </a:r>
            <a:r>
              <a:rPr sz="1000" b="1" dirty="0">
                <a:solidFill>
                  <a:srgbClr val="00175A"/>
                </a:solidFill>
                <a:latin typeface="Menlo"/>
              </a:rPr>
              <a:t>(dynamite)  </a:t>
            </a:r>
            <a:r>
              <a:rPr sz="1000" b="0" dirty="0">
                <a:solidFill>
                  <a:srgbClr val="00175A"/>
                </a:solidFill>
                <a:latin typeface="Menlo"/>
              </a:rPr>
              <a:t>starts 1867</a:t>
            </a:r>
            <a:r>
              <a:rPr sz="1000" b="1" dirty="0">
                <a:solidFill>
                  <a:srgbClr val="00175A"/>
                </a:solidFill>
                <a:latin typeface="Menlo"/>
              </a:rPr>
              <a:t>   ⚠ contradicts 1868</a:t>
            </a:r>
            <a:r>
              <a:rPr sz="1000" dirty="0">
                <a:latin typeface="Menlo"/>
              </a:rPr>
              <a:t>	</a:t>
            </a:r>
            <a:r>
              <a:rPr sz="1000" b="1" dirty="0">
                <a:solidFill>
                  <a:srgbClr val="0066BE"/>
                </a:solidFill>
                <a:latin typeface="Menlo"/>
              </a:rPr>
              <a:t>forced </a:t>
            </a:r>
            <a:r>
              <a:rPr lang="en-US" sz="1000" b="1" dirty="0">
                <a:solidFill>
                  <a:srgbClr val="0066BE"/>
                </a:solidFill>
                <a:latin typeface="Menlo"/>
              </a:rPr>
              <a:t>		</a:t>
            </a:r>
            <a:r>
              <a:rPr sz="1000" b="1" dirty="0">
                <a:solidFill>
                  <a:srgbClr val="0066BE"/>
                </a:solidFill>
                <a:latin typeface="Menlo"/>
              </a:rPr>
              <a:t>→ review</a:t>
            </a:r>
          </a:p>
          <a:p>
            <a:pPr>
              <a:tabLst>
                <a:tab pos="5842000" algn="l"/>
              </a:tabLst>
            </a:pPr>
            <a:r>
              <a:rPr sz="1000" b="0" dirty="0">
                <a:solidFill>
                  <a:srgbClr val="00175A"/>
                </a:solidFill>
                <a:latin typeface="Menlo"/>
              </a:rPr>
              <a:t>4  </a:t>
            </a:r>
            <a:r>
              <a:rPr sz="1000" b="1" dirty="0">
                <a:solidFill>
                  <a:srgbClr val="00175A"/>
                </a:solidFill>
                <a:latin typeface="Menlo"/>
              </a:rPr>
              <a:t>(Alfred Nobel) </a:t>
            </a:r>
            <a:r>
              <a:rPr lang="en-US" sz="1000" dirty="0">
                <a:solidFill>
                  <a:srgbClr val="00175A"/>
                </a:solidFill>
                <a:latin typeface="Menlo"/>
              </a:rPr>
              <a:t>→ </a:t>
            </a:r>
            <a:r>
              <a:rPr sz="1000" b="0" dirty="0">
                <a:solidFill>
                  <a:srgbClr val="00175A"/>
                </a:solidFill>
                <a:latin typeface="Menlo"/>
              </a:rPr>
              <a:t>owned</a:t>
            </a:r>
            <a:r>
              <a:rPr lang="en-US" sz="1000" b="0" dirty="0">
                <a:solidFill>
                  <a:srgbClr val="00175A"/>
                </a:solidFill>
                <a:latin typeface="Menlo"/>
              </a:rPr>
              <a:t> </a:t>
            </a:r>
            <a:r>
              <a:rPr sz="1000" b="0" dirty="0">
                <a:solidFill>
                  <a:srgbClr val="00175A"/>
                </a:solidFill>
                <a:latin typeface="Menlo"/>
              </a:rPr>
              <a:t>→ </a:t>
            </a:r>
            <a:r>
              <a:rPr sz="1000" b="1" dirty="0">
                <a:solidFill>
                  <a:srgbClr val="00175A"/>
                </a:solidFill>
                <a:latin typeface="Menlo"/>
              </a:rPr>
              <a:t>(Bofors)</a:t>
            </a:r>
            <a:r>
              <a:rPr sz="1000" dirty="0">
                <a:latin typeface="Menlo"/>
              </a:rPr>
              <a:t>	</a:t>
            </a:r>
            <a:r>
              <a:rPr sz="1000" b="1" dirty="0">
                <a:solidFill>
                  <a:srgbClr val="0066BE"/>
                </a:solidFill>
                <a:latin typeface="Menlo"/>
              </a:rPr>
              <a:t>score .69 </a:t>
            </a:r>
            <a:r>
              <a:rPr lang="en-US" sz="1000" b="1" dirty="0">
                <a:solidFill>
                  <a:srgbClr val="0066BE"/>
                </a:solidFill>
                <a:latin typeface="Menlo"/>
              </a:rPr>
              <a:t>	</a:t>
            </a:r>
            <a:r>
              <a:rPr sz="1000" b="1" dirty="0">
                <a:solidFill>
                  <a:srgbClr val="0066BE"/>
                </a:solidFill>
                <a:latin typeface="Menlo"/>
              </a:rPr>
              <a:t>→ review</a:t>
            </a:r>
          </a:p>
          <a:p>
            <a:pPr algn="l">
              <a:tabLst>
                <a:tab pos="5842000" algn="l"/>
              </a:tabLst>
            </a:pPr>
            <a:r>
              <a:rPr sz="1000" b="0" dirty="0">
                <a:solidFill>
                  <a:srgbClr val="00175A"/>
                </a:solidFill>
                <a:latin typeface="Menlo"/>
              </a:rPr>
              <a:t>5  </a:t>
            </a:r>
            <a:r>
              <a:rPr lang="en-US" sz="1000" b="0" dirty="0">
                <a:solidFill>
                  <a:srgbClr val="00175A"/>
                </a:solidFill>
                <a:latin typeface="Menlo"/>
              </a:rPr>
              <a:t>R</a:t>
            </a:r>
            <a:r>
              <a:rPr sz="1000" b="0" dirty="0">
                <a:solidFill>
                  <a:srgbClr val="00175A"/>
                </a:solidFill>
                <a:latin typeface="Menlo"/>
              </a:rPr>
              <a:t>icher description for Nobel Prize</a:t>
            </a:r>
            <a:r>
              <a:rPr sz="1000" dirty="0">
                <a:latin typeface="Menlo"/>
              </a:rPr>
              <a:t>	</a:t>
            </a:r>
            <a:r>
              <a:rPr sz="1000" b="1" dirty="0">
                <a:solidFill>
                  <a:srgbClr val="0066BE"/>
                </a:solidFill>
                <a:latin typeface="Menlo"/>
              </a:rPr>
              <a:t>score .81 </a:t>
            </a:r>
            <a:r>
              <a:rPr lang="en-US" sz="1000" b="1" dirty="0">
                <a:solidFill>
                  <a:srgbClr val="0066BE"/>
                </a:solidFill>
                <a:latin typeface="Menlo"/>
              </a:rPr>
              <a:t>	</a:t>
            </a:r>
            <a:r>
              <a:rPr sz="1000" b="1" dirty="0">
                <a:solidFill>
                  <a:srgbClr val="0066BE"/>
                </a:solidFill>
                <a:latin typeface="Menlo"/>
              </a:rPr>
              <a:t>→ review</a:t>
            </a:r>
          </a:p>
        </p:txBody>
      </p:sp>
    </p:spTree>
    <p:extLst>
      <p:ext uri="{BB962C8B-B14F-4D97-AF65-F5344CB8AC3E}">
        <p14:creationId xmlns:p14="http://schemas.microsoft.com/office/powerpoint/2010/main" val="3161208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292608"/>
            <a:ext cx="8229600" cy="274320"/>
          </a:xfrm>
          <a:prstGeom prst="rect">
            <a:avLst/>
          </a:prstGeom>
          <a:noFill/>
        </p:spPr>
        <p:txBody>
          <a:bodyPr wrap="square" anchor="t">
            <a:spAutoFit/>
          </a:bodyPr>
          <a:lstStyle/>
          <a:p>
            <a:pPr algn="l">
              <a:lnSpc>
                <a:spcPct val="100000"/>
              </a:lnSpc>
              <a:spcAft>
                <a:spcPts val="400"/>
              </a:spcAft>
            </a:pPr>
            <a:r>
              <a:rPr sz="1000" b="1">
                <a:solidFill>
                  <a:srgbClr val="0066BE"/>
                </a:solidFill>
                <a:latin typeface="Menlo"/>
              </a:rPr>
              <a:t>08 · Ingestion · the result</a:t>
            </a:r>
          </a:p>
        </p:txBody>
      </p:sp>
      <p:sp>
        <p:nvSpPr>
          <p:cNvPr id="4" name="TextBox 3"/>
          <p:cNvSpPr txBox="1"/>
          <p:nvPr/>
        </p:nvSpPr>
        <p:spPr>
          <a:xfrm>
            <a:off x="548640" y="566928"/>
            <a:ext cx="11064240" cy="461665"/>
          </a:xfrm>
          <a:prstGeom prst="rect">
            <a:avLst/>
          </a:prstGeom>
          <a:noFill/>
        </p:spPr>
        <p:txBody>
          <a:bodyPr wrap="square" anchor="t">
            <a:spAutoFit/>
          </a:bodyPr>
          <a:lstStyle/>
          <a:p>
            <a:pPr algn="l">
              <a:lnSpc>
                <a:spcPct val="100000"/>
              </a:lnSpc>
              <a:spcAft>
                <a:spcPts val="400"/>
              </a:spcAft>
            </a:pPr>
            <a:r>
              <a:rPr sz="2400" b="1" dirty="0">
                <a:solidFill>
                  <a:srgbClr val="00175A"/>
                </a:solidFill>
                <a:latin typeface="Helvetica Neue"/>
              </a:rPr>
              <a:t>What a stored fact </a:t>
            </a:r>
            <a:r>
              <a:rPr lang="en-US" sz="2400" b="1" dirty="0">
                <a:solidFill>
                  <a:srgbClr val="00175A"/>
                </a:solidFill>
                <a:latin typeface="Helvetica Neue"/>
              </a:rPr>
              <a:t>looks</a:t>
            </a:r>
            <a:r>
              <a:rPr sz="2400" b="1" dirty="0">
                <a:solidFill>
                  <a:srgbClr val="00175A"/>
                </a:solidFill>
                <a:latin typeface="Helvetica Neue"/>
              </a:rPr>
              <a:t> like</a:t>
            </a:r>
          </a:p>
        </p:txBody>
      </p:sp>
      <p:sp>
        <p:nvSpPr>
          <p:cNvPr id="5" name="Rounded Rectangle 4"/>
          <p:cNvSpPr/>
          <p:nvPr/>
        </p:nvSpPr>
        <p:spPr>
          <a:xfrm>
            <a:off x="548640" y="1371600"/>
            <a:ext cx="6949440" cy="3749039"/>
          </a:xfrm>
          <a:prstGeom prst="roundRect">
            <a:avLst>
              <a:gd name="adj" fmla="val 10000"/>
            </a:avLst>
          </a:prstGeom>
          <a:solidFill>
            <a:srgbClr val="FFFFFF"/>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000" b="1" dirty="0">
                <a:solidFill>
                  <a:srgbClr val="000000"/>
                </a:solidFill>
                <a:latin typeface="Menlo"/>
              </a:rPr>
              <a:t>in the graph db, after approval</a:t>
            </a:r>
            <a:r>
              <a:rPr sz="1000" dirty="0">
                <a:solidFill>
                  <a:srgbClr val="000000"/>
                </a:solidFill>
                <a:latin typeface="Menlo"/>
              </a:rPr>
              <a:t>:</a:t>
            </a:r>
          </a:p>
          <a:p>
            <a:pPr algn="l">
              <a:spcAft>
                <a:spcPts val="300"/>
              </a:spcAft>
            </a:pPr>
            <a:endParaRPr sz="1000" b="1" dirty="0">
              <a:solidFill>
                <a:srgbClr val="5A6577"/>
              </a:solidFill>
              <a:latin typeface="Menlo"/>
            </a:endParaRPr>
          </a:p>
          <a:p>
            <a:pPr algn="l">
              <a:spcAft>
                <a:spcPts val="300"/>
              </a:spcAft>
            </a:pPr>
            <a:r>
              <a:rPr sz="1050" b="0" dirty="0">
                <a:solidFill>
                  <a:srgbClr val="00175A"/>
                </a:solidFill>
                <a:latin typeface="Menlo"/>
              </a:rPr>
              <a:t>thing   Alfred Nobel · Person</a:t>
            </a:r>
          </a:p>
          <a:p>
            <a:pPr algn="l">
              <a:spcAft>
                <a:spcPts val="300"/>
              </a:spcAft>
            </a:pPr>
            <a:r>
              <a:rPr sz="1000" b="0" dirty="0">
                <a:solidFill>
                  <a:srgbClr val="5A6577"/>
                </a:solidFill>
                <a:latin typeface="Menlo"/>
              </a:rPr>
              <a:t>        “Swedish chemist, inventor, and philanthropist”</a:t>
            </a:r>
          </a:p>
          <a:p>
            <a:pPr algn="l">
              <a:spcAft>
                <a:spcPts val="300"/>
              </a:spcAft>
            </a:pPr>
            <a:endParaRPr sz="1000" b="0" dirty="0">
              <a:solidFill>
                <a:srgbClr val="5A6577"/>
              </a:solidFill>
              <a:latin typeface="Menlo"/>
            </a:endParaRPr>
          </a:p>
          <a:p>
            <a:pPr>
              <a:spcAft>
                <a:spcPts val="300"/>
              </a:spcAft>
            </a:pPr>
            <a:r>
              <a:rPr sz="1050" b="0" dirty="0">
                <a:solidFill>
                  <a:srgbClr val="00175A"/>
                </a:solidFill>
                <a:latin typeface="Menlo"/>
              </a:rPr>
              <a:t>fact    (Alfred Nobel) </a:t>
            </a:r>
            <a:r>
              <a:rPr lang="en-US" sz="1050" dirty="0">
                <a:solidFill>
                  <a:srgbClr val="00175A"/>
                </a:solidFill>
                <a:latin typeface="Menlo"/>
              </a:rPr>
              <a:t>→  </a:t>
            </a:r>
            <a:r>
              <a:rPr sz="1050" b="0" dirty="0">
                <a:solidFill>
                  <a:srgbClr val="00175A"/>
                </a:solidFill>
                <a:latin typeface="Menlo"/>
              </a:rPr>
              <a:t>patented</a:t>
            </a:r>
            <a:r>
              <a:rPr lang="en-US" sz="1050" b="0" dirty="0">
                <a:solidFill>
                  <a:srgbClr val="00175A"/>
                </a:solidFill>
                <a:latin typeface="Menlo"/>
              </a:rPr>
              <a:t> </a:t>
            </a:r>
            <a:r>
              <a:rPr sz="1050" b="0" dirty="0">
                <a:solidFill>
                  <a:srgbClr val="00175A"/>
                </a:solidFill>
                <a:latin typeface="Menlo"/>
              </a:rPr>
              <a:t>→ (dynamite)</a:t>
            </a:r>
          </a:p>
          <a:p>
            <a:pPr algn="l">
              <a:spcAft>
                <a:spcPts val="300"/>
              </a:spcAft>
            </a:pPr>
            <a:r>
              <a:rPr sz="1000" b="0" dirty="0">
                <a:solidFill>
                  <a:srgbClr val="5A6577"/>
                </a:solidFill>
                <a:latin typeface="Menlo"/>
              </a:rPr>
              <a:t>        starts 1867 · no end date = still true today</a:t>
            </a:r>
          </a:p>
          <a:p>
            <a:pPr algn="l">
              <a:spcAft>
                <a:spcPts val="300"/>
              </a:spcAft>
            </a:pPr>
            <a:r>
              <a:rPr sz="1000" b="0" dirty="0">
                <a:solidFill>
                  <a:srgbClr val="5A6577"/>
                </a:solidFill>
                <a:latin typeface="Menlo"/>
              </a:rPr>
              <a:t>        sources: 1</a:t>
            </a:r>
          </a:p>
          <a:p>
            <a:pPr algn="l">
              <a:spcAft>
                <a:spcPts val="300"/>
              </a:spcAft>
            </a:pPr>
            <a:r>
              <a:rPr sz="1000" b="0" dirty="0">
                <a:solidFill>
                  <a:srgbClr val="5A6577"/>
                </a:solidFill>
                <a:latin typeface="Menlo"/>
              </a:rPr>
              <a:t>        quote: “it was patented in 1867”</a:t>
            </a:r>
          </a:p>
          <a:p>
            <a:pPr algn="l">
              <a:spcAft>
                <a:spcPts val="300"/>
              </a:spcAft>
            </a:pPr>
            <a:endParaRPr sz="1000" b="0" dirty="0">
              <a:solidFill>
                <a:srgbClr val="5A6577"/>
              </a:solidFill>
              <a:latin typeface="Menlo"/>
            </a:endParaRPr>
          </a:p>
          <a:p>
            <a:pPr algn="l">
              <a:spcAft>
                <a:spcPts val="300"/>
              </a:spcAft>
            </a:pPr>
            <a:r>
              <a:rPr sz="1050" b="0" dirty="0">
                <a:solidFill>
                  <a:srgbClr val="00175A"/>
                </a:solidFill>
                <a:latin typeface="Menlo"/>
              </a:rPr>
              <a:t>receipts</a:t>
            </a:r>
          </a:p>
          <a:p>
            <a:pPr algn="l">
              <a:spcAft>
                <a:spcPts val="300"/>
              </a:spcAft>
            </a:pPr>
            <a:r>
              <a:rPr sz="1000" b="0" dirty="0">
                <a:solidFill>
                  <a:srgbClr val="5A6577"/>
                </a:solidFill>
                <a:latin typeface="Menlo"/>
              </a:rPr>
              <a:t>        from </a:t>
            </a:r>
            <a:r>
              <a:rPr sz="1000" b="1" dirty="0">
                <a:solidFill>
                  <a:srgbClr val="5A6577"/>
                </a:solidFill>
                <a:latin typeface="Menlo"/>
              </a:rPr>
              <a:t>wikipedia_long.md </a:t>
            </a:r>
            <a:r>
              <a:rPr sz="1000" b="0" dirty="0">
                <a:solidFill>
                  <a:srgbClr val="5A6577"/>
                </a:solidFill>
                <a:latin typeface="Menlo"/>
              </a:rPr>
              <a:t>(by content hash)</a:t>
            </a:r>
          </a:p>
          <a:p>
            <a:pPr algn="l">
              <a:spcAft>
                <a:spcPts val="300"/>
              </a:spcAft>
            </a:pPr>
            <a:r>
              <a:rPr sz="1000" b="0" dirty="0">
                <a:solidFill>
                  <a:srgbClr val="5A6577"/>
                </a:solidFill>
                <a:latin typeface="Menlo"/>
              </a:rPr>
              <a:t>        written 2026-07-12 · approved by Carlos</a:t>
            </a:r>
          </a:p>
          <a:p>
            <a:pPr algn="l">
              <a:spcAft>
                <a:spcPts val="300"/>
              </a:spcAft>
            </a:pPr>
            <a:r>
              <a:rPr sz="1000" b="0" dirty="0">
                <a:solidFill>
                  <a:srgbClr val="5A6577"/>
                </a:solidFill>
                <a:latin typeface="Menlo"/>
              </a:rPr>
              <a:t>        the rejected 1868 claim is kept too — marked</a:t>
            </a:r>
          </a:p>
          <a:p>
            <a:pPr algn="l">
              <a:spcAft>
                <a:spcPts val="300"/>
              </a:spcAft>
            </a:pPr>
            <a:r>
              <a:rPr sz="1000" b="0" dirty="0">
                <a:solidFill>
                  <a:srgbClr val="5A6577"/>
                </a:solidFill>
                <a:latin typeface="Menlo"/>
              </a:rPr>
              <a:t>        </a:t>
            </a:r>
            <a:r>
              <a:rPr sz="1000" b="1" dirty="0">
                <a:solidFill>
                  <a:srgbClr val="5A6577"/>
                </a:solidFill>
                <a:latin typeface="Menlo"/>
              </a:rPr>
              <a:t>rejected</a:t>
            </a:r>
            <a:r>
              <a:rPr sz="1000" b="0" dirty="0">
                <a:solidFill>
                  <a:srgbClr val="5A6577"/>
                </a:solidFill>
                <a:latin typeface="Menlo"/>
              </a:rPr>
              <a:t>, with the reviewer's note</a:t>
            </a:r>
          </a:p>
        </p:txBody>
      </p:sp>
      <p:sp>
        <p:nvSpPr>
          <p:cNvPr id="6" name="Rounded Rectangle 5"/>
          <p:cNvSpPr/>
          <p:nvPr/>
        </p:nvSpPr>
        <p:spPr>
          <a:xfrm>
            <a:off x="7726679" y="1371600"/>
            <a:ext cx="4352544" cy="3749039"/>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t"/>
          <a:lstStyle/>
          <a:p>
            <a:pPr algn="l">
              <a:spcAft>
                <a:spcPts val="300"/>
              </a:spcAft>
            </a:pPr>
            <a:r>
              <a:rPr sz="1150" b="1" dirty="0">
                <a:solidFill>
                  <a:srgbClr val="00175A"/>
                </a:solidFill>
                <a:latin typeface="Helvetica Neue"/>
              </a:rPr>
              <a:t>…and three copies for search</a:t>
            </a:r>
          </a:p>
          <a:p>
            <a:pPr algn="l">
              <a:spcAft>
                <a:spcPts val="300"/>
              </a:spcAft>
            </a:pPr>
            <a:endParaRPr sz="1150" b="1" dirty="0">
              <a:solidFill>
                <a:srgbClr val="00175A"/>
              </a:solidFill>
              <a:latin typeface="Helvetica Neue"/>
            </a:endParaRPr>
          </a:p>
          <a:p>
            <a:pPr>
              <a:spcAft>
                <a:spcPts val="300"/>
              </a:spcAft>
            </a:pPr>
            <a:r>
              <a:rPr lang="en-US" sz="1000" dirty="0">
                <a:solidFill>
                  <a:srgbClr val="3E4C63"/>
                </a:solidFill>
                <a:latin typeface="Helvetica Neue"/>
              </a:rPr>
              <a:t>▸ vector of "Alfred Nobel — Swedish chemist, inventor, and philanthropist" </a:t>
            </a:r>
          </a:p>
          <a:p>
            <a:pPr>
              <a:spcAft>
                <a:spcPts val="300"/>
              </a:spcAft>
            </a:pPr>
            <a:r>
              <a:rPr lang="en-US" sz="1000" dirty="0">
                <a:solidFill>
                  <a:srgbClr val="3E4C63"/>
                </a:solidFill>
                <a:latin typeface="Helvetica Neue"/>
              </a:rPr>
              <a:t>	→ so similar names/descriptions find him</a:t>
            </a:r>
          </a:p>
          <a:p>
            <a:pPr>
              <a:spcAft>
                <a:spcPts val="300"/>
              </a:spcAft>
            </a:pPr>
            <a:endParaRPr sz="1000" b="0" dirty="0">
              <a:solidFill>
                <a:srgbClr val="3E4C63"/>
              </a:solidFill>
              <a:latin typeface="Helvetica Neue"/>
            </a:endParaRPr>
          </a:p>
          <a:p>
            <a:pPr algn="l">
              <a:spcAft>
                <a:spcPts val="300"/>
              </a:spcAft>
            </a:pPr>
            <a:r>
              <a:rPr sz="1000" b="0" dirty="0">
                <a:solidFill>
                  <a:srgbClr val="3E4C63"/>
                </a:solidFill>
                <a:latin typeface="Helvetica Neue"/>
              </a:rPr>
              <a:t>▸ vector of the whole fact sentence + its quote </a:t>
            </a:r>
            <a:endParaRPr lang="en-US" sz="1000" b="0" dirty="0">
              <a:solidFill>
                <a:srgbClr val="3E4C63"/>
              </a:solidFill>
              <a:latin typeface="Helvetica Neue"/>
            </a:endParaRPr>
          </a:p>
          <a:p>
            <a:pPr algn="l">
              <a:spcAft>
                <a:spcPts val="300"/>
              </a:spcAft>
            </a:pPr>
            <a:r>
              <a:rPr lang="en-US" sz="1000" b="0" dirty="0">
                <a:solidFill>
                  <a:srgbClr val="3E4C63"/>
                </a:solidFill>
                <a:latin typeface="Helvetica Neue"/>
              </a:rPr>
              <a:t>	</a:t>
            </a:r>
            <a:r>
              <a:rPr sz="1000" b="0" dirty="0">
                <a:solidFill>
                  <a:srgbClr val="3E4C63"/>
                </a:solidFill>
                <a:latin typeface="Helvetica Neue"/>
              </a:rPr>
              <a:t>→ </a:t>
            </a:r>
            <a:r>
              <a:rPr lang="en-US" sz="1000" b="0" i="1" dirty="0">
                <a:solidFill>
                  <a:srgbClr val="3E4C63"/>
                </a:solidFill>
                <a:latin typeface="Helvetica Neue"/>
              </a:rPr>
              <a:t>so,</a:t>
            </a:r>
            <a:r>
              <a:rPr sz="1000" b="0" i="1" dirty="0">
                <a:solidFill>
                  <a:srgbClr val="3E4C63"/>
                </a:solidFill>
                <a:latin typeface="Helvetica Neue"/>
              </a:rPr>
              <a:t> questions like “who patented dynamite?” land on it</a:t>
            </a:r>
            <a:endParaRPr lang="en-US" sz="1000" b="0" i="1" dirty="0">
              <a:solidFill>
                <a:srgbClr val="3E4C63"/>
              </a:solidFill>
              <a:latin typeface="Helvetica Neue"/>
            </a:endParaRPr>
          </a:p>
          <a:p>
            <a:pPr algn="l">
              <a:spcAft>
                <a:spcPts val="300"/>
              </a:spcAft>
            </a:pPr>
            <a:endParaRPr sz="1000" b="0" dirty="0">
              <a:solidFill>
                <a:srgbClr val="3E4C63"/>
              </a:solidFill>
              <a:latin typeface="Helvetica Neue"/>
            </a:endParaRPr>
          </a:p>
          <a:p>
            <a:pPr algn="l">
              <a:spcAft>
                <a:spcPts val="300"/>
              </a:spcAft>
            </a:pPr>
            <a:r>
              <a:rPr sz="1000" b="0" dirty="0">
                <a:solidFill>
                  <a:srgbClr val="3E4C63"/>
                </a:solidFill>
                <a:latin typeface="Helvetica Neue"/>
              </a:rPr>
              <a:t>▸ the graph db's own text index (updates itself) </a:t>
            </a:r>
            <a:endParaRPr lang="en-US" sz="1000" b="0" dirty="0">
              <a:solidFill>
                <a:srgbClr val="3E4C63"/>
              </a:solidFill>
              <a:latin typeface="Helvetica Neue"/>
            </a:endParaRPr>
          </a:p>
          <a:p>
            <a:pPr algn="l">
              <a:spcAft>
                <a:spcPts val="300"/>
              </a:spcAft>
            </a:pPr>
            <a:r>
              <a:rPr lang="en-US" sz="1000" b="0" dirty="0">
                <a:solidFill>
                  <a:srgbClr val="3E4C63"/>
                </a:solidFill>
                <a:latin typeface="Helvetica Neue"/>
              </a:rPr>
              <a:t>	</a:t>
            </a:r>
            <a:r>
              <a:rPr sz="1000" b="0" dirty="0">
                <a:solidFill>
                  <a:srgbClr val="3E4C63"/>
                </a:solidFill>
                <a:latin typeface="Helvetica Neue"/>
              </a:rPr>
              <a:t>→ </a:t>
            </a:r>
            <a:r>
              <a:rPr sz="1000" b="0" i="1" dirty="0">
                <a:solidFill>
                  <a:srgbClr val="3E4C63"/>
                </a:solidFill>
                <a:latin typeface="Helvetica Neue"/>
              </a:rPr>
              <a:t>so</a:t>
            </a:r>
            <a:r>
              <a:rPr lang="en-US" sz="1000" b="0" i="1" dirty="0">
                <a:solidFill>
                  <a:srgbClr val="3E4C63"/>
                </a:solidFill>
                <a:latin typeface="Helvetica Neue"/>
              </a:rPr>
              <a:t>,</a:t>
            </a:r>
            <a:r>
              <a:rPr sz="1000" b="0" i="1" dirty="0">
                <a:solidFill>
                  <a:srgbClr val="3E4C63"/>
                </a:solidFill>
                <a:latin typeface="Helvetica Neue"/>
              </a:rPr>
              <a:t> exact words, codes and dates are findable</a:t>
            </a:r>
            <a:endParaRPr lang="en-US" sz="1000" b="0" i="1" dirty="0">
              <a:solidFill>
                <a:srgbClr val="3E4C63"/>
              </a:solidFill>
              <a:latin typeface="Helvetica Neue"/>
            </a:endParaRPr>
          </a:p>
          <a:p>
            <a:pPr algn="l">
              <a:spcAft>
                <a:spcPts val="300"/>
              </a:spcAft>
            </a:pPr>
            <a:endParaRPr lang="en-US" sz="2000" b="1" dirty="0">
              <a:solidFill>
                <a:srgbClr val="0066BE"/>
              </a:solidFill>
              <a:latin typeface="Helvetica Neue"/>
            </a:endParaRPr>
          </a:p>
          <a:p>
            <a:pPr>
              <a:spcAft>
                <a:spcPts val="300"/>
              </a:spcAft>
            </a:pPr>
            <a:r>
              <a:rPr lang="en-US" sz="1000" b="1" dirty="0">
                <a:solidFill>
                  <a:srgbClr val="3E4C63"/>
                </a:solidFill>
                <a:latin typeface="Helvetica Neue"/>
              </a:rPr>
              <a:t>Copies stay fresh </a:t>
            </a:r>
            <a:r>
              <a:rPr lang="en-US" sz="1000" dirty="0">
                <a:solidFill>
                  <a:srgbClr val="3E4C63"/>
                </a:solidFill>
                <a:latin typeface="Helvetica Neue"/>
              </a:rPr>
              <a:t>— copies refresh automatically when facts change: a closed fact re-copies with its end date, an extra source re-copies with its extra quote</a:t>
            </a:r>
            <a:endParaRPr sz="1000" b="0" dirty="0">
              <a:solidFill>
                <a:srgbClr val="3E4C63"/>
              </a:solidFill>
              <a:latin typeface="Helvetica Neue"/>
            </a:endParaRPr>
          </a:p>
        </p:txBody>
      </p:sp>
      <p:sp>
        <p:nvSpPr>
          <p:cNvPr id="7" name="Rounded Rectangle 6"/>
          <p:cNvSpPr/>
          <p:nvPr/>
        </p:nvSpPr>
        <p:spPr>
          <a:xfrm>
            <a:off x="10607040" y="1481328"/>
            <a:ext cx="900684" cy="274320"/>
          </a:xfrm>
          <a:prstGeom prst="roundRect">
            <a:avLst>
              <a:gd name="adj" fmla="val 50000"/>
            </a:avLst>
          </a:prstGeom>
          <a:solidFill>
            <a:srgbClr val="DEEDFA"/>
          </a:solidFill>
          <a:ln w="9525">
            <a:solidFill>
              <a:srgbClr val="00175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spcAft>
                <a:spcPts val="300"/>
              </a:spcAft>
            </a:pPr>
            <a:r>
              <a:rPr sz="800" b="1" dirty="0">
                <a:solidFill>
                  <a:srgbClr val="00175A"/>
                </a:solidFill>
                <a:latin typeface="Menlo"/>
              </a:rPr>
              <a:t>vector db</a:t>
            </a:r>
          </a:p>
        </p:txBody>
      </p:sp>
      <p:sp>
        <p:nvSpPr>
          <p:cNvPr id="8" name="Rounded Rectangle 7"/>
          <p:cNvSpPr/>
          <p:nvPr/>
        </p:nvSpPr>
        <p:spPr>
          <a:xfrm>
            <a:off x="548640" y="5349240"/>
            <a:ext cx="11530584" cy="77724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l">
              <a:spcAft>
                <a:spcPts val="300"/>
              </a:spcAft>
            </a:pPr>
            <a:r>
              <a:rPr sz="1050" b="1" dirty="0">
                <a:solidFill>
                  <a:srgbClr val="00175A"/>
                </a:solidFill>
                <a:latin typeface="Helvetica Neue"/>
              </a:rPr>
              <a:t>Loop closed: </a:t>
            </a:r>
            <a:r>
              <a:rPr sz="1050" b="0" dirty="0">
                <a:solidFill>
                  <a:srgbClr val="3E4C63"/>
                </a:solidFill>
                <a:latin typeface="Helvetica Neue"/>
              </a:rPr>
              <a:t>the document's fingerprint is marked done (re-ingesting it = no-op), and the next document's “</a:t>
            </a:r>
            <a:r>
              <a:rPr sz="1050" b="1" dirty="0">
                <a:solidFill>
                  <a:srgbClr val="3E4C63"/>
                </a:solidFill>
                <a:latin typeface="Helvetica Neue"/>
              </a:rPr>
              <a:t>do we know this thing</a:t>
            </a:r>
            <a:r>
              <a:rPr sz="1050" b="0" dirty="0">
                <a:solidFill>
                  <a:srgbClr val="3E4C63"/>
                </a:solidFill>
                <a:latin typeface="Helvetica Neue"/>
              </a:rPr>
              <a:t>?” checks now see Alfred Nobel, dynamite, and the richer Nobel Prize entry — the graph gets better at absorbing documents as it grows.</a:t>
            </a:r>
          </a:p>
        </p:txBody>
      </p:sp>
    </p:spTree>
    <p:extLst>
      <p:ext uri="{BB962C8B-B14F-4D97-AF65-F5344CB8AC3E}">
        <p14:creationId xmlns:p14="http://schemas.microsoft.com/office/powerpoint/2010/main" val="4009569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80384-76EF-D17A-157F-FA770C13D486}"/>
            </a:ext>
          </a:extLst>
        </p:cNvPr>
        <p:cNvGrpSpPr/>
        <p:nvPr/>
      </p:nvGrpSpPr>
      <p:grpSpPr>
        <a:xfrm>
          <a:off x="0" y="0"/>
          <a:ext cx="0" cy="0"/>
          <a:chOff x="0" y="0"/>
          <a:chExt cx="0" cy="0"/>
        </a:xfrm>
      </p:grpSpPr>
      <p:grpSp>
        <p:nvGrpSpPr>
          <p:cNvPr id="500" name="Graph Motif">
            <a:extLst>
              <a:ext uri="{FF2B5EF4-FFF2-40B4-BE49-F238E27FC236}">
                <a16:creationId xmlns:a16="http://schemas.microsoft.com/office/drawing/2014/main" id="{43DEEECE-1E44-A256-E0F1-8BC490A4A099}"/>
              </a:ext>
            </a:extLst>
          </p:cNvPr>
          <p:cNvGrpSpPr/>
          <p:nvPr/>
        </p:nvGrpSpPr>
        <p:grpSpPr>
          <a:xfrm>
            <a:off x="5295900" y="508000"/>
            <a:ext cx="1600200" cy="901700"/>
            <a:chOff x="0" y="0"/>
            <a:chExt cx="1600000" cy="900000"/>
          </a:xfrm>
        </p:grpSpPr>
        <p:cxnSp>
          <p:nvCxnSpPr>
            <p:cNvPr id="501" name="L1">
              <a:extLst>
                <a:ext uri="{FF2B5EF4-FFF2-40B4-BE49-F238E27FC236}">
                  <a16:creationId xmlns:a16="http://schemas.microsoft.com/office/drawing/2014/main" id="{C5CF55A0-19AF-E189-4697-78FED99A13A7}"/>
                </a:ext>
              </a:extLst>
            </p:cNvPr>
            <p:cNvCxnSpPr/>
            <p:nvPr/>
          </p:nvCxnSpPr>
          <p:spPr>
            <a:xfrm>
              <a:off x="100000" y="700000"/>
              <a:ext cx="600000" cy="0"/>
            </a:xfrm>
            <a:prstGeom prst="line">
              <a:avLst/>
            </a:prstGeom>
            <a:ln w="9525">
              <a:solidFill>
                <a:srgbClr val="C8D7E6"/>
              </a:solidFill>
            </a:ln>
          </p:spPr>
        </p:cxnSp>
        <p:cxnSp>
          <p:nvCxnSpPr>
            <p:cNvPr id="502" name="L2">
              <a:extLst>
                <a:ext uri="{FF2B5EF4-FFF2-40B4-BE49-F238E27FC236}">
                  <a16:creationId xmlns:a16="http://schemas.microsoft.com/office/drawing/2014/main" id="{96E2102E-3C75-C2FA-52CF-C448CA109888}"/>
                </a:ext>
              </a:extLst>
            </p:cNvPr>
            <p:cNvCxnSpPr/>
            <p:nvPr/>
          </p:nvCxnSpPr>
          <p:spPr>
            <a:xfrm flipV="1">
              <a:off x="700000" y="300000"/>
              <a:ext cx="500000" cy="400000"/>
            </a:xfrm>
            <a:prstGeom prst="line">
              <a:avLst/>
            </a:prstGeom>
            <a:ln w="9525">
              <a:solidFill>
                <a:srgbClr val="C8D7E6"/>
              </a:solidFill>
            </a:ln>
          </p:spPr>
        </p:cxnSp>
        <p:cxnSp>
          <p:nvCxnSpPr>
            <p:cNvPr id="503" name="L3">
              <a:extLst>
                <a:ext uri="{FF2B5EF4-FFF2-40B4-BE49-F238E27FC236}">
                  <a16:creationId xmlns:a16="http://schemas.microsoft.com/office/drawing/2014/main" id="{74137D06-A98E-7592-C4B6-1F0EA2ABB17B}"/>
                </a:ext>
              </a:extLst>
            </p:cNvPr>
            <p:cNvCxnSpPr/>
            <p:nvPr/>
          </p:nvCxnSpPr>
          <p:spPr>
            <a:xfrm>
              <a:off x="700000" y="700000"/>
              <a:ext cx="500000" cy="0"/>
            </a:xfrm>
            <a:prstGeom prst="line">
              <a:avLst/>
            </a:prstGeom>
            <a:ln w="9525">
              <a:solidFill>
                <a:srgbClr val="C8D7E6"/>
              </a:solidFill>
            </a:ln>
          </p:spPr>
        </p:cxnSp>
        <p:cxnSp>
          <p:nvCxnSpPr>
            <p:cNvPr id="504" name="L4">
              <a:extLst>
                <a:ext uri="{FF2B5EF4-FFF2-40B4-BE49-F238E27FC236}">
                  <a16:creationId xmlns:a16="http://schemas.microsoft.com/office/drawing/2014/main" id="{95F6B59A-1FA5-BD66-44D4-8E6532ACD60A}"/>
                </a:ext>
              </a:extLst>
            </p:cNvPr>
            <p:cNvCxnSpPr/>
            <p:nvPr/>
          </p:nvCxnSpPr>
          <p:spPr>
            <a:xfrm>
              <a:off x="1200000" y="700000"/>
              <a:ext cx="300000" cy="300000"/>
            </a:xfrm>
            <a:prstGeom prst="line">
              <a:avLst/>
            </a:prstGeom>
            <a:ln w="9525">
              <a:solidFill>
                <a:srgbClr val="C8D7E6"/>
              </a:solidFill>
            </a:ln>
          </p:spPr>
        </p:cxnSp>
        <p:sp>
          <p:nvSpPr>
            <p:cNvPr id="505" name="N1">
              <a:extLst>
                <a:ext uri="{FF2B5EF4-FFF2-40B4-BE49-F238E27FC236}">
                  <a16:creationId xmlns:a16="http://schemas.microsoft.com/office/drawing/2014/main" id="{E80AD763-3C4C-CB59-0BD9-F1028477AF38}"/>
                </a:ext>
              </a:extLst>
            </p:cNvPr>
            <p:cNvSpPr/>
            <p:nvPr/>
          </p:nvSpPr>
          <p:spPr>
            <a:xfrm>
              <a:off x="60000" y="660000"/>
              <a:ext cx="80000" cy="80000"/>
            </a:xfrm>
            <a:prstGeom prst="ellipse">
              <a:avLst/>
            </a:prstGeom>
            <a:solidFill>
              <a:srgbClr val="66A9E0"/>
            </a:solidFill>
          </p:spPr>
          <p:txBody>
            <a:bodyPr/>
            <a:lstStyle/>
            <a:p>
              <a:endParaRPr/>
            </a:p>
          </p:txBody>
        </p:sp>
        <p:sp>
          <p:nvSpPr>
            <p:cNvPr id="506" name="N2">
              <a:extLst>
                <a:ext uri="{FF2B5EF4-FFF2-40B4-BE49-F238E27FC236}">
                  <a16:creationId xmlns:a16="http://schemas.microsoft.com/office/drawing/2014/main" id="{3BA7A23A-C76F-1791-F9A9-E9A2A53CC09C}"/>
                </a:ext>
              </a:extLst>
            </p:cNvPr>
            <p:cNvSpPr/>
            <p:nvPr/>
          </p:nvSpPr>
          <p:spPr>
            <a:xfrm>
              <a:off x="660000" y="260000"/>
              <a:ext cx="90000" cy="90000"/>
            </a:xfrm>
            <a:prstGeom prst="ellipse">
              <a:avLst/>
            </a:prstGeom>
            <a:solidFill>
              <a:srgbClr val="006FCF"/>
            </a:solidFill>
          </p:spPr>
          <p:txBody>
            <a:bodyPr/>
            <a:lstStyle/>
            <a:p>
              <a:endParaRPr/>
            </a:p>
          </p:txBody>
        </p:sp>
        <p:sp>
          <p:nvSpPr>
            <p:cNvPr id="507" name="N3">
              <a:extLst>
                <a:ext uri="{FF2B5EF4-FFF2-40B4-BE49-F238E27FC236}">
                  <a16:creationId xmlns:a16="http://schemas.microsoft.com/office/drawing/2014/main" id="{06084CC1-29A3-50C7-A900-F630AFA463D9}"/>
                </a:ext>
              </a:extLst>
            </p:cNvPr>
            <p:cNvSpPr/>
            <p:nvPr/>
          </p:nvSpPr>
          <p:spPr>
            <a:xfrm>
              <a:off x="660000" y="660000"/>
              <a:ext cx="80000" cy="80000"/>
            </a:xfrm>
            <a:prstGeom prst="ellipse">
              <a:avLst/>
            </a:prstGeom>
            <a:solidFill>
              <a:srgbClr val="66A9E0"/>
            </a:solidFill>
          </p:spPr>
          <p:txBody>
            <a:bodyPr/>
            <a:lstStyle/>
            <a:p>
              <a:endParaRPr/>
            </a:p>
          </p:txBody>
        </p:sp>
        <p:sp>
          <p:nvSpPr>
            <p:cNvPr id="508" name="N4">
              <a:extLst>
                <a:ext uri="{FF2B5EF4-FFF2-40B4-BE49-F238E27FC236}">
                  <a16:creationId xmlns:a16="http://schemas.microsoft.com/office/drawing/2014/main" id="{16FBDF24-4EEA-7F64-0717-9DE65EDE8704}"/>
                </a:ext>
              </a:extLst>
            </p:cNvPr>
            <p:cNvSpPr/>
            <p:nvPr/>
          </p:nvSpPr>
          <p:spPr>
            <a:xfrm>
              <a:off x="1160000" y="660000"/>
              <a:ext cx="80000" cy="80000"/>
            </a:xfrm>
            <a:prstGeom prst="ellipse">
              <a:avLst/>
            </a:prstGeom>
            <a:solidFill>
              <a:srgbClr val="00175A"/>
            </a:solidFill>
          </p:spPr>
          <p:txBody>
            <a:bodyPr/>
            <a:lstStyle/>
            <a:p>
              <a:endParaRPr/>
            </a:p>
          </p:txBody>
        </p:sp>
        <p:sp>
          <p:nvSpPr>
            <p:cNvPr id="509" name="N5">
              <a:extLst>
                <a:ext uri="{FF2B5EF4-FFF2-40B4-BE49-F238E27FC236}">
                  <a16:creationId xmlns:a16="http://schemas.microsoft.com/office/drawing/2014/main" id="{E4448B2B-0EAC-1FCA-4B21-8B5ED7617251}"/>
                </a:ext>
              </a:extLst>
            </p:cNvPr>
            <p:cNvSpPr/>
            <p:nvPr/>
          </p:nvSpPr>
          <p:spPr>
            <a:xfrm>
              <a:off x="1460000" y="960000"/>
              <a:ext cx="1" cy="1"/>
            </a:xfrm>
            <a:prstGeom prst="ellipse">
              <a:avLst/>
            </a:prstGeom>
            <a:noFill/>
          </p:spPr>
          <p:txBody>
            <a:bodyPr/>
            <a:lstStyle/>
            <a:p>
              <a:endParaRPr/>
            </a:p>
          </p:txBody>
        </p:sp>
      </p:grpSp>
      <p:sp>
        <p:nvSpPr>
          <p:cNvPr id="13" name="TextBox 12">
            <a:extLst>
              <a:ext uri="{FF2B5EF4-FFF2-40B4-BE49-F238E27FC236}">
                <a16:creationId xmlns:a16="http://schemas.microsoft.com/office/drawing/2014/main" id="{6F8501DD-BEAA-4A7F-059C-0782EEF5874D}"/>
              </a:ext>
            </a:extLst>
          </p:cNvPr>
          <p:cNvSpPr txBox="1"/>
          <p:nvPr/>
        </p:nvSpPr>
        <p:spPr>
          <a:xfrm>
            <a:off x="447232" y="1911547"/>
            <a:ext cx="8890000" cy="1464760"/>
          </a:xfrm>
          <a:prstGeom prst="rect">
            <a:avLst/>
          </a:prstGeom>
          <a:noFill/>
        </p:spPr>
        <p:txBody>
          <a:bodyPr wrap="square">
            <a:spAutoFit/>
          </a:bodyPr>
          <a:lstStyle/>
          <a:p>
            <a:pPr>
              <a:spcAft>
                <a:spcPts val="600"/>
              </a:spcAft>
            </a:pPr>
            <a:r>
              <a:rPr lang="en-US" sz="1200" b="1" dirty="0">
                <a:solidFill>
                  <a:srgbClr val="0066BE"/>
                </a:solidFill>
                <a:latin typeface="Menlo"/>
              </a:rPr>
              <a:t>PART TWO</a:t>
            </a:r>
          </a:p>
          <a:p>
            <a:pPr>
              <a:spcAft>
                <a:spcPts val="600"/>
              </a:spcAft>
            </a:pPr>
            <a:r>
              <a:rPr lang="en-US" sz="3400" b="1" dirty="0">
                <a:solidFill>
                  <a:srgbClr val="00175A"/>
                </a:solidFill>
                <a:latin typeface="Helvetica Neue"/>
              </a:rPr>
              <a:t>Query: Leveraging the knowledge data</a:t>
            </a:r>
          </a:p>
          <a:p>
            <a:pPr>
              <a:lnSpc>
                <a:spcPct val="125000"/>
              </a:lnSpc>
              <a:spcAft>
                <a:spcPts val="0"/>
              </a:spcAft>
            </a:pPr>
            <a:r>
              <a:rPr lang="en-US" sz="1400" dirty="0">
                <a:solidFill>
                  <a:srgbClr val="3E4C63"/>
                </a:solidFill>
                <a:latin typeface="Helvetica Neue"/>
              </a:rPr>
              <a:t>Ingestion built a graph of verified, sourced facts. Next: how a question becomes a search, a graph walk, and a grounded answer.</a:t>
            </a:r>
          </a:p>
        </p:txBody>
      </p:sp>
      <p:sp>
        <p:nvSpPr>
          <p:cNvPr id="3" name="Chevron 2">
            <a:extLst>
              <a:ext uri="{FF2B5EF4-FFF2-40B4-BE49-F238E27FC236}">
                <a16:creationId xmlns:a16="http://schemas.microsoft.com/office/drawing/2014/main" id="{1D7C5C70-5A42-804F-B4D4-BED86258A1B2}"/>
              </a:ext>
            </a:extLst>
          </p:cNvPr>
          <p:cNvSpPr/>
          <p:nvPr/>
        </p:nvSpPr>
        <p:spPr>
          <a:xfrm>
            <a:off x="1003300" y="4724400"/>
            <a:ext cx="2413000" cy="635000"/>
          </a:xfrm>
          <a:prstGeom prst="chevron">
            <a:avLst/>
          </a:prstGeom>
          <a:solidFill>
            <a:srgbClr val="F5F8FB"/>
          </a:solidFill>
          <a:ln w="9525" cap="flat" cmpd="sng" algn="ctr">
            <a:solidFill>
              <a:srgbClr val="C8D7E6"/>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sz="1300" b="1">
                <a:solidFill>
                  <a:srgbClr val="00175A"/>
                </a:solidFill>
                <a:latin typeface="Helvetica Neue"/>
                <a:ea typeface="Helvetica Neue"/>
                <a:cs typeface="Helvetica Neue"/>
              </a:rPr>
              <a:t>Ask a question</a:t>
            </a:r>
          </a:p>
        </p:txBody>
      </p:sp>
      <p:sp>
        <p:nvSpPr>
          <p:cNvPr id="4" name="Chevron 3">
            <a:extLst>
              <a:ext uri="{FF2B5EF4-FFF2-40B4-BE49-F238E27FC236}">
                <a16:creationId xmlns:a16="http://schemas.microsoft.com/office/drawing/2014/main" id="{EF423862-B494-AB40-8371-2FCA731193DF}"/>
              </a:ext>
            </a:extLst>
          </p:cNvPr>
          <p:cNvSpPr/>
          <p:nvPr/>
        </p:nvSpPr>
        <p:spPr>
          <a:xfrm>
            <a:off x="3289300" y="4724400"/>
            <a:ext cx="2413000" cy="635000"/>
          </a:xfrm>
          <a:prstGeom prst="chevron">
            <a:avLst/>
          </a:prstGeom>
          <a:solidFill>
            <a:srgbClr val="F5F8FB"/>
          </a:solidFill>
          <a:ln w="9525" cap="flat" cmpd="sng" algn="ctr">
            <a:solidFill>
              <a:srgbClr val="C8D7E6"/>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sz="1300" b="1">
                <a:solidFill>
                  <a:srgbClr val="00175A"/>
                </a:solidFill>
                <a:latin typeface="Helvetica Neue"/>
                <a:ea typeface="Helvetica Neue"/>
                <a:cs typeface="Helvetica Neue"/>
              </a:rPr>
              <a:t>Search 3 ways</a:t>
            </a:r>
          </a:p>
        </p:txBody>
      </p:sp>
      <p:sp>
        <p:nvSpPr>
          <p:cNvPr id="5" name="Chevron 4">
            <a:extLst>
              <a:ext uri="{FF2B5EF4-FFF2-40B4-BE49-F238E27FC236}">
                <a16:creationId xmlns:a16="http://schemas.microsoft.com/office/drawing/2014/main" id="{C770F12C-5B08-6047-8248-23F32D6E7AE3}"/>
              </a:ext>
            </a:extLst>
          </p:cNvPr>
          <p:cNvSpPr/>
          <p:nvPr/>
        </p:nvSpPr>
        <p:spPr>
          <a:xfrm>
            <a:off x="5575300" y="4724400"/>
            <a:ext cx="2413000" cy="635000"/>
          </a:xfrm>
          <a:prstGeom prst="chevron">
            <a:avLst/>
          </a:prstGeom>
          <a:solidFill>
            <a:srgbClr val="F5F8FB"/>
          </a:solidFill>
          <a:ln w="9525" cap="flat" cmpd="sng" algn="ctr">
            <a:solidFill>
              <a:srgbClr val="C8D7E6"/>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sz="1300" b="1">
                <a:solidFill>
                  <a:srgbClr val="00175A"/>
                </a:solidFill>
                <a:latin typeface="Helvetica Neue"/>
                <a:ea typeface="Helvetica Neue"/>
                <a:cs typeface="Helvetica Neue"/>
              </a:rPr>
              <a:t>Walk the graph</a:t>
            </a:r>
          </a:p>
        </p:txBody>
      </p:sp>
      <p:sp>
        <p:nvSpPr>
          <p:cNvPr id="6" name="Chevron 5">
            <a:extLst>
              <a:ext uri="{FF2B5EF4-FFF2-40B4-BE49-F238E27FC236}">
                <a16:creationId xmlns:a16="http://schemas.microsoft.com/office/drawing/2014/main" id="{C53DCA3C-54B8-BC46-B075-799B1E67DFB1}"/>
              </a:ext>
            </a:extLst>
          </p:cNvPr>
          <p:cNvSpPr/>
          <p:nvPr/>
        </p:nvSpPr>
        <p:spPr>
          <a:xfrm>
            <a:off x="7861300" y="4724400"/>
            <a:ext cx="2413000" cy="635000"/>
          </a:xfrm>
          <a:prstGeom prst="chevron">
            <a:avLst/>
          </a:prstGeom>
          <a:solidFill>
            <a:srgbClr val="0066BE"/>
          </a:solidFill>
          <a:ln w="9525" cap="flat" cmpd="sng" algn="ctr">
            <a:solidFill>
              <a:srgbClr val="C8D7E6"/>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wrap="square" rtlCol="0" anchor="ctr" anchorCtr="0">
            <a:noAutofit/>
          </a:bodyPr>
          <a:lstStyle/>
          <a:p>
            <a:pPr algn="l"/>
            <a:r>
              <a:rPr lang="en-US" sz="1300" b="1">
                <a:solidFill>
                  <a:srgbClr val="FFFFFF"/>
                </a:solidFill>
                <a:latin typeface="Helvetica Neue"/>
                <a:ea typeface="Helvetica Neue"/>
                <a:cs typeface="Helvetica Neue"/>
              </a:rPr>
              <a:t>Answer, with receipts</a:t>
            </a:r>
          </a:p>
        </p:txBody>
      </p:sp>
    </p:spTree>
    <p:extLst>
      <p:ext uri="{BB962C8B-B14F-4D97-AF65-F5344CB8AC3E}">
        <p14:creationId xmlns:p14="http://schemas.microsoft.com/office/powerpoint/2010/main" val="525368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292608"/>
            <a:ext cx="8229600" cy="274320"/>
          </a:xfrm>
          <a:prstGeom prst="rect">
            <a:avLst/>
          </a:prstGeom>
          <a:noFill/>
        </p:spPr>
        <p:txBody>
          <a:bodyPr wrap="square" anchor="t">
            <a:spAutoFit/>
          </a:bodyPr>
          <a:lstStyle/>
          <a:p>
            <a:pPr algn="l">
              <a:lnSpc>
                <a:spcPct val="100000"/>
              </a:lnSpc>
              <a:spcAft>
                <a:spcPts val="400"/>
              </a:spcAft>
            </a:pPr>
            <a:r>
              <a:rPr sz="1000" b="1">
                <a:solidFill>
                  <a:srgbClr val="0066BE"/>
                </a:solidFill>
                <a:latin typeface="Menlo"/>
              </a:rPr>
              <a:t>09 · Using it</a:t>
            </a:r>
          </a:p>
        </p:txBody>
      </p:sp>
      <p:sp>
        <p:nvSpPr>
          <p:cNvPr id="4" name="TextBox 3"/>
          <p:cNvSpPr txBox="1"/>
          <p:nvPr/>
        </p:nvSpPr>
        <p:spPr>
          <a:xfrm>
            <a:off x="548640" y="566928"/>
            <a:ext cx="11064240" cy="548640"/>
          </a:xfrm>
          <a:prstGeom prst="rect">
            <a:avLst/>
          </a:prstGeom>
          <a:noFill/>
        </p:spPr>
        <p:txBody>
          <a:bodyPr wrap="square" anchor="t">
            <a:spAutoFit/>
          </a:bodyPr>
          <a:lstStyle/>
          <a:p>
            <a:pPr algn="l">
              <a:lnSpc>
                <a:spcPct val="100000"/>
              </a:lnSpc>
              <a:spcAft>
                <a:spcPts val="400"/>
              </a:spcAft>
            </a:pPr>
            <a:r>
              <a:rPr sz="2400" b="1">
                <a:solidFill>
                  <a:srgbClr val="00175A"/>
                </a:solidFill>
                <a:latin typeface="Helvetica Neue"/>
              </a:rPr>
              <a:t>Ask a question: search three ways, walk the graph, answer with receipts</a:t>
            </a:r>
          </a:p>
        </p:txBody>
      </p:sp>
      <p:sp>
        <p:nvSpPr>
          <p:cNvPr id="5" name="Rounded Rectangle 4"/>
          <p:cNvSpPr/>
          <p:nvPr/>
        </p:nvSpPr>
        <p:spPr>
          <a:xfrm>
            <a:off x="548640" y="1463040"/>
            <a:ext cx="2194560" cy="548640"/>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spcAft>
                <a:spcPts val="300"/>
              </a:spcAft>
            </a:pPr>
            <a:r>
              <a:rPr sz="1100" i="1" dirty="0">
                <a:solidFill>
                  <a:srgbClr val="00175A"/>
                </a:solidFill>
                <a:latin typeface="Helvetica Neue"/>
              </a:rPr>
              <a:t>your question</a:t>
            </a:r>
          </a:p>
        </p:txBody>
      </p:sp>
      <p:sp>
        <p:nvSpPr>
          <p:cNvPr id="6" name="Rounded Rectangle 5"/>
          <p:cNvSpPr/>
          <p:nvPr/>
        </p:nvSpPr>
        <p:spPr>
          <a:xfrm>
            <a:off x="548640" y="2240280"/>
            <a:ext cx="3977639" cy="658368"/>
          </a:xfrm>
          <a:prstGeom prst="roundRect">
            <a:avLst>
              <a:gd name="adj" fmla="val 10000"/>
            </a:avLst>
          </a:prstGeom>
          <a:solidFill>
            <a:srgbClr val="DEEDFA"/>
          </a:solidFill>
          <a:ln w="9525">
            <a:solidFill>
              <a:srgbClr val="00175A"/>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l">
              <a:spcAft>
                <a:spcPts val="300"/>
              </a:spcAft>
            </a:pPr>
            <a:r>
              <a:rPr sz="900" b="1">
                <a:solidFill>
                  <a:srgbClr val="00175A"/>
                </a:solidFill>
                <a:latin typeface="Helvetica Neue"/>
              </a:rPr>
              <a:t>search 1 — things with a similar meaning
(“Goya Awards” ≈ “Spanish film prize”)</a:t>
            </a:r>
          </a:p>
        </p:txBody>
      </p:sp>
      <p:sp>
        <p:nvSpPr>
          <p:cNvPr id="7" name="Rounded Rectangle 6"/>
          <p:cNvSpPr/>
          <p:nvPr/>
        </p:nvSpPr>
        <p:spPr>
          <a:xfrm>
            <a:off x="548640" y="3017520"/>
            <a:ext cx="3977639" cy="658368"/>
          </a:xfrm>
          <a:prstGeom prst="roundRect">
            <a:avLst>
              <a:gd name="adj" fmla="val 10000"/>
            </a:avLst>
          </a:prstGeom>
          <a:solidFill>
            <a:srgbClr val="DEEDFA"/>
          </a:solidFill>
          <a:ln w="9525">
            <a:solidFill>
              <a:srgbClr val="00175A"/>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l">
              <a:spcAft>
                <a:spcPts val="300"/>
              </a:spcAft>
            </a:pPr>
            <a:r>
              <a:rPr sz="900" b="1">
                <a:solidFill>
                  <a:srgbClr val="00175A"/>
                </a:solidFill>
                <a:latin typeface="Helvetica Neue"/>
              </a:rPr>
              <a:t>search 2 — stored facts that sound like the question
(“what happened on 31 Jan 1891?”)</a:t>
            </a:r>
          </a:p>
        </p:txBody>
      </p:sp>
      <p:sp>
        <p:nvSpPr>
          <p:cNvPr id="8" name="Rounded Rectangle 7"/>
          <p:cNvSpPr/>
          <p:nvPr/>
        </p:nvSpPr>
        <p:spPr>
          <a:xfrm>
            <a:off x="548640" y="3794760"/>
            <a:ext cx="3977639" cy="658368"/>
          </a:xfrm>
          <a:prstGeom prst="roundRect">
            <a:avLst>
              <a:gd name="adj" fmla="val 10000"/>
            </a:avLst>
          </a:prstGeom>
          <a:solidFill>
            <a:srgbClr val="DEEDFA"/>
          </a:solidFill>
          <a:ln w="9525">
            <a:solidFill>
              <a:srgbClr val="0066BE"/>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l">
              <a:spcAft>
                <a:spcPts val="300"/>
              </a:spcAft>
            </a:pPr>
            <a:r>
              <a:rPr sz="900" b="1">
                <a:solidFill>
                  <a:srgbClr val="00175A"/>
                </a:solidFill>
                <a:latin typeface="Helvetica Neue"/>
              </a:rPr>
              <a:t>search 3 — the exact words, old-school text search
(codes, acronyms, dates — vectors are bad at these)</a:t>
            </a:r>
          </a:p>
        </p:txBody>
      </p:sp>
      <p:cxnSp>
        <p:nvCxnSpPr>
          <p:cNvPr id="9" name="Connector 8"/>
          <p:cNvCxnSpPr/>
          <p:nvPr/>
        </p:nvCxnSpPr>
        <p:spPr>
          <a:xfrm>
            <a:off x="1645920" y="2011680"/>
            <a:ext cx="0" cy="210312"/>
          </a:xfrm>
          <a:prstGeom prst="bentConnector3">
            <a:avLst/>
          </a:prstGeom>
          <a:ln w="15240">
            <a:solidFill>
              <a:srgbClr val="5A65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44568" y="2569464"/>
            <a:ext cx="530352" cy="777240"/>
          </a:xfrm>
          <a:prstGeom prst="bentConnector3">
            <a:avLst/>
          </a:prstGeom>
          <a:ln w="15240">
            <a:solidFill>
              <a:srgbClr val="5A65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544568" y="3346703"/>
            <a:ext cx="530352" cy="1"/>
          </a:xfrm>
          <a:prstGeom prst="bentConnector3">
            <a:avLst/>
          </a:prstGeom>
          <a:ln w="15240">
            <a:solidFill>
              <a:srgbClr val="5A65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544568" y="3346704"/>
            <a:ext cx="530352" cy="777240"/>
          </a:xfrm>
          <a:prstGeom prst="bentConnector3">
            <a:avLst/>
          </a:prstGeom>
          <a:ln w="15240">
            <a:solidFill>
              <a:srgbClr val="5A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93208" y="3017520"/>
            <a:ext cx="1828800" cy="658368"/>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spcAft>
                <a:spcPts val="300"/>
              </a:spcAft>
            </a:pPr>
            <a:r>
              <a:rPr lang="en-US" sz="900" b="1" dirty="0">
                <a:solidFill>
                  <a:srgbClr val="00175A"/>
                </a:solidFill>
                <a:latin typeface="Helvetica Neue"/>
              </a:rPr>
              <a:t>RRF: </a:t>
            </a:r>
            <a:r>
              <a:rPr lang="en-US" sz="900" b="1" i="1" dirty="0">
                <a:solidFill>
                  <a:srgbClr val="00175A"/>
                </a:solidFill>
                <a:latin typeface="Helvetica Neue"/>
              </a:rPr>
              <a:t>(</a:t>
            </a:r>
            <a:r>
              <a:rPr lang="en-US" sz="900" dirty="0">
                <a:solidFill>
                  <a:srgbClr val="00175A"/>
                </a:solidFill>
                <a:latin typeface="Helvetica Neue"/>
              </a:rPr>
              <a:t>Search 1, 2 and 3</a:t>
            </a:r>
            <a:r>
              <a:rPr lang="en-US" sz="900" b="1" i="1" dirty="0">
                <a:solidFill>
                  <a:srgbClr val="00175A"/>
                </a:solidFill>
                <a:latin typeface="Helvetica Neue"/>
              </a:rPr>
              <a:t>) </a:t>
            </a:r>
          </a:p>
          <a:p>
            <a:pPr algn="ctr">
              <a:spcAft>
                <a:spcPts val="300"/>
              </a:spcAft>
            </a:pPr>
            <a:r>
              <a:rPr lang="en-US" sz="900" b="1" i="1" dirty="0">
                <a:solidFill>
                  <a:srgbClr val="00175A"/>
                </a:solidFill>
                <a:latin typeface="Helvetica Neue"/>
              </a:rPr>
              <a:t>Top K</a:t>
            </a:r>
            <a:endParaRPr sz="900" b="1" i="1" dirty="0">
              <a:solidFill>
                <a:srgbClr val="00175A"/>
              </a:solidFill>
              <a:latin typeface="Helvetica Neue"/>
            </a:endParaRPr>
          </a:p>
        </p:txBody>
      </p:sp>
      <p:cxnSp>
        <p:nvCxnSpPr>
          <p:cNvPr id="14" name="Connector 13"/>
          <p:cNvCxnSpPr/>
          <p:nvPr/>
        </p:nvCxnSpPr>
        <p:spPr>
          <a:xfrm>
            <a:off x="6940296" y="3346704"/>
            <a:ext cx="512064" cy="0"/>
          </a:xfrm>
          <a:prstGeom prst="bentConnector3">
            <a:avLst/>
          </a:prstGeom>
          <a:ln w="15240">
            <a:solidFill>
              <a:srgbClr val="5A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470648" y="2953512"/>
            <a:ext cx="2103120" cy="786384"/>
          </a:xfrm>
          <a:prstGeom prst="roundRect">
            <a:avLst>
              <a:gd name="adj" fmla="val 10000"/>
            </a:avLst>
          </a:prstGeom>
          <a:solidFill>
            <a:srgbClr val="DEEDFA"/>
          </a:solidFill>
          <a:ln w="9525">
            <a:solidFill>
              <a:srgbClr val="0066BE"/>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marL="171450" indent="-171450">
              <a:spcAft>
                <a:spcPts val="300"/>
              </a:spcAft>
              <a:buFont typeface="Arial" panose="020B0604020202020204" pitchFamily="34" charset="0"/>
              <a:buChar char="•"/>
            </a:pPr>
            <a:r>
              <a:rPr lang="en-US" sz="900" dirty="0">
                <a:solidFill>
                  <a:srgbClr val="00175A"/>
                </a:solidFill>
                <a:latin typeface="Helvetica Neue"/>
              </a:rPr>
              <a:t>C</a:t>
            </a:r>
            <a:r>
              <a:rPr sz="900" dirty="0">
                <a:solidFill>
                  <a:srgbClr val="00175A"/>
                </a:solidFill>
                <a:latin typeface="Helvetica Neue"/>
              </a:rPr>
              <a:t>ollect </a:t>
            </a:r>
            <a:r>
              <a:rPr lang="en-US" sz="900" dirty="0">
                <a:solidFill>
                  <a:srgbClr val="00175A"/>
                </a:solidFill>
                <a:latin typeface="Helvetica Neue"/>
              </a:rPr>
              <a:t>Facts</a:t>
            </a:r>
            <a:r>
              <a:rPr sz="900" dirty="0">
                <a:solidFill>
                  <a:srgbClr val="00175A"/>
                </a:solidFill>
                <a:latin typeface="Helvetica Neue"/>
              </a:rPr>
              <a:t>,
</a:t>
            </a:r>
            <a:r>
              <a:rPr lang="en-US" sz="900" dirty="0">
                <a:solidFill>
                  <a:srgbClr val="00175A"/>
                </a:solidFill>
                <a:latin typeface="Helvetica Neue"/>
              </a:rPr>
              <a:t>Two</a:t>
            </a:r>
            <a:r>
              <a:rPr sz="900" dirty="0">
                <a:solidFill>
                  <a:srgbClr val="00175A"/>
                </a:solidFill>
                <a:latin typeface="Helvetica Neue"/>
              </a:rPr>
              <a:t> hops out</a:t>
            </a:r>
            <a:r>
              <a:rPr lang="en-US" sz="900" dirty="0">
                <a:solidFill>
                  <a:srgbClr val="00175A"/>
                </a:solidFill>
                <a:latin typeface="Helvetica Neue"/>
              </a:rPr>
              <a:t> (adjacency)</a:t>
            </a:r>
          </a:p>
          <a:p>
            <a:pPr marL="171450" indent="-171450">
              <a:spcAft>
                <a:spcPts val="300"/>
              </a:spcAft>
              <a:buFont typeface="Arial" panose="020B0604020202020204" pitchFamily="34" charset="0"/>
              <a:buChar char="•"/>
            </a:pPr>
            <a:r>
              <a:rPr lang="en-US" sz="900" dirty="0">
                <a:solidFill>
                  <a:srgbClr val="00175A"/>
                </a:solidFill>
                <a:latin typeface="Helvetica Neue"/>
              </a:rPr>
              <a:t>O</a:t>
            </a:r>
            <a:r>
              <a:rPr sz="900" dirty="0">
                <a:solidFill>
                  <a:srgbClr val="00175A"/>
                </a:solidFill>
                <a:latin typeface="Helvetica Neue"/>
              </a:rPr>
              <a:t>nly facts</a:t>
            </a:r>
            <a:r>
              <a:rPr lang="en-US" sz="900" dirty="0">
                <a:solidFill>
                  <a:srgbClr val="00175A"/>
                </a:solidFill>
                <a:latin typeface="Helvetica Neue"/>
              </a:rPr>
              <a:t> </a:t>
            </a:r>
            <a:r>
              <a:rPr sz="900" dirty="0">
                <a:solidFill>
                  <a:srgbClr val="00175A"/>
                </a:solidFill>
                <a:latin typeface="Helvetica Neue"/>
              </a:rPr>
              <a:t>valid at the asked date</a:t>
            </a:r>
          </a:p>
        </p:txBody>
      </p:sp>
      <p:cxnSp>
        <p:nvCxnSpPr>
          <p:cNvPr id="16" name="Connector 15"/>
          <p:cNvCxnSpPr/>
          <p:nvPr/>
        </p:nvCxnSpPr>
        <p:spPr>
          <a:xfrm>
            <a:off x="9592056" y="3346704"/>
            <a:ext cx="512064" cy="0"/>
          </a:xfrm>
          <a:prstGeom prst="bentConnector3">
            <a:avLst/>
          </a:prstGeom>
          <a:ln w="15240">
            <a:solidFill>
              <a:srgbClr val="5A65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122408" y="2907792"/>
            <a:ext cx="1965960" cy="914400"/>
          </a:xfrm>
          <a:prstGeom prst="roundRect">
            <a:avLst>
              <a:gd name="adj" fmla="val 10000"/>
            </a:avLst>
          </a:prstGeom>
          <a:solidFill>
            <a:srgbClr val="DEEDFA"/>
          </a:solidFill>
          <a:ln w="9525">
            <a:solidFill>
              <a:srgbClr val="00175A"/>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spcAft>
                <a:spcPts val="300"/>
              </a:spcAft>
            </a:pPr>
            <a:r>
              <a:rPr sz="850" b="1" dirty="0">
                <a:solidFill>
                  <a:srgbClr val="00175A"/>
                </a:solidFill>
                <a:latin typeface="Helvetica Neue"/>
              </a:rPr>
              <a:t>AI writes the answer</a:t>
            </a:r>
            <a:r>
              <a:rPr lang="en-US" sz="850" b="1" dirty="0">
                <a:solidFill>
                  <a:srgbClr val="00175A"/>
                </a:solidFill>
                <a:latin typeface="Helvetica Neue"/>
              </a:rPr>
              <a:t> driven </a:t>
            </a:r>
            <a:r>
              <a:rPr sz="850" b="1" dirty="0">
                <a:solidFill>
                  <a:srgbClr val="00175A"/>
                </a:solidFill>
                <a:latin typeface="Helvetica Neue"/>
              </a:rPr>
              <a:t>from those facts only</a:t>
            </a:r>
            <a:r>
              <a:rPr lang="en-US" sz="850" b="1" dirty="0">
                <a:solidFill>
                  <a:srgbClr val="00175A"/>
                </a:solidFill>
                <a:latin typeface="Helvetica Neue"/>
              </a:rPr>
              <a:t>.</a:t>
            </a:r>
          </a:p>
          <a:p>
            <a:pPr>
              <a:spcAft>
                <a:spcPts val="300"/>
              </a:spcAft>
            </a:pPr>
            <a:r>
              <a:rPr lang="en-US" sz="850" b="1" dirty="0">
                <a:solidFill>
                  <a:srgbClr val="00175A"/>
                </a:solidFill>
                <a:latin typeface="Helvetica Neue"/>
              </a:rPr>
              <a:t>M</a:t>
            </a:r>
            <a:r>
              <a:rPr sz="850" b="1" dirty="0">
                <a:solidFill>
                  <a:srgbClr val="00175A"/>
                </a:solidFill>
                <a:latin typeface="Helvetica Neue"/>
              </a:rPr>
              <a:t>ust cite them, or</a:t>
            </a:r>
            <a:r>
              <a:rPr lang="en-US" sz="850" b="1" dirty="0">
                <a:solidFill>
                  <a:srgbClr val="00175A"/>
                </a:solidFill>
                <a:latin typeface="Helvetica Neue"/>
              </a:rPr>
              <a:t> </a:t>
            </a:r>
            <a:r>
              <a:rPr sz="850" b="1" dirty="0">
                <a:solidFill>
                  <a:srgbClr val="00175A"/>
                </a:solidFill>
                <a:latin typeface="Helvetica Neue"/>
              </a:rPr>
              <a:t>say “</a:t>
            </a:r>
            <a:r>
              <a:rPr sz="850" i="1" dirty="0">
                <a:solidFill>
                  <a:srgbClr val="00175A"/>
                </a:solidFill>
                <a:latin typeface="Helvetica Neue"/>
              </a:rPr>
              <a:t>can't answer</a:t>
            </a:r>
            <a:r>
              <a:rPr sz="850" b="1" dirty="0">
                <a:solidFill>
                  <a:srgbClr val="00175A"/>
                </a:solidFill>
                <a:latin typeface="Helvetica Neue"/>
              </a:rPr>
              <a:t>”</a:t>
            </a:r>
          </a:p>
        </p:txBody>
      </p:sp>
      <p:sp>
        <p:nvSpPr>
          <p:cNvPr id="18" name="Rounded Rectangle 17"/>
          <p:cNvSpPr/>
          <p:nvPr/>
        </p:nvSpPr>
        <p:spPr>
          <a:xfrm>
            <a:off x="3521424" y="2381375"/>
            <a:ext cx="900684" cy="274320"/>
          </a:xfrm>
          <a:prstGeom prst="roundRect">
            <a:avLst>
              <a:gd name="adj" fmla="val 50000"/>
            </a:avLst>
          </a:prstGeom>
          <a:solidFill>
            <a:srgbClr val="DEEDFA"/>
          </a:solidFill>
          <a:ln w="9525">
            <a:solidFill>
              <a:srgbClr val="00175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spcAft>
                <a:spcPts val="300"/>
              </a:spcAft>
            </a:pPr>
            <a:r>
              <a:rPr sz="800" b="1" dirty="0">
                <a:solidFill>
                  <a:srgbClr val="00175A"/>
                </a:solidFill>
                <a:latin typeface="Menlo"/>
              </a:rPr>
              <a:t>vector db</a:t>
            </a:r>
          </a:p>
        </p:txBody>
      </p:sp>
      <p:sp>
        <p:nvSpPr>
          <p:cNvPr id="19" name="Rounded Rectangle 18"/>
          <p:cNvSpPr/>
          <p:nvPr/>
        </p:nvSpPr>
        <p:spPr>
          <a:xfrm>
            <a:off x="3599148" y="3986784"/>
            <a:ext cx="822960" cy="274320"/>
          </a:xfrm>
          <a:prstGeom prst="roundRect">
            <a:avLst>
              <a:gd name="adj" fmla="val 50000"/>
            </a:avLst>
          </a:prstGeom>
          <a:solidFill>
            <a:srgbClr val="DEEDFA"/>
          </a:solidFill>
          <a:ln w="9525">
            <a:solidFill>
              <a:srgbClr val="0066BE"/>
            </a:solidFill>
          </a:ln>
          <a:effectLst/>
        </p:spPr>
        <p:style>
          <a:lnRef idx="1">
            <a:schemeClr val="accent1"/>
          </a:lnRef>
          <a:fillRef idx="3">
            <a:schemeClr val="accent1"/>
          </a:fillRef>
          <a:effectRef idx="2">
            <a:schemeClr val="accent1"/>
          </a:effectRef>
          <a:fontRef idx="minor">
            <a:schemeClr val="lt1"/>
          </a:fontRef>
        </p:style>
        <p:txBody>
          <a:bodyPr wrap="none" lIns="128016" tIns="73152" rIns="128016" bIns="73152" rtlCol="0" anchor="ctr"/>
          <a:lstStyle/>
          <a:p>
            <a:pPr algn="ctr">
              <a:spcAft>
                <a:spcPts val="300"/>
              </a:spcAft>
            </a:pPr>
            <a:r>
              <a:rPr sz="800" b="1" dirty="0">
                <a:solidFill>
                  <a:srgbClr val="0066BE"/>
                </a:solidFill>
                <a:latin typeface="Menlo"/>
              </a:rPr>
              <a:t>graph db</a:t>
            </a:r>
          </a:p>
        </p:txBody>
      </p:sp>
      <p:sp>
        <p:nvSpPr>
          <p:cNvPr id="20" name="Rounded Rectangle 19"/>
          <p:cNvSpPr/>
          <p:nvPr/>
        </p:nvSpPr>
        <p:spPr>
          <a:xfrm>
            <a:off x="548640" y="5029200"/>
            <a:ext cx="11530584" cy="566928"/>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l">
              <a:spcAft>
                <a:spcPts val="300"/>
              </a:spcAft>
            </a:pPr>
            <a:r>
              <a:rPr sz="1100" b="1">
                <a:solidFill>
                  <a:srgbClr val="0066BE"/>
                </a:solidFill>
                <a:latin typeface="Helvetica Neue"/>
              </a:rPr>
              <a:t>Find </a:t>
            </a:r>
            <a:r>
              <a:rPr sz="1050" b="0">
                <a:solidFill>
                  <a:srgbClr val="3E4C63"/>
                </a:solidFill>
                <a:latin typeface="Helvetica Neue"/>
              </a:rPr>
              <a:t>is the same thing without the AI at the end — you get the raw facts, highlighted on the graph, with their sources. </a:t>
            </a:r>
            <a:r>
              <a:rPr sz="1100" b="1">
                <a:solidFill>
                  <a:srgbClr val="00175A"/>
                </a:solidFill>
                <a:latin typeface="Helvetica Neue"/>
              </a:rPr>
              <a:t>Ask </a:t>
            </a:r>
            <a:r>
              <a:rPr sz="1050" b="0">
                <a:solidFill>
                  <a:srgbClr val="3E4C63"/>
                </a:solidFill>
                <a:latin typeface="Helvetica Neue"/>
              </a:rPr>
              <a:t>adds exactly one AI call.</a:t>
            </a:r>
          </a:p>
        </p:txBody>
      </p:sp>
      <p:sp>
        <p:nvSpPr>
          <p:cNvPr id="21" name="Rounded Rectangle 20"/>
          <p:cNvSpPr/>
          <p:nvPr/>
        </p:nvSpPr>
        <p:spPr>
          <a:xfrm>
            <a:off x="548640" y="5733288"/>
            <a:ext cx="11530584" cy="658368"/>
          </a:xfrm>
          <a:prstGeom prst="roundRect">
            <a:avLst>
              <a:gd name="adj" fmla="val 10000"/>
            </a:avLst>
          </a:prstGeom>
          <a:solidFill>
            <a:srgbClr val="F5F8FB"/>
          </a:solidFill>
          <a:ln w="9525">
            <a:solidFill>
              <a:srgbClr val="C8D7E6"/>
            </a:solidFill>
          </a:ln>
          <a:effectLst>
            <a:outerShdw blurRad="150000" dist="60000" dir="5400000" rotWithShape="0">
              <a:srgbClr val="1A2233">
                <a:alpha val="65000"/>
              </a:srgbClr>
            </a:outerShdw>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l">
              <a:spcAft>
                <a:spcPts val="300"/>
              </a:spcAft>
            </a:pPr>
            <a:r>
              <a:rPr sz="1100" b="1" dirty="0">
                <a:solidFill>
                  <a:srgbClr val="00175A"/>
                </a:solidFill>
                <a:latin typeface="Helvetica Neue"/>
              </a:rPr>
              <a:t>Time travel: </a:t>
            </a:r>
            <a:r>
              <a:rPr sz="1050" b="0" dirty="0">
                <a:solidFill>
                  <a:srgbClr val="3E4C63"/>
                </a:solidFill>
                <a:latin typeface="Helvetica Neue"/>
              </a:rPr>
              <a:t>facts carry start/end dates and are never deleted. “</a:t>
            </a:r>
            <a:r>
              <a:rPr sz="1050" b="0" i="1" dirty="0">
                <a:solidFill>
                  <a:srgbClr val="3E4C63"/>
                </a:solidFill>
                <a:latin typeface="Helvetica Neue"/>
              </a:rPr>
              <a:t>Where is the HQ?” </a:t>
            </a:r>
            <a:r>
              <a:rPr sz="1050" b="0" dirty="0">
                <a:solidFill>
                  <a:srgbClr val="3E4C63"/>
                </a:solidFill>
                <a:latin typeface="Helvetica Neue"/>
              </a:rPr>
              <a:t>uses today's facts; add “</a:t>
            </a:r>
            <a:r>
              <a:rPr sz="1050" b="0" i="1" dirty="0">
                <a:solidFill>
                  <a:srgbClr val="3E4C63"/>
                </a:solidFill>
                <a:latin typeface="Helvetica Neue"/>
              </a:rPr>
              <a:t>as of June 2024</a:t>
            </a:r>
            <a:r>
              <a:rPr sz="1050" b="0" dirty="0">
                <a:solidFill>
                  <a:srgbClr val="3E4C63"/>
                </a:solidFill>
                <a:latin typeface="Helvetica Neue"/>
              </a:rPr>
              <a:t>” and the same graph answers with what was true then — citing the closed fact.</a:t>
            </a:r>
          </a:p>
        </p:txBody>
      </p:sp>
      <p:sp>
        <p:nvSpPr>
          <p:cNvPr id="22" name="Rounded Rectangle 21">
            <a:extLst>
              <a:ext uri="{FF2B5EF4-FFF2-40B4-BE49-F238E27FC236}">
                <a16:creationId xmlns:a16="http://schemas.microsoft.com/office/drawing/2014/main" id="{636A26F8-6058-09CC-8631-4F9FD359F4E1}"/>
              </a:ext>
            </a:extLst>
          </p:cNvPr>
          <p:cNvSpPr/>
          <p:nvPr/>
        </p:nvSpPr>
        <p:spPr>
          <a:xfrm>
            <a:off x="3560286" y="3215446"/>
            <a:ext cx="900684" cy="274320"/>
          </a:xfrm>
          <a:prstGeom prst="roundRect">
            <a:avLst>
              <a:gd name="adj" fmla="val 50000"/>
            </a:avLst>
          </a:prstGeom>
          <a:solidFill>
            <a:srgbClr val="DEEDFA"/>
          </a:solidFill>
          <a:ln w="9525">
            <a:solidFill>
              <a:srgbClr val="00175A"/>
            </a:solidFill>
          </a:ln>
          <a:effectLst/>
        </p:spPr>
        <p:style>
          <a:lnRef idx="1">
            <a:schemeClr val="accent1"/>
          </a:lnRef>
          <a:fillRef idx="3">
            <a:schemeClr val="accent1"/>
          </a:fillRef>
          <a:effectRef idx="2">
            <a:schemeClr val="accent1"/>
          </a:effectRef>
          <a:fontRef idx="minor">
            <a:schemeClr val="lt1"/>
          </a:fontRef>
        </p:style>
        <p:txBody>
          <a:bodyPr wrap="square" lIns="128016" tIns="73152" rIns="128016" bIns="73152" rtlCol="0" anchor="ctr"/>
          <a:lstStyle/>
          <a:p>
            <a:pPr algn="ctr">
              <a:spcAft>
                <a:spcPts val="300"/>
              </a:spcAft>
            </a:pPr>
            <a:r>
              <a:rPr sz="800" b="1" dirty="0">
                <a:solidFill>
                  <a:srgbClr val="00175A"/>
                </a:solidFill>
                <a:latin typeface="Menlo"/>
              </a:rPr>
              <a:t>vector db</a:t>
            </a:r>
          </a:p>
        </p:txBody>
      </p:sp>
    </p:spTree>
    <p:extLst>
      <p:ext uri="{BB962C8B-B14F-4D97-AF65-F5344CB8AC3E}">
        <p14:creationId xmlns:p14="http://schemas.microsoft.com/office/powerpoint/2010/main" val="2247207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2DF8A-80B7-E148-5D8E-1DFCE4B0D146}"/>
              </a:ext>
            </a:extLst>
          </p:cNvPr>
          <p:cNvSpPr>
            <a:spLocks noGrp="1"/>
          </p:cNvSpPr>
          <p:nvPr>
            <p:ph type="title"/>
          </p:nvPr>
        </p:nvSpPr>
        <p:spPr>
          <a:xfrm>
            <a:off x="1651000" y="2921000"/>
            <a:ext cx="8890000" cy="1016000"/>
          </a:xfrm>
        </p:spPr>
        <p:txBody>
          <a:bodyPr/>
          <a:lstStyle/>
          <a:p>
            <a:pPr algn="ctr">
              <a:spcAft>
                <a:spcPts val="0"/>
              </a:spcAft>
            </a:pPr>
            <a:r>
              <a:rPr lang="en-US" sz="3600" b="1" dirty="0">
                <a:solidFill>
                  <a:srgbClr val="00175A"/>
                </a:solidFill>
                <a:latin typeface="Helvetica Neue"/>
              </a:rPr>
              <a:t>Thank you</a:t>
            </a:r>
          </a:p>
        </p:txBody>
      </p:sp>
      <p:sp>
        <p:nvSpPr>
          <p:cNvPr id="3" name="Text Placeholder 2">
            <a:extLst>
              <a:ext uri="{FF2B5EF4-FFF2-40B4-BE49-F238E27FC236}">
                <a16:creationId xmlns:a16="http://schemas.microsoft.com/office/drawing/2014/main" id="{AB1B5898-0F02-6BF1-EB08-7E9C67EE78E3}"/>
              </a:ext>
            </a:extLst>
          </p:cNvPr>
          <p:cNvSpPr>
            <a:spLocks noGrp="1"/>
          </p:cNvSpPr>
          <p:nvPr>
            <p:ph type="body" idx="1"/>
          </p:nvPr>
        </p:nvSpPr>
        <p:spPr>
          <a:xfrm>
            <a:off x="1651000" y="4089400"/>
            <a:ext cx="8890000" cy="762000"/>
          </a:xfrm>
        </p:spPr>
        <p:txBody>
          <a:bodyPr/>
          <a:lstStyle/>
          <a:p>
            <a:pPr algn="ctr">
              <a:spcAft>
                <a:spcPts val="0"/>
              </a:spcAft>
            </a:pPr>
            <a:r>
              <a:rPr lang="en-US" sz="1400" b="0" dirty="0">
                <a:solidFill>
                  <a:srgbClr val="3E4C63"/>
                </a:solidFill>
                <a:latin typeface="Helvetica Neue"/>
              </a:rPr>
              <a:t>From raw documents to sourced, queryable knowledge — every fact traceable back to its quote.</a:t>
            </a:r>
          </a:p>
        </p:txBody>
      </p:sp>
      <p:sp>
        <p:nvSpPr>
          <p:cNvPr id="4" name="Slide Number Placeholder 3">
            <a:extLst>
              <a:ext uri="{FF2B5EF4-FFF2-40B4-BE49-F238E27FC236}">
                <a16:creationId xmlns:a16="http://schemas.microsoft.com/office/drawing/2014/main" id="{B58FD522-754C-6AED-A0F3-06EFB0C1FDB8}"/>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5" name="Kicker">
            <a:extLst>
              <a:ext uri="{FF2B5EF4-FFF2-40B4-BE49-F238E27FC236}">
                <a16:creationId xmlns:a16="http://schemas.microsoft.com/office/drawing/2014/main" id="{C5EE2E88-0565-F94F-A07E-0A9A9295DCC7}"/>
              </a:ext>
            </a:extLst>
          </p:cNvPr>
          <p:cNvSpPr txBox="1"/>
          <p:nvPr/>
        </p:nvSpPr>
        <p:spPr>
          <a:xfrm>
            <a:off x="1651000" y="2413000"/>
            <a:ext cx="8890000" cy="304800"/>
          </a:xfrm>
          <a:prstGeom prst="rect">
            <a:avLst/>
          </a:prstGeom>
          <a:noFill/>
        </p:spPr>
        <p:txBody>
          <a:bodyPr vertOverflow="overflow" vert="horz" wrap="square" rtlCol="0" anchor="t">
            <a:spAutoFit/>
          </a:bodyPr>
          <a:lstStyle/>
          <a:p>
            <a:pPr algn="ctr">
              <a:spcAft>
                <a:spcPts val="0"/>
              </a:spcAft>
            </a:pPr>
            <a:r>
              <a:rPr lang="en-US" sz="1200" b="1" dirty="0">
                <a:solidFill>
                  <a:srgbClr val="0066BE"/>
                </a:solidFill>
                <a:latin typeface="Menlo"/>
              </a:rPr>
              <a:t>CLOSING</a:t>
            </a:r>
          </a:p>
        </p:txBody>
      </p:sp>
      <p:grpSp>
        <p:nvGrpSpPr>
          <p:cNvPr id="600" name="Graph Motif Closing"/>
          <p:cNvGrpSpPr/>
          <p:nvPr/>
        </p:nvGrpSpPr>
        <p:grpSpPr>
          <a:xfrm>
            <a:off x="5334000" y="1143000"/>
            <a:ext cx="1600000" cy="900000"/>
            <a:chOff x="0" y="0"/>
            <a:chExt cx="1600000" cy="900000"/>
          </a:xfrm>
        </p:grpSpPr>
        <p:cxnSp>
          <p:nvCxnSpPr>
            <p:cNvPr id="601" name="L1"/>
            <p:cNvCxnSpPr/>
            <p:nvPr/>
          </p:nvCxnSpPr>
          <p:spPr>
            <a:xfrm>
              <a:off x="100000" y="700000"/>
              <a:ext cx="600000" cy="0"/>
            </a:xfrm>
            <a:prstGeom prst="line">
              <a:avLst/>
            </a:prstGeom>
            <a:ln w="9525">
              <a:solidFill>
                <a:srgbClr val="C8D7E6"/>
              </a:solidFill>
            </a:ln>
          </p:spPr>
        </p:cxnSp>
        <p:cxnSp>
          <p:nvCxnSpPr>
            <p:cNvPr id="602" name="L2"/>
            <p:cNvCxnSpPr/>
            <p:nvPr/>
          </p:nvCxnSpPr>
          <p:spPr>
            <a:xfrm flipV="1">
              <a:off x="700000" y="300000"/>
              <a:ext cx="500000" cy="400000"/>
            </a:xfrm>
            <a:prstGeom prst="line">
              <a:avLst/>
            </a:prstGeom>
            <a:ln w="9525">
              <a:solidFill>
                <a:srgbClr val="C8D7E6"/>
              </a:solidFill>
            </a:ln>
          </p:spPr>
        </p:cxnSp>
        <p:cxnSp>
          <p:nvCxnSpPr>
            <p:cNvPr id="603" name="L3"/>
            <p:cNvCxnSpPr/>
            <p:nvPr/>
          </p:nvCxnSpPr>
          <p:spPr>
            <a:xfrm>
              <a:off x="700000" y="700000"/>
              <a:ext cx="500000" cy="0"/>
            </a:xfrm>
            <a:prstGeom prst="line">
              <a:avLst/>
            </a:prstGeom>
            <a:ln w="9525">
              <a:solidFill>
                <a:srgbClr val="C8D7E6"/>
              </a:solidFill>
            </a:ln>
          </p:spPr>
        </p:cxnSp>
        <p:cxnSp>
          <p:nvCxnSpPr>
            <p:cNvPr id="604" name="L4"/>
            <p:cNvCxnSpPr/>
            <p:nvPr/>
          </p:nvCxnSpPr>
          <p:spPr>
            <a:xfrm>
              <a:off x="1200000" y="700000"/>
              <a:ext cx="300000" cy="300000"/>
            </a:xfrm>
            <a:prstGeom prst="line">
              <a:avLst/>
            </a:prstGeom>
            <a:ln w="9525">
              <a:solidFill>
                <a:srgbClr val="C8D7E6"/>
              </a:solidFill>
            </a:ln>
          </p:spPr>
        </p:cxnSp>
        <p:sp>
          <p:nvSpPr>
            <p:cNvPr id="605" name="N1"/>
            <p:cNvSpPr/>
            <p:nvPr/>
          </p:nvSpPr>
          <p:spPr>
            <a:xfrm>
              <a:off x="60000" y="660000"/>
              <a:ext cx="80000" cy="80000"/>
            </a:xfrm>
            <a:prstGeom prst="ellipse">
              <a:avLst/>
            </a:prstGeom>
            <a:solidFill>
              <a:srgbClr val="66A9E0"/>
            </a:solidFill>
          </p:spPr>
          <p:txBody>
            <a:bodyPr/>
            <a:lstStyle/>
            <a:p>
              <a:endParaRPr/>
            </a:p>
          </p:txBody>
        </p:sp>
        <p:sp>
          <p:nvSpPr>
            <p:cNvPr id="606" name="N2"/>
            <p:cNvSpPr/>
            <p:nvPr/>
          </p:nvSpPr>
          <p:spPr>
            <a:xfrm>
              <a:off x="660000" y="260000"/>
              <a:ext cx="90000" cy="90000"/>
            </a:xfrm>
            <a:prstGeom prst="ellipse">
              <a:avLst/>
            </a:prstGeom>
            <a:solidFill>
              <a:srgbClr val="006FCF"/>
            </a:solidFill>
          </p:spPr>
          <p:txBody>
            <a:bodyPr/>
            <a:lstStyle/>
            <a:p>
              <a:endParaRPr/>
            </a:p>
          </p:txBody>
        </p:sp>
        <p:sp>
          <p:nvSpPr>
            <p:cNvPr id="607" name="N3"/>
            <p:cNvSpPr/>
            <p:nvPr/>
          </p:nvSpPr>
          <p:spPr>
            <a:xfrm>
              <a:off x="660000" y="660000"/>
              <a:ext cx="80000" cy="80000"/>
            </a:xfrm>
            <a:prstGeom prst="ellipse">
              <a:avLst/>
            </a:prstGeom>
            <a:solidFill>
              <a:srgbClr val="66A9E0"/>
            </a:solidFill>
          </p:spPr>
          <p:txBody>
            <a:bodyPr/>
            <a:lstStyle/>
            <a:p>
              <a:endParaRPr/>
            </a:p>
          </p:txBody>
        </p:sp>
        <p:sp>
          <p:nvSpPr>
            <p:cNvPr id="608" name="N4"/>
            <p:cNvSpPr/>
            <p:nvPr/>
          </p:nvSpPr>
          <p:spPr>
            <a:xfrm>
              <a:off x="1160000" y="660000"/>
              <a:ext cx="80000" cy="80000"/>
            </a:xfrm>
            <a:prstGeom prst="ellipse">
              <a:avLst/>
            </a:prstGeom>
            <a:solidFill>
              <a:srgbClr val="00175A"/>
            </a:solidFill>
          </p:spPr>
          <p:txBody>
            <a:bodyPr/>
            <a:lstStyle/>
            <a:p>
              <a:endParaRPr/>
            </a:p>
          </p:txBody>
        </p:sp>
      </p:grpSp>
    </p:spTree>
    <p:extLst>
      <p:ext uri="{BB962C8B-B14F-4D97-AF65-F5344CB8AC3E}">
        <p14:creationId xmlns:p14="http://schemas.microsoft.com/office/powerpoint/2010/main" val="3092791668"/>
      </p:ext>
    </p:extLst>
  </p:cSld>
  <p:clrMapOvr>
    <a:masterClrMapping/>
  </p:clrMapOvr>
</p:sld>
</file>

<file path=ppt/theme/theme1.xml><?xml version="1.0" encoding="utf-8"?>
<a:theme xmlns:a="http://schemas.openxmlformats.org/drawingml/2006/main" name="Office Theme [1783913092894]">
  <a:themeElements>
    <a:clrScheme name="Office">
      <a:dk1>
        <a:srgbClr val="1A2233"/>
      </a:dk1>
      <a:lt1>
        <a:srgbClr val="FFFFFF"/>
      </a:lt1>
      <a:dk2>
        <a:srgbClr val="00175A"/>
      </a:dk2>
      <a:lt2>
        <a:srgbClr val="F5F8FB"/>
      </a:lt2>
      <a:accent1>
        <a:srgbClr val="006FCF"/>
      </a:accent1>
      <a:accent2>
        <a:srgbClr val="00175A"/>
      </a:accent2>
      <a:accent3>
        <a:srgbClr val="66A9E0"/>
      </a:accent3>
      <a:accent4>
        <a:srgbClr val="C8D7E6"/>
      </a:accent4>
      <a:accent5>
        <a:srgbClr val="3E4C63"/>
      </a:accent5>
      <a:accent6>
        <a:srgbClr val="7C8698"/>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85CCE9D-D983-BE42-B2E2-9FE1D84F2FBC}">
  <we:reference id="wa200010001" version="1.0.0.1" store="en-US" storeType="OMEX"/>
  <we:alternateReferences>
    <we:reference id="WA200010001" version="1.0.0.1" store="" storeType="OMEX"/>
  </we:alternateReferences>
  <we:properties>
    <we:property name="claude.fileId" value="&quot;6705e5f4-a47d-4969-85b0-429e07a185d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1145</TotalTime>
  <Words>2472</Words>
  <Application>Microsoft Macintosh PowerPoint</Application>
  <PresentationFormat>Widescreen</PresentationFormat>
  <Paragraphs>228</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Calibri</vt:lpstr>
      <vt:lpstr>Helvetica Neue</vt:lpstr>
      <vt:lpstr>Menlo</vt:lpstr>
      <vt:lpstr>Office Theme [1783913092894]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Carlos Sanchez</cp:lastModifiedBy>
  <cp:revision>25</cp:revision>
  <dcterms:created xsi:type="dcterms:W3CDTF">2013-01-27T09:14:16Z</dcterms:created>
  <dcterms:modified xsi:type="dcterms:W3CDTF">2026-07-13T22:23:57Z</dcterms:modified>
  <cp:category/>
</cp:coreProperties>
</file>